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rule"/>
          <p:cNvSpPr/>
          <p:nvPr/>
        </p:nvSpPr>
        <p:spPr>
          <a:xfrm>
            <a:off x="495300" y="552450"/>
            <a:ext cx="17145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590550" y="1571625"/>
            <a:ext cx="8096250" cy="1333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5800" b="1">
                <a:solidFill>
                  <a:srgbClr val="111827"/>
                </a:solidFill>
                <a:latin typeface="Aptos"/>
                <a:cs typeface="Aptos"/>
              </a:rPr>
              <a:t>MAB Task Allocator</a:t>
            </a:r>
            <a:endParaRPr lang="en-US" sz="5800"/>
          </a:p>
        </p:txBody>
      </p:sp>
      <p:sp>
        <p:nvSpPr>
          <p:cNvPr id="4" name="Subtitle"/>
          <p:cNvSpPr txBox="1"/>
          <p:nvPr/>
        </p:nvSpPr>
        <p:spPr>
          <a:xfrm>
            <a:off x="628650" y="3105150"/>
            <a:ext cx="7429500" cy="5715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600">
                <a:solidFill>
                  <a:srgbClr val="5B6472"/>
                </a:solidFill>
                <a:latin typeface="Aptos"/>
                <a:cs typeface="Aptos"/>
              </a:rPr>
              <a:t>User Manual and Daily Workflow Guide</a:t>
            </a:r>
            <a:endParaRPr lang="en-US" sz="2600"/>
          </a:p>
        </p:txBody>
      </p:sp>
      <p:sp>
        <p:nvSpPr>
          <p:cNvPr id="5" name="Note"/>
          <p:cNvSpPr txBox="1"/>
          <p:nvPr/>
        </p:nvSpPr>
        <p:spPr>
          <a:xfrm>
            <a:off x="628650" y="5219700"/>
            <a:ext cx="7239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800">
                <a:solidFill>
                  <a:srgbClr val="5B6472"/>
                </a:solidFill>
                <a:latin typeface="Aptos"/>
                <a:cs typeface="Aptos"/>
              </a:rPr>
              <a:t>For super admins, department admins, and normal users</a:t>
            </a:r>
            <a:endParaRPr lang="en-US" sz="1800"/>
          </a:p>
        </p:txBody>
      </p:sp>
      <p:sp>
        <p:nvSpPr>
          <p:cNvPr id="6" name="Right block"/>
          <p:cNvSpPr/>
          <p:nvPr/>
        </p:nvSpPr>
        <p:spPr>
          <a:xfrm>
            <a:off x="8496300" y="876300"/>
            <a:ext cx="2647950" cy="495300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Right big"/>
          <p:cNvSpPr txBox="1"/>
          <p:nvPr/>
        </p:nvSpPr>
        <p:spPr>
          <a:xfrm>
            <a:off x="8839200" y="1619250"/>
            <a:ext cx="2000250" cy="8572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800" b="1">
                <a:solidFill>
                  <a:srgbClr val="1178B8"/>
                </a:solidFill>
                <a:latin typeface="Aptos"/>
                <a:cs typeface="Aptos"/>
              </a:rPr>
              <a:t>Tasks</a:t>
            </a:r>
            <a:endParaRPr lang="en-US" sz="3800"/>
          </a:p>
        </p:txBody>
      </p:sp>
      <p:sp>
        <p:nvSpPr>
          <p:cNvPr id="8" name="Right list"/>
          <p:cNvSpPr txBox="1"/>
          <p:nvPr/>
        </p:nvSpPr>
        <p:spPr>
          <a:xfrm>
            <a:off x="8820150" y="2781300"/>
            <a:ext cx="2000250" cy="18097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800">
                <a:solidFill>
                  <a:srgbClr val="5B6472"/>
                </a:solidFill>
                <a:latin typeface="Aptos"/>
                <a:cs typeface="Aptos"/>
              </a:rPr>
              <a:t>Departments</a:t>
            </a:r>
            <a:endParaRPr lang="en-US" sz="1800"/>
          </a:p>
          <a:p>
            <a:pPr marL="285750" indent="-171450">
              <a:buChar char="•"/>
            </a:pPr>
            <a:r>
              <a:rPr lang="en-US" sz="1800">
                <a:solidFill>
                  <a:srgbClr val="5B6472"/>
                </a:solidFill>
                <a:latin typeface="Aptos"/>
                <a:cs typeface="Aptos"/>
              </a:rPr>
              <a:t>Approvals</a:t>
            </a:r>
            <a:endParaRPr lang="en-US" sz="1800"/>
          </a:p>
          <a:p>
            <a:pPr marL="285750" indent="-171450">
              <a:buChar char="•"/>
            </a:pPr>
            <a:r>
              <a:rPr lang="en-US" sz="1800">
                <a:solidFill>
                  <a:srgbClr val="5B6472"/>
                </a:solidFill>
                <a:latin typeface="Aptos"/>
                <a:cs typeface="Aptos"/>
              </a:rPr>
              <a:t>Files</a:t>
            </a:r>
            <a:endParaRPr lang="en-US" sz="1800"/>
          </a:p>
          <a:p>
            <a:pPr marL="285750" indent="-171450">
              <a:buChar char="•"/>
            </a:pPr>
            <a:r>
              <a:rPr lang="en-US" sz="1800">
                <a:solidFill>
                  <a:srgbClr val="5B6472"/>
                </a:solidFill>
                <a:latin typeface="Aptos"/>
                <a:cs typeface="Aptos"/>
              </a:rPr>
              <a:t>Chat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What This Software Does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02</a:t>
            </a:r>
            <a:endParaRPr lang="en-US" sz="1200"/>
          </a:p>
        </p:txBody>
      </p:sp>
      <p:sp>
        <p:nvSpPr>
          <p:cNvPr id="10" name="Number 1"/>
          <p:cNvSpPr/>
          <p:nvPr/>
        </p:nvSpPr>
        <p:spPr>
          <a:xfrm>
            <a:off x="533400" y="1533525"/>
            <a:ext cx="457200" cy="457200"/>
          </a:xfrm>
          <a:prstGeom prst="round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Number text 1"/>
          <p:cNvSpPr txBox="1"/>
          <p:nvPr/>
        </p:nvSpPr>
        <p:spPr>
          <a:xfrm>
            <a:off x="552450" y="1571625"/>
            <a:ext cx="419100" cy="342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FFFFFF"/>
                </a:solidFill>
                <a:latin typeface="Aptos"/>
                <a:cs typeface="Aptos"/>
              </a:rPr>
              <a:t>1</a:t>
            </a:r>
            <a:endParaRPr lang="en-US" sz="2200"/>
          </a:p>
        </p:txBody>
      </p:sp>
      <p:sp>
        <p:nvSpPr>
          <p:cNvPr id="12" name="Item 1"/>
          <p:cNvSpPr txBox="1"/>
          <p:nvPr/>
        </p:nvSpPr>
        <p:spPr>
          <a:xfrm>
            <a:off x="1200150" y="1476375"/>
            <a:ext cx="9525000" cy="3619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400" b="1">
                <a:solidFill>
                  <a:srgbClr val="111827"/>
                </a:solidFill>
                <a:latin typeface="Aptos"/>
                <a:cs typeface="Aptos"/>
              </a:rPr>
              <a:t>Organize work by department</a:t>
            </a:r>
            <a:endParaRPr lang="en-US" sz="2400"/>
          </a:p>
        </p:txBody>
      </p:sp>
      <p:sp>
        <p:nvSpPr>
          <p:cNvPr id="13" name="Item body 1"/>
          <p:cNvSpPr txBox="1"/>
          <p:nvPr/>
        </p:nvSpPr>
        <p:spPr>
          <a:xfrm>
            <a:off x="1200150" y="184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Each task, project, chat group, and user belongs to a department.</a:t>
            </a:r>
            <a:endParaRPr lang="en-US" sz="1700"/>
          </a:p>
        </p:txBody>
      </p:sp>
      <p:sp>
        <p:nvSpPr>
          <p:cNvPr id="14" name="Number 2"/>
          <p:cNvSpPr/>
          <p:nvPr/>
        </p:nvSpPr>
        <p:spPr>
          <a:xfrm>
            <a:off x="533400" y="2600325"/>
            <a:ext cx="457200" cy="457200"/>
          </a:xfrm>
          <a:prstGeom prst="roundRect">
            <a:avLst/>
          </a:prstGeom>
          <a:solidFill>
            <a:srgbClr val="1F9D68"/>
          </a:solidFill>
          <a:ln w="12700">
            <a:solidFill>
              <a:srgbClr val="1F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Number text 2"/>
          <p:cNvSpPr txBox="1"/>
          <p:nvPr/>
        </p:nvSpPr>
        <p:spPr>
          <a:xfrm>
            <a:off x="552450" y="2638425"/>
            <a:ext cx="419100" cy="342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FFFFFF"/>
                </a:solidFill>
                <a:latin typeface="Aptos"/>
                <a:cs typeface="Aptos"/>
              </a:rPr>
              <a:t>2</a:t>
            </a:r>
            <a:endParaRPr lang="en-US" sz="2200"/>
          </a:p>
        </p:txBody>
      </p:sp>
      <p:sp>
        <p:nvSpPr>
          <p:cNvPr id="16" name="Item 2"/>
          <p:cNvSpPr txBox="1"/>
          <p:nvPr/>
        </p:nvSpPr>
        <p:spPr>
          <a:xfrm>
            <a:off x="1200150" y="2543175"/>
            <a:ext cx="9525000" cy="3619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400" b="1">
                <a:solidFill>
                  <a:srgbClr val="111827"/>
                </a:solidFill>
                <a:latin typeface="Aptos"/>
                <a:cs typeface="Aptos"/>
              </a:rPr>
              <a:t>Control responsibility</a:t>
            </a:r>
            <a:endParaRPr lang="en-US" sz="2400"/>
          </a:p>
        </p:txBody>
      </p:sp>
      <p:sp>
        <p:nvSpPr>
          <p:cNvPr id="17" name="Item body 2"/>
          <p:cNvSpPr txBox="1"/>
          <p:nvPr/>
        </p:nvSpPr>
        <p:spPr>
          <a:xfrm>
            <a:off x="1200150" y="29146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Tasks can be assigned directly or left free for eligible users to request.</a:t>
            </a:r>
            <a:endParaRPr lang="en-US" sz="1700"/>
          </a:p>
        </p:txBody>
      </p:sp>
      <p:sp>
        <p:nvSpPr>
          <p:cNvPr id="18" name="Number 3"/>
          <p:cNvSpPr/>
          <p:nvPr/>
        </p:nvSpPr>
        <p:spPr>
          <a:xfrm>
            <a:off x="533400" y="3667125"/>
            <a:ext cx="457200" cy="457200"/>
          </a:xfrm>
          <a:prstGeom prst="round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Number text 3"/>
          <p:cNvSpPr txBox="1"/>
          <p:nvPr/>
        </p:nvSpPr>
        <p:spPr>
          <a:xfrm>
            <a:off x="552450" y="3705225"/>
            <a:ext cx="419100" cy="342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FFFFFF"/>
                </a:solidFill>
                <a:latin typeface="Aptos"/>
                <a:cs typeface="Aptos"/>
              </a:rPr>
              <a:t>3</a:t>
            </a:r>
            <a:endParaRPr lang="en-US" sz="2200"/>
          </a:p>
        </p:txBody>
      </p:sp>
      <p:sp>
        <p:nvSpPr>
          <p:cNvPr id="20" name="Item 3"/>
          <p:cNvSpPr txBox="1"/>
          <p:nvPr/>
        </p:nvSpPr>
        <p:spPr>
          <a:xfrm>
            <a:off x="1200150" y="3609975"/>
            <a:ext cx="9525000" cy="3619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400" b="1">
                <a:solidFill>
                  <a:srgbClr val="111827"/>
                </a:solidFill>
                <a:latin typeface="Aptos"/>
                <a:cs typeface="Aptos"/>
              </a:rPr>
              <a:t>Protect completion quality</a:t>
            </a:r>
            <a:endParaRPr lang="en-US" sz="2400"/>
          </a:p>
        </p:txBody>
      </p:sp>
      <p:sp>
        <p:nvSpPr>
          <p:cNvPr id="21" name="Item body 3"/>
          <p:cNvSpPr txBox="1"/>
          <p:nvPr/>
        </p:nvSpPr>
        <p:spPr>
          <a:xfrm>
            <a:off x="1200150" y="39814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Users submit finished work; admins approve or reopen with comments.</a:t>
            </a:r>
            <a:endParaRPr lang="en-US" sz="1700"/>
          </a:p>
        </p:txBody>
      </p:sp>
      <p:sp>
        <p:nvSpPr>
          <p:cNvPr id="22" name="Number 4"/>
          <p:cNvSpPr/>
          <p:nvPr/>
        </p:nvSpPr>
        <p:spPr>
          <a:xfrm>
            <a:off x="533400" y="4733925"/>
            <a:ext cx="457200" cy="457200"/>
          </a:xfrm>
          <a:prstGeom prst="roundRect">
            <a:avLst/>
          </a:prstGeom>
          <a:solidFill>
            <a:srgbClr val="1F9D68"/>
          </a:solidFill>
          <a:ln w="12700">
            <a:solidFill>
              <a:srgbClr val="1F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Number text 4"/>
          <p:cNvSpPr txBox="1"/>
          <p:nvPr/>
        </p:nvSpPr>
        <p:spPr>
          <a:xfrm>
            <a:off x="552450" y="4772025"/>
            <a:ext cx="419100" cy="342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FFFFFF"/>
                </a:solidFill>
                <a:latin typeface="Aptos"/>
                <a:cs typeface="Aptos"/>
              </a:rPr>
              <a:t>4</a:t>
            </a:r>
            <a:endParaRPr lang="en-US" sz="2200"/>
          </a:p>
        </p:txBody>
      </p:sp>
      <p:sp>
        <p:nvSpPr>
          <p:cNvPr id="24" name="Item 4"/>
          <p:cNvSpPr txBox="1"/>
          <p:nvPr/>
        </p:nvSpPr>
        <p:spPr>
          <a:xfrm>
            <a:off x="1200150" y="4676775"/>
            <a:ext cx="9525000" cy="3619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400" b="1">
                <a:solidFill>
                  <a:srgbClr val="111827"/>
                </a:solidFill>
                <a:latin typeface="Aptos"/>
                <a:cs typeface="Aptos"/>
              </a:rPr>
              <a:t>Keep the conversation with the work</a:t>
            </a:r>
            <a:endParaRPr lang="en-US" sz="2400"/>
          </a:p>
        </p:txBody>
      </p:sp>
      <p:sp>
        <p:nvSpPr>
          <p:cNvPr id="25" name="Item body 4"/>
          <p:cNvSpPr txBox="1"/>
          <p:nvPr/>
        </p:nvSpPr>
        <p:spPr>
          <a:xfrm>
            <a:off x="1200150" y="50482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Task chat, files, notifications, and history stay attached to the task.</a:t>
            </a:r>
            <a:endParaRPr lang="en-US"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User Roles and Permissions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03</a:t>
            </a:r>
            <a:endParaRPr lang="en-US" sz="1200"/>
          </a:p>
        </p:txBody>
      </p:sp>
      <p:sp>
        <p:nvSpPr>
          <p:cNvPr id="10" name="Header Role"/>
          <p:cNvSpPr txBox="1"/>
          <p:nvPr/>
        </p:nvSpPr>
        <p:spPr>
          <a:xfrm>
            <a:off x="495300" y="1238250"/>
            <a:ext cx="2000250" cy="4381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Role</a:t>
            </a:r>
            <a:endParaRPr lang="en-US" sz="1800"/>
          </a:p>
        </p:txBody>
      </p:sp>
      <p:sp>
        <p:nvSpPr>
          <p:cNvPr id="11" name="Header Scope"/>
          <p:cNvSpPr txBox="1"/>
          <p:nvPr/>
        </p:nvSpPr>
        <p:spPr>
          <a:xfrm>
            <a:off x="2857500" y="1238250"/>
            <a:ext cx="1619250" cy="4381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Scope</a:t>
            </a:r>
            <a:endParaRPr lang="en-US" sz="1800"/>
          </a:p>
        </p:txBody>
      </p:sp>
      <p:sp>
        <p:nvSpPr>
          <p:cNvPr id="12" name="Header What they can do"/>
          <p:cNvSpPr txBox="1"/>
          <p:nvPr/>
        </p:nvSpPr>
        <p:spPr>
          <a:xfrm>
            <a:off x="4895850" y="1238250"/>
            <a:ext cx="6191250" cy="4381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What they can do</a:t>
            </a:r>
            <a:endParaRPr lang="en-US" sz="1800"/>
          </a:p>
        </p:txBody>
      </p:sp>
      <p:sp>
        <p:nvSpPr>
          <p:cNvPr id="13" name="Cell 0-0"/>
          <p:cNvSpPr txBox="1"/>
          <p:nvPr/>
        </p:nvSpPr>
        <p:spPr>
          <a:xfrm>
            <a:off x="495300" y="1752600"/>
            <a:ext cx="2000250" cy="8382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2000" b="1">
                <a:solidFill>
                  <a:srgbClr val="111827"/>
                </a:solidFill>
                <a:latin typeface="Aptos"/>
                <a:cs typeface="Aptos"/>
              </a:rPr>
              <a:t>Super Admin</a:t>
            </a:r>
            <a:endParaRPr lang="en-US" sz="2000"/>
          </a:p>
        </p:txBody>
      </p:sp>
      <p:sp>
        <p:nvSpPr>
          <p:cNvPr id="14" name="Cell 0-1"/>
          <p:cNvSpPr txBox="1"/>
          <p:nvPr/>
        </p:nvSpPr>
        <p:spPr>
          <a:xfrm>
            <a:off x="2857500" y="1752600"/>
            <a:ext cx="1619250" cy="8382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111827"/>
                </a:solidFill>
                <a:latin typeface="Aptos"/>
                <a:cs typeface="Aptos"/>
              </a:rPr>
              <a:t>All departments</a:t>
            </a:r>
            <a:endParaRPr lang="en-US" sz="1600"/>
          </a:p>
        </p:txBody>
      </p:sp>
      <p:sp>
        <p:nvSpPr>
          <p:cNvPr id="15" name="Cell 0-2"/>
          <p:cNvSpPr txBox="1"/>
          <p:nvPr/>
        </p:nvSpPr>
        <p:spPr>
          <a:xfrm>
            <a:off x="4895850" y="1752600"/>
            <a:ext cx="6191250" cy="8382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Create departments, manage all users, create/edit/delete tasks, approve or reopen finished work, view reports and audit trail.</a:t>
            </a:r>
            <a:endParaRPr lang="en-US" sz="1600"/>
          </a:p>
        </p:txBody>
      </p:sp>
      <p:sp>
        <p:nvSpPr>
          <p:cNvPr id="16" name="Cell 1-0"/>
          <p:cNvSpPr txBox="1"/>
          <p:nvPr/>
        </p:nvSpPr>
        <p:spPr>
          <a:xfrm>
            <a:off x="495300" y="2743200"/>
            <a:ext cx="200025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2000" b="1">
                <a:solidFill>
                  <a:srgbClr val="111827"/>
                </a:solidFill>
                <a:latin typeface="Aptos"/>
                <a:cs typeface="Aptos"/>
              </a:rPr>
              <a:t>Admin</a:t>
            </a:r>
            <a:endParaRPr lang="en-US" sz="2000"/>
          </a:p>
        </p:txBody>
      </p:sp>
      <p:sp>
        <p:nvSpPr>
          <p:cNvPr id="17" name="Cell 1-1"/>
          <p:cNvSpPr txBox="1"/>
          <p:nvPr/>
        </p:nvSpPr>
        <p:spPr>
          <a:xfrm>
            <a:off x="2857500" y="2743200"/>
            <a:ext cx="161925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111827"/>
                </a:solidFill>
                <a:latin typeface="Aptos"/>
                <a:cs typeface="Aptos"/>
              </a:rPr>
              <a:t>Own department</a:t>
            </a:r>
            <a:endParaRPr lang="en-US" sz="1600"/>
          </a:p>
        </p:txBody>
      </p:sp>
      <p:sp>
        <p:nvSpPr>
          <p:cNvPr id="18" name="Cell 1-2"/>
          <p:cNvSpPr txBox="1"/>
          <p:nvPr/>
        </p:nvSpPr>
        <p:spPr>
          <a:xfrm>
            <a:off x="4895850" y="2743200"/>
            <a:ext cx="619125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Create users in department, create/edit/delete department tasks, assign work, approve or reopen department work.</a:t>
            </a:r>
            <a:endParaRPr lang="en-US" sz="1600"/>
          </a:p>
        </p:txBody>
      </p:sp>
      <p:sp>
        <p:nvSpPr>
          <p:cNvPr id="19" name="Cell 2-0"/>
          <p:cNvSpPr txBox="1"/>
          <p:nvPr/>
        </p:nvSpPr>
        <p:spPr>
          <a:xfrm>
            <a:off x="495300" y="3733800"/>
            <a:ext cx="2000250" cy="8382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2000" b="1">
                <a:solidFill>
                  <a:srgbClr val="111827"/>
                </a:solidFill>
                <a:latin typeface="Aptos"/>
                <a:cs typeface="Aptos"/>
              </a:rPr>
              <a:t>Normal User</a:t>
            </a:r>
            <a:endParaRPr lang="en-US" sz="2000"/>
          </a:p>
        </p:txBody>
      </p:sp>
      <p:sp>
        <p:nvSpPr>
          <p:cNvPr id="20" name="Cell 2-1"/>
          <p:cNvSpPr txBox="1"/>
          <p:nvPr/>
        </p:nvSpPr>
        <p:spPr>
          <a:xfrm>
            <a:off x="2857500" y="3733800"/>
            <a:ext cx="1619250" cy="8382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111827"/>
                </a:solidFill>
                <a:latin typeface="Aptos"/>
                <a:cs typeface="Aptos"/>
              </a:rPr>
              <a:t>Own department</a:t>
            </a:r>
            <a:endParaRPr lang="en-US" sz="1600"/>
          </a:p>
        </p:txBody>
      </p:sp>
      <p:sp>
        <p:nvSpPr>
          <p:cNvPr id="21" name="Cell 2-2"/>
          <p:cNvSpPr txBox="1"/>
          <p:nvPr/>
        </p:nvSpPr>
        <p:spPr>
          <a:xfrm>
            <a:off x="4895850" y="3733800"/>
            <a:ext cx="6191250" cy="8382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View department allocation, claim free tasks, work assigned tasks, submit for review, chat, upload files, manage personal TODOs.</a:t>
            </a: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Login and Session Behavior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04</a:t>
            </a:r>
            <a:endParaRPr lang="en-US" sz="1200"/>
          </a:p>
        </p:txBody>
      </p:sp>
      <p:sp>
        <p:nvSpPr>
          <p:cNvPr id="10" name="Step panel 1"/>
          <p:cNvSpPr/>
          <p:nvPr/>
        </p:nvSpPr>
        <p:spPr>
          <a:xfrm>
            <a:off x="666750" y="1428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Step label 1"/>
          <p:cNvSpPr txBox="1"/>
          <p:nvPr/>
        </p:nvSpPr>
        <p:spPr>
          <a:xfrm>
            <a:off x="876300" y="1600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178B8"/>
                </a:solidFill>
                <a:latin typeface="Aptos"/>
                <a:cs typeface="Aptos"/>
              </a:rPr>
              <a:t>01</a:t>
            </a:r>
            <a:endParaRPr lang="en-US" sz="2800"/>
          </a:p>
        </p:txBody>
      </p:sp>
      <p:sp>
        <p:nvSpPr>
          <p:cNvPr id="12" name="Step head 1"/>
          <p:cNvSpPr txBox="1"/>
          <p:nvPr/>
        </p:nvSpPr>
        <p:spPr>
          <a:xfrm>
            <a:off x="1714500" y="1619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Open the app</a:t>
            </a:r>
            <a:endParaRPr lang="en-US" sz="2200"/>
          </a:p>
        </p:txBody>
      </p:sp>
      <p:sp>
        <p:nvSpPr>
          <p:cNvPr id="13" name="Step body 1"/>
          <p:cNvSpPr txBox="1"/>
          <p:nvPr/>
        </p:nvSpPr>
        <p:spPr>
          <a:xfrm>
            <a:off x="1714500" y="2019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Use the local or online web address provided by management.</a:t>
            </a:r>
            <a:endParaRPr lang="en-US" sz="1600"/>
          </a:p>
        </p:txBody>
      </p:sp>
      <p:sp>
        <p:nvSpPr>
          <p:cNvPr id="14" name="Step panel 2"/>
          <p:cNvSpPr/>
          <p:nvPr/>
        </p:nvSpPr>
        <p:spPr>
          <a:xfrm>
            <a:off x="6381750" y="1428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Step label 2"/>
          <p:cNvSpPr txBox="1"/>
          <p:nvPr/>
        </p:nvSpPr>
        <p:spPr>
          <a:xfrm>
            <a:off x="6591300" y="1600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F9D68"/>
                </a:solidFill>
                <a:latin typeface="Aptos"/>
                <a:cs typeface="Aptos"/>
              </a:rPr>
              <a:t>02</a:t>
            </a:r>
            <a:endParaRPr lang="en-US" sz="2800"/>
          </a:p>
        </p:txBody>
      </p:sp>
      <p:sp>
        <p:nvSpPr>
          <p:cNvPr id="16" name="Step head 2"/>
          <p:cNvSpPr txBox="1"/>
          <p:nvPr/>
        </p:nvSpPr>
        <p:spPr>
          <a:xfrm>
            <a:off x="7429500" y="1619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Enter credentials</a:t>
            </a:r>
            <a:endParaRPr lang="en-US" sz="2200"/>
          </a:p>
        </p:txBody>
      </p:sp>
      <p:sp>
        <p:nvSpPr>
          <p:cNvPr id="17" name="Step body 2"/>
          <p:cNvSpPr txBox="1"/>
          <p:nvPr/>
        </p:nvSpPr>
        <p:spPr>
          <a:xfrm>
            <a:off x="7429500" y="2019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Use your assigned username and password. The login page no longer displays credential hints.</a:t>
            </a:r>
            <a:endParaRPr lang="en-US" sz="1600"/>
          </a:p>
        </p:txBody>
      </p:sp>
      <p:sp>
        <p:nvSpPr>
          <p:cNvPr id="18" name="Step panel 3"/>
          <p:cNvSpPr/>
          <p:nvPr/>
        </p:nvSpPr>
        <p:spPr>
          <a:xfrm>
            <a:off x="666750" y="3714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Step label 3"/>
          <p:cNvSpPr txBox="1"/>
          <p:nvPr/>
        </p:nvSpPr>
        <p:spPr>
          <a:xfrm>
            <a:off x="876300" y="3886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178B8"/>
                </a:solidFill>
                <a:latin typeface="Aptos"/>
                <a:cs typeface="Aptos"/>
              </a:rPr>
              <a:t>03</a:t>
            </a:r>
            <a:endParaRPr lang="en-US" sz="2800"/>
          </a:p>
        </p:txBody>
      </p:sp>
      <p:sp>
        <p:nvSpPr>
          <p:cNvPr id="20" name="Step head 3"/>
          <p:cNvSpPr txBox="1"/>
          <p:nvPr/>
        </p:nvSpPr>
        <p:spPr>
          <a:xfrm>
            <a:off x="1714500" y="3905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Work in one or more tabs</a:t>
            </a:r>
            <a:endParaRPr lang="en-US" sz="2200"/>
          </a:p>
        </p:txBody>
      </p:sp>
      <p:sp>
        <p:nvSpPr>
          <p:cNvPr id="21" name="Step body 3"/>
          <p:cNvSpPr txBox="1"/>
          <p:nvPr/>
        </p:nvSpPr>
        <p:spPr>
          <a:xfrm>
            <a:off x="1714500" y="4305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Sessions are stored per browser tab so duplicated pages can continue safely.</a:t>
            </a:r>
            <a:endParaRPr lang="en-US" sz="1600"/>
          </a:p>
        </p:txBody>
      </p:sp>
      <p:sp>
        <p:nvSpPr>
          <p:cNvPr id="22" name="Step panel 4"/>
          <p:cNvSpPr/>
          <p:nvPr/>
        </p:nvSpPr>
        <p:spPr>
          <a:xfrm>
            <a:off x="6381750" y="3714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Step label 4"/>
          <p:cNvSpPr txBox="1"/>
          <p:nvPr/>
        </p:nvSpPr>
        <p:spPr>
          <a:xfrm>
            <a:off x="6591300" y="3886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F9D68"/>
                </a:solidFill>
                <a:latin typeface="Aptos"/>
                <a:cs typeface="Aptos"/>
              </a:rPr>
              <a:t>04</a:t>
            </a:r>
            <a:endParaRPr lang="en-US" sz="2800"/>
          </a:p>
        </p:txBody>
      </p:sp>
      <p:sp>
        <p:nvSpPr>
          <p:cNvPr id="24" name="Step head 4"/>
          <p:cNvSpPr txBox="1"/>
          <p:nvPr/>
        </p:nvSpPr>
        <p:spPr>
          <a:xfrm>
            <a:off x="7429500" y="3905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Stay active</a:t>
            </a:r>
            <a:endParaRPr lang="en-US" sz="2200"/>
          </a:p>
        </p:txBody>
      </p:sp>
      <p:sp>
        <p:nvSpPr>
          <p:cNvPr id="25" name="Step body 4"/>
          <p:cNvSpPr txBox="1"/>
          <p:nvPr/>
        </p:nvSpPr>
        <p:spPr>
          <a:xfrm>
            <a:off x="7429500" y="4305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The app tracks activity and can log out idle sessions for security.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Task Lifecycle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05</a:t>
            </a:r>
            <a:endParaRPr lang="en-US" sz="1200"/>
          </a:p>
        </p:txBody>
      </p:sp>
      <p:cxnSp>
        <p:nvCxnSpPr>
          <p:cNvPr id="10" name="Connector 10"/>
          <p:cNvCxnSpPr/>
          <p:nvPr/>
        </p:nvCxnSpPr>
        <p:spPr>
          <a:xfrm>
            <a:off x="2076450" y="2876550"/>
            <a:ext cx="704850" cy="9525"/>
          </a:xfrm>
          <a:prstGeom prst="straightConnector1">
            <a:avLst/>
          </a:prstGeom>
          <a:ln w="19050">
            <a:solidFill>
              <a:srgbClr val="B8C3CC"/>
            </a:solidFill>
            <a:tailEnd type="none"/>
          </a:ln>
        </p:spPr>
      </p:cxnSp>
      <p:sp>
        <p:nvSpPr>
          <p:cNvPr id="11" name="Flow New"/>
          <p:cNvSpPr/>
          <p:nvPr/>
        </p:nvSpPr>
        <p:spPr>
          <a:xfrm>
            <a:off x="666750" y="2247900"/>
            <a:ext cx="1524000" cy="1257300"/>
          </a:xfrm>
          <a:prstGeom prst="round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Flow text New"/>
          <p:cNvSpPr txBox="1"/>
          <p:nvPr/>
        </p:nvSpPr>
        <p:spPr>
          <a:xfrm>
            <a:off x="762000" y="2667000"/>
            <a:ext cx="1333500" cy="4191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900" b="1">
                <a:solidFill>
                  <a:srgbClr val="FFFFFF"/>
                </a:solidFill>
                <a:latin typeface="Aptos"/>
                <a:cs typeface="Aptos"/>
              </a:rPr>
              <a:t>New</a:t>
            </a:r>
            <a:endParaRPr lang="en-US" sz="1900"/>
          </a:p>
        </p:txBody>
      </p:sp>
      <p:cxnSp>
        <p:nvCxnSpPr>
          <p:cNvPr id="13" name="Connector 13"/>
          <p:cNvCxnSpPr/>
          <p:nvPr/>
        </p:nvCxnSpPr>
        <p:spPr>
          <a:xfrm>
            <a:off x="4286250" y="2876550"/>
            <a:ext cx="704850" cy="9525"/>
          </a:xfrm>
          <a:prstGeom prst="straightConnector1">
            <a:avLst/>
          </a:prstGeom>
          <a:ln w="19050">
            <a:solidFill>
              <a:srgbClr val="B8C3CC"/>
            </a:solidFill>
            <a:tailEnd type="none"/>
          </a:ln>
        </p:spPr>
      </p:cxnSp>
      <p:sp>
        <p:nvSpPr>
          <p:cNvPr id="14" name="Flow Assigned or Free"/>
          <p:cNvSpPr/>
          <p:nvPr/>
        </p:nvSpPr>
        <p:spPr>
          <a:xfrm>
            <a:off x="2876550" y="2247900"/>
            <a:ext cx="1524000" cy="1257300"/>
          </a:xfrm>
          <a:prstGeom prst="roundRect">
            <a:avLst/>
          </a:prstGeom>
          <a:solidFill>
            <a:srgbClr val="6D5BD0"/>
          </a:solidFill>
          <a:ln w="12700"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low text Assigned or Free"/>
          <p:cNvSpPr txBox="1"/>
          <p:nvPr/>
        </p:nvSpPr>
        <p:spPr>
          <a:xfrm>
            <a:off x="2971800" y="2667000"/>
            <a:ext cx="1333500" cy="4191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900" b="1">
                <a:solidFill>
                  <a:srgbClr val="FFFFFF"/>
                </a:solidFill>
                <a:latin typeface="Aptos"/>
                <a:cs typeface="Aptos"/>
              </a:rPr>
              <a:t>Assigned or Free</a:t>
            </a:r>
            <a:endParaRPr lang="en-US" sz="1900"/>
          </a:p>
        </p:txBody>
      </p:sp>
      <p:cxnSp>
        <p:nvCxnSpPr>
          <p:cNvPr id="16" name="Connector 16"/>
          <p:cNvCxnSpPr/>
          <p:nvPr/>
        </p:nvCxnSpPr>
        <p:spPr>
          <a:xfrm>
            <a:off x="6496050" y="2876550"/>
            <a:ext cx="704850" cy="9525"/>
          </a:xfrm>
          <a:prstGeom prst="straightConnector1">
            <a:avLst/>
          </a:prstGeom>
          <a:ln w="19050">
            <a:solidFill>
              <a:srgbClr val="B8C3CC"/>
            </a:solidFill>
            <a:tailEnd type="none"/>
          </a:ln>
        </p:spPr>
      </p:cxnSp>
      <p:sp>
        <p:nvSpPr>
          <p:cNvPr id="17" name="Flow In Progress"/>
          <p:cNvSpPr/>
          <p:nvPr/>
        </p:nvSpPr>
        <p:spPr>
          <a:xfrm>
            <a:off x="5086350" y="2247900"/>
            <a:ext cx="1524000" cy="12573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Flow text In Progress"/>
          <p:cNvSpPr txBox="1"/>
          <p:nvPr/>
        </p:nvSpPr>
        <p:spPr>
          <a:xfrm>
            <a:off x="5181600" y="2667000"/>
            <a:ext cx="1333500" cy="4191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900" b="1">
                <a:solidFill>
                  <a:srgbClr val="FFFFFF"/>
                </a:solidFill>
                <a:latin typeface="Aptos"/>
                <a:cs typeface="Aptos"/>
              </a:rPr>
              <a:t>In Progress</a:t>
            </a:r>
            <a:endParaRPr lang="en-US" sz="1900"/>
          </a:p>
        </p:txBody>
      </p:sp>
      <p:cxnSp>
        <p:nvCxnSpPr>
          <p:cNvPr id="19" name="Connector 19"/>
          <p:cNvCxnSpPr/>
          <p:nvPr/>
        </p:nvCxnSpPr>
        <p:spPr>
          <a:xfrm>
            <a:off x="8705850" y="2876550"/>
            <a:ext cx="704850" cy="9525"/>
          </a:xfrm>
          <a:prstGeom prst="straightConnector1">
            <a:avLst/>
          </a:prstGeom>
          <a:ln w="19050">
            <a:solidFill>
              <a:srgbClr val="B8C3CC"/>
            </a:solidFill>
            <a:tailEnd type="none"/>
          </a:ln>
        </p:spPr>
      </p:cxnSp>
      <p:sp>
        <p:nvSpPr>
          <p:cNvPr id="20" name="Flow Under Review"/>
          <p:cNvSpPr/>
          <p:nvPr/>
        </p:nvSpPr>
        <p:spPr>
          <a:xfrm>
            <a:off x="7296150" y="2247900"/>
            <a:ext cx="1524000" cy="1257300"/>
          </a:xfrm>
          <a:prstGeom prst="roundRect">
            <a:avLst/>
          </a:prstGeom>
          <a:solidFill>
            <a:srgbClr val="DC3545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Flow text Under Review"/>
          <p:cNvSpPr txBox="1"/>
          <p:nvPr/>
        </p:nvSpPr>
        <p:spPr>
          <a:xfrm>
            <a:off x="7391400" y="2667000"/>
            <a:ext cx="1333500" cy="4191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900" b="1">
                <a:solidFill>
                  <a:srgbClr val="FFFFFF"/>
                </a:solidFill>
                <a:latin typeface="Aptos"/>
                <a:cs typeface="Aptos"/>
              </a:rPr>
              <a:t>Under Review</a:t>
            </a:r>
            <a:endParaRPr lang="en-US" sz="1900"/>
          </a:p>
        </p:txBody>
      </p:sp>
      <p:sp>
        <p:nvSpPr>
          <p:cNvPr id="22" name="Flow Approved"/>
          <p:cNvSpPr/>
          <p:nvPr/>
        </p:nvSpPr>
        <p:spPr>
          <a:xfrm>
            <a:off x="9505950" y="2247900"/>
            <a:ext cx="1524000" cy="1257300"/>
          </a:xfrm>
          <a:prstGeom prst="roundRect">
            <a:avLst/>
          </a:prstGeom>
          <a:solidFill>
            <a:srgbClr val="1F9D68"/>
          </a:solidFill>
          <a:ln w="12700">
            <a:solidFill>
              <a:srgbClr val="1F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low text Approved"/>
          <p:cNvSpPr txBox="1"/>
          <p:nvPr/>
        </p:nvSpPr>
        <p:spPr>
          <a:xfrm>
            <a:off x="9601200" y="2667000"/>
            <a:ext cx="1333500" cy="4191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900" b="1">
                <a:solidFill>
                  <a:srgbClr val="FFFFFF"/>
                </a:solidFill>
                <a:latin typeface="Aptos"/>
                <a:cs typeface="Aptos"/>
              </a:rPr>
              <a:t>Approved</a:t>
            </a:r>
            <a:endParaRPr lang="en-US" sz="1900"/>
          </a:p>
        </p:txBody>
      </p:sp>
      <p:sp>
        <p:nvSpPr>
          <p:cNvPr id="24" name="Callout 1"/>
          <p:cNvSpPr txBox="1"/>
          <p:nvPr/>
        </p:nvSpPr>
        <p:spPr>
          <a:xfrm>
            <a:off x="1143000" y="4457700"/>
            <a:ext cx="2857500" cy="7620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High and urgent tasks appear first in task lists.</a:t>
            </a:r>
            <a:endParaRPr lang="en-US" sz="1600"/>
          </a:p>
        </p:txBody>
      </p:sp>
      <p:sp>
        <p:nvSpPr>
          <p:cNvPr id="25" name="Callout 2"/>
          <p:cNvSpPr txBox="1"/>
          <p:nvPr/>
        </p:nvSpPr>
        <p:spPr>
          <a:xfrm>
            <a:off x="4476750" y="4457700"/>
            <a:ext cx="2857500" cy="7620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Rejected work is reopened with manager comments.</a:t>
            </a:r>
            <a:endParaRPr lang="en-US" sz="1600"/>
          </a:p>
        </p:txBody>
      </p:sp>
      <p:sp>
        <p:nvSpPr>
          <p:cNvPr id="26" name="Callout 3"/>
          <p:cNvSpPr txBox="1"/>
          <p:nvPr/>
        </p:nvSpPr>
        <p:spPr>
          <a:xfrm>
            <a:off x="7810500" y="4457700"/>
            <a:ext cx="2857500" cy="7620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Approved tasks move to Finished Tasks.</a:t>
            </a:r>
            <a:endParaRPr 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Creating Tasks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06</a:t>
            </a:r>
            <a:endParaRPr lang="en-US" sz="1200"/>
          </a:p>
        </p:txBody>
      </p:sp>
      <p:sp>
        <p:nvSpPr>
          <p:cNvPr id="10" name="Direct Assignment panel"/>
          <p:cNvSpPr/>
          <p:nvPr/>
        </p:nvSpPr>
        <p:spPr>
          <a:xfrm>
            <a:off x="647700" y="1314450"/>
            <a:ext cx="4953000" cy="40957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irect Assignment title"/>
          <p:cNvSpPr txBox="1"/>
          <p:nvPr/>
        </p:nvSpPr>
        <p:spPr>
          <a:xfrm>
            <a:off x="933450" y="1581150"/>
            <a:ext cx="4191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600" b="1">
                <a:solidFill>
                  <a:srgbClr val="1178B8"/>
                </a:solidFill>
                <a:latin typeface="Aptos"/>
                <a:cs typeface="Aptos"/>
              </a:rPr>
              <a:t>Direct Assignment</a:t>
            </a:r>
            <a:endParaRPr lang="en-US" sz="2600"/>
          </a:p>
        </p:txBody>
      </p:sp>
      <p:sp>
        <p:nvSpPr>
          <p:cNvPr id="12" name="Direct Assignment bullet 0"/>
          <p:cNvSpPr txBox="1"/>
          <p:nvPr/>
        </p:nvSpPr>
        <p:spPr>
          <a:xfrm>
            <a:off x="1009650" y="22860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Choose department, project, type, priority, complexity, due date, and assignee.</a:t>
            </a:r>
            <a:endParaRPr lang="en-US" sz="1700"/>
          </a:p>
        </p:txBody>
      </p:sp>
      <p:sp>
        <p:nvSpPr>
          <p:cNvPr id="13" name="Direct Assignment bullet 1"/>
          <p:cNvSpPr txBox="1"/>
          <p:nvPr/>
        </p:nvSpPr>
        <p:spPr>
          <a:xfrm>
            <a:off x="1009650" y="31242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Admins can assign only within their department.</a:t>
            </a:r>
            <a:endParaRPr lang="en-US" sz="1700"/>
          </a:p>
        </p:txBody>
      </p:sp>
      <p:sp>
        <p:nvSpPr>
          <p:cNvPr id="14" name="Direct Assignment bullet 2"/>
          <p:cNvSpPr txBox="1"/>
          <p:nvPr/>
        </p:nvSpPr>
        <p:spPr>
          <a:xfrm>
            <a:off x="1009650" y="39624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Super admin can work across all departments.</a:t>
            </a:r>
            <a:endParaRPr lang="en-US" sz="1700"/>
          </a:p>
        </p:txBody>
      </p:sp>
      <p:sp>
        <p:nvSpPr>
          <p:cNvPr id="15" name="Free Task panel"/>
          <p:cNvSpPr/>
          <p:nvPr/>
        </p:nvSpPr>
        <p:spPr>
          <a:xfrm>
            <a:off x="6362700" y="1314450"/>
            <a:ext cx="4953000" cy="40957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Free Task title"/>
          <p:cNvSpPr txBox="1"/>
          <p:nvPr/>
        </p:nvSpPr>
        <p:spPr>
          <a:xfrm>
            <a:off x="6648450" y="1581150"/>
            <a:ext cx="4191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600" b="1">
                <a:solidFill>
                  <a:srgbClr val="1F9D68"/>
                </a:solidFill>
                <a:latin typeface="Aptos"/>
                <a:cs typeface="Aptos"/>
              </a:rPr>
              <a:t>Free Task</a:t>
            </a:r>
            <a:endParaRPr lang="en-US" sz="2600"/>
          </a:p>
        </p:txBody>
      </p:sp>
      <p:sp>
        <p:nvSpPr>
          <p:cNvPr id="17" name="Free Task bullet 0"/>
          <p:cNvSpPr txBox="1"/>
          <p:nvPr/>
        </p:nvSpPr>
        <p:spPr>
          <a:xfrm>
            <a:off x="6724650" y="22860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Leave the assignee empty when the work is open for volunteers.</a:t>
            </a:r>
            <a:endParaRPr lang="en-US" sz="1700"/>
          </a:p>
        </p:txBody>
      </p:sp>
      <p:sp>
        <p:nvSpPr>
          <p:cNvPr id="18" name="Free Task bullet 1"/>
          <p:cNvSpPr txBox="1"/>
          <p:nvPr/>
        </p:nvSpPr>
        <p:spPr>
          <a:xfrm>
            <a:off x="6724650" y="31242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Normal users in the same department can request to take it.</a:t>
            </a:r>
            <a:endParaRPr lang="en-US" sz="1700"/>
          </a:p>
        </p:txBody>
      </p:sp>
      <p:sp>
        <p:nvSpPr>
          <p:cNvPr id="19" name="Free Task bullet 2"/>
          <p:cNvSpPr txBox="1"/>
          <p:nvPr/>
        </p:nvSpPr>
        <p:spPr>
          <a:xfrm>
            <a:off x="6724650" y="39624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Admin or super admin approves the claim before the task starts.</a:t>
            </a:r>
            <a:endParaRPr lang="en-US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Normal User: Department View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07</a:t>
            </a:r>
            <a:endParaRPr lang="en-US" sz="1200"/>
          </a:p>
        </p:txBody>
      </p:sp>
      <p:sp>
        <p:nvSpPr>
          <p:cNvPr id="10" name="Step panel 1"/>
          <p:cNvSpPr/>
          <p:nvPr/>
        </p:nvSpPr>
        <p:spPr>
          <a:xfrm>
            <a:off x="666750" y="1428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Step label 1"/>
          <p:cNvSpPr txBox="1"/>
          <p:nvPr/>
        </p:nvSpPr>
        <p:spPr>
          <a:xfrm>
            <a:off x="876300" y="1600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178B8"/>
                </a:solidFill>
                <a:latin typeface="Aptos"/>
                <a:cs typeface="Aptos"/>
              </a:rPr>
              <a:t>01</a:t>
            </a:r>
            <a:endParaRPr lang="en-US" sz="2800"/>
          </a:p>
        </p:txBody>
      </p:sp>
      <p:sp>
        <p:nvSpPr>
          <p:cNvPr id="12" name="Step head 1"/>
          <p:cNvSpPr txBox="1"/>
          <p:nvPr/>
        </p:nvSpPr>
        <p:spPr>
          <a:xfrm>
            <a:off x="1714500" y="1619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Active Tasks</a:t>
            </a:r>
            <a:endParaRPr lang="en-US" sz="2200"/>
          </a:p>
        </p:txBody>
      </p:sp>
      <p:sp>
        <p:nvSpPr>
          <p:cNvPr id="13" name="Step body 1"/>
          <p:cNvSpPr txBox="1"/>
          <p:nvPr/>
        </p:nvSpPr>
        <p:spPr>
          <a:xfrm>
            <a:off x="1714500" y="2019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See all visible active tasks in your department, including assigned and free work.</a:t>
            </a:r>
            <a:endParaRPr lang="en-US" sz="1600"/>
          </a:p>
        </p:txBody>
      </p:sp>
      <p:sp>
        <p:nvSpPr>
          <p:cNvPr id="14" name="Step panel 2"/>
          <p:cNvSpPr/>
          <p:nvPr/>
        </p:nvSpPr>
        <p:spPr>
          <a:xfrm>
            <a:off x="6381750" y="1428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Step label 2"/>
          <p:cNvSpPr txBox="1"/>
          <p:nvPr/>
        </p:nvSpPr>
        <p:spPr>
          <a:xfrm>
            <a:off x="6591300" y="1600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F9D68"/>
                </a:solidFill>
                <a:latin typeface="Aptos"/>
                <a:cs typeface="Aptos"/>
              </a:rPr>
              <a:t>02</a:t>
            </a:r>
            <a:endParaRPr lang="en-US" sz="2800"/>
          </a:p>
        </p:txBody>
      </p:sp>
      <p:sp>
        <p:nvSpPr>
          <p:cNvPr id="16" name="Step head 2"/>
          <p:cNvSpPr txBox="1"/>
          <p:nvPr/>
        </p:nvSpPr>
        <p:spPr>
          <a:xfrm>
            <a:off x="7429500" y="1619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My Allocated Tasks</a:t>
            </a:r>
            <a:endParaRPr lang="en-US" sz="2200"/>
          </a:p>
        </p:txBody>
      </p:sp>
      <p:sp>
        <p:nvSpPr>
          <p:cNvPr id="17" name="Step body 2"/>
          <p:cNvSpPr txBox="1"/>
          <p:nvPr/>
        </p:nvSpPr>
        <p:spPr>
          <a:xfrm>
            <a:off x="7429500" y="2019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Focus only on tasks assigned to you, with progress, due date, files, and comments.</a:t>
            </a:r>
            <a:endParaRPr lang="en-US" sz="1600"/>
          </a:p>
        </p:txBody>
      </p:sp>
      <p:sp>
        <p:nvSpPr>
          <p:cNvPr id="18" name="Step panel 3"/>
          <p:cNvSpPr/>
          <p:nvPr/>
        </p:nvSpPr>
        <p:spPr>
          <a:xfrm>
            <a:off x="666750" y="3714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Step label 3"/>
          <p:cNvSpPr txBox="1"/>
          <p:nvPr/>
        </p:nvSpPr>
        <p:spPr>
          <a:xfrm>
            <a:off x="876300" y="3886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178B8"/>
                </a:solidFill>
                <a:latin typeface="Aptos"/>
                <a:cs typeface="Aptos"/>
              </a:rPr>
              <a:t>03</a:t>
            </a:r>
            <a:endParaRPr lang="en-US" sz="2800"/>
          </a:p>
        </p:txBody>
      </p:sp>
      <p:sp>
        <p:nvSpPr>
          <p:cNvPr id="20" name="Step head 3"/>
          <p:cNvSpPr txBox="1"/>
          <p:nvPr/>
        </p:nvSpPr>
        <p:spPr>
          <a:xfrm>
            <a:off x="1714500" y="3905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Claim Free Work</a:t>
            </a:r>
            <a:endParaRPr lang="en-US" sz="2200"/>
          </a:p>
        </p:txBody>
      </p:sp>
      <p:sp>
        <p:nvSpPr>
          <p:cNvPr id="21" name="Step body 3"/>
          <p:cNvSpPr txBox="1"/>
          <p:nvPr/>
        </p:nvSpPr>
        <p:spPr>
          <a:xfrm>
            <a:off x="1714500" y="4305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Open a free department task and request to take it.</a:t>
            </a:r>
            <a:endParaRPr lang="en-US" sz="1600"/>
          </a:p>
        </p:txBody>
      </p:sp>
      <p:sp>
        <p:nvSpPr>
          <p:cNvPr id="22" name="Step panel 4"/>
          <p:cNvSpPr/>
          <p:nvPr/>
        </p:nvSpPr>
        <p:spPr>
          <a:xfrm>
            <a:off x="6381750" y="3714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Step label 4"/>
          <p:cNvSpPr txBox="1"/>
          <p:nvPr/>
        </p:nvSpPr>
        <p:spPr>
          <a:xfrm>
            <a:off x="6591300" y="3886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F9D68"/>
                </a:solidFill>
                <a:latin typeface="Aptos"/>
                <a:cs typeface="Aptos"/>
              </a:rPr>
              <a:t>04</a:t>
            </a:r>
            <a:endParaRPr lang="en-US" sz="2800"/>
          </a:p>
        </p:txBody>
      </p:sp>
      <p:sp>
        <p:nvSpPr>
          <p:cNvPr id="24" name="Step head 4"/>
          <p:cNvSpPr txBox="1"/>
          <p:nvPr/>
        </p:nvSpPr>
        <p:spPr>
          <a:xfrm>
            <a:off x="7429500" y="3905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Submit Finished</a:t>
            </a:r>
            <a:endParaRPr lang="en-US" sz="2200"/>
          </a:p>
        </p:txBody>
      </p:sp>
      <p:sp>
        <p:nvSpPr>
          <p:cNvPr id="25" name="Step body 4"/>
          <p:cNvSpPr txBox="1"/>
          <p:nvPr/>
        </p:nvSpPr>
        <p:spPr>
          <a:xfrm>
            <a:off x="7429500" y="4305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When your work is done, press the finish/submit action to move it under review.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Admin Review and Approval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08</a:t>
            </a:r>
            <a:endParaRPr lang="en-US" sz="1200"/>
          </a:p>
        </p:txBody>
      </p:sp>
      <p:sp>
        <p:nvSpPr>
          <p:cNvPr id="10" name="Step panel 1"/>
          <p:cNvSpPr/>
          <p:nvPr/>
        </p:nvSpPr>
        <p:spPr>
          <a:xfrm>
            <a:off x="666750" y="1428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Step label 1"/>
          <p:cNvSpPr txBox="1"/>
          <p:nvPr/>
        </p:nvSpPr>
        <p:spPr>
          <a:xfrm>
            <a:off x="876300" y="1600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178B8"/>
                </a:solidFill>
                <a:latin typeface="Aptos"/>
                <a:cs typeface="Aptos"/>
              </a:rPr>
              <a:t>01</a:t>
            </a:r>
            <a:endParaRPr lang="en-US" sz="2800"/>
          </a:p>
        </p:txBody>
      </p:sp>
      <p:sp>
        <p:nvSpPr>
          <p:cNvPr id="12" name="Step head 1"/>
          <p:cNvSpPr txBox="1"/>
          <p:nvPr/>
        </p:nvSpPr>
        <p:spPr>
          <a:xfrm>
            <a:off x="1714500" y="1619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Review Submitted Work</a:t>
            </a:r>
            <a:endParaRPr lang="en-US" sz="2200"/>
          </a:p>
        </p:txBody>
      </p:sp>
      <p:sp>
        <p:nvSpPr>
          <p:cNvPr id="13" name="Step body 1"/>
          <p:cNvSpPr txBox="1"/>
          <p:nvPr/>
        </p:nvSpPr>
        <p:spPr>
          <a:xfrm>
            <a:off x="1714500" y="2019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Tasks submitted by users appear as Under Review.</a:t>
            </a:r>
            <a:endParaRPr lang="en-US" sz="1600"/>
          </a:p>
        </p:txBody>
      </p:sp>
      <p:sp>
        <p:nvSpPr>
          <p:cNvPr id="14" name="Step panel 2"/>
          <p:cNvSpPr/>
          <p:nvPr/>
        </p:nvSpPr>
        <p:spPr>
          <a:xfrm>
            <a:off x="6381750" y="1428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Step label 2"/>
          <p:cNvSpPr txBox="1"/>
          <p:nvPr/>
        </p:nvSpPr>
        <p:spPr>
          <a:xfrm>
            <a:off x="6591300" y="1600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F9D68"/>
                </a:solidFill>
                <a:latin typeface="Aptos"/>
                <a:cs typeface="Aptos"/>
              </a:rPr>
              <a:t>02</a:t>
            </a:r>
            <a:endParaRPr lang="en-US" sz="2800"/>
          </a:p>
        </p:txBody>
      </p:sp>
      <p:sp>
        <p:nvSpPr>
          <p:cNvPr id="16" name="Step head 2"/>
          <p:cNvSpPr txBox="1"/>
          <p:nvPr/>
        </p:nvSpPr>
        <p:spPr>
          <a:xfrm>
            <a:off x="7429500" y="1619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Approve</a:t>
            </a:r>
            <a:endParaRPr lang="en-US" sz="2200"/>
          </a:p>
        </p:txBody>
      </p:sp>
      <p:sp>
        <p:nvSpPr>
          <p:cNvPr id="17" name="Step body 2"/>
          <p:cNvSpPr txBox="1"/>
          <p:nvPr/>
        </p:nvSpPr>
        <p:spPr>
          <a:xfrm>
            <a:off x="7429500" y="2019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If the work is acceptable, approve it. The task becomes approved/done and moves to Finished Tasks.</a:t>
            </a:r>
            <a:endParaRPr lang="en-US" sz="1600"/>
          </a:p>
        </p:txBody>
      </p:sp>
      <p:sp>
        <p:nvSpPr>
          <p:cNvPr id="18" name="Step panel 3"/>
          <p:cNvSpPr/>
          <p:nvPr/>
        </p:nvSpPr>
        <p:spPr>
          <a:xfrm>
            <a:off x="666750" y="3714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Step label 3"/>
          <p:cNvSpPr txBox="1"/>
          <p:nvPr/>
        </p:nvSpPr>
        <p:spPr>
          <a:xfrm>
            <a:off x="876300" y="3886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178B8"/>
                </a:solidFill>
                <a:latin typeface="Aptos"/>
                <a:cs typeface="Aptos"/>
              </a:rPr>
              <a:t>03</a:t>
            </a:r>
            <a:endParaRPr lang="en-US" sz="2800"/>
          </a:p>
        </p:txBody>
      </p:sp>
      <p:sp>
        <p:nvSpPr>
          <p:cNvPr id="20" name="Step head 3"/>
          <p:cNvSpPr txBox="1"/>
          <p:nvPr/>
        </p:nvSpPr>
        <p:spPr>
          <a:xfrm>
            <a:off x="1714500" y="3905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Reopen</a:t>
            </a:r>
            <a:endParaRPr lang="en-US" sz="2200"/>
          </a:p>
        </p:txBody>
      </p:sp>
      <p:sp>
        <p:nvSpPr>
          <p:cNvPr id="21" name="Step body 3"/>
          <p:cNvSpPr txBox="1"/>
          <p:nvPr/>
        </p:nvSpPr>
        <p:spPr>
          <a:xfrm>
            <a:off x="1714500" y="4305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If changes are needed, reopen the task and add a clear review comment.</a:t>
            </a:r>
            <a:endParaRPr lang="en-US" sz="1600"/>
          </a:p>
        </p:txBody>
      </p:sp>
      <p:sp>
        <p:nvSpPr>
          <p:cNvPr id="22" name="Step panel 4"/>
          <p:cNvSpPr/>
          <p:nvPr/>
        </p:nvSpPr>
        <p:spPr>
          <a:xfrm>
            <a:off x="6381750" y="3714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Step label 4"/>
          <p:cNvSpPr txBox="1"/>
          <p:nvPr/>
        </p:nvSpPr>
        <p:spPr>
          <a:xfrm>
            <a:off x="6591300" y="3886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F9D68"/>
                </a:solidFill>
                <a:latin typeface="Aptos"/>
                <a:cs typeface="Aptos"/>
              </a:rPr>
              <a:t>04</a:t>
            </a:r>
            <a:endParaRPr lang="en-US" sz="2800"/>
          </a:p>
        </p:txBody>
      </p:sp>
      <p:sp>
        <p:nvSpPr>
          <p:cNvPr id="24" name="Step head 4"/>
          <p:cNvSpPr txBox="1"/>
          <p:nvPr/>
        </p:nvSpPr>
        <p:spPr>
          <a:xfrm>
            <a:off x="7429500" y="3905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Track History</a:t>
            </a:r>
            <a:endParaRPr lang="en-US" sz="2200"/>
          </a:p>
        </p:txBody>
      </p:sp>
      <p:sp>
        <p:nvSpPr>
          <p:cNvPr id="25" name="Step body 4"/>
          <p:cNvSpPr txBox="1"/>
          <p:nvPr/>
        </p:nvSpPr>
        <p:spPr>
          <a:xfrm>
            <a:off x="7429500" y="4305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The task keeps events for creation, reassignment, submission, approval, reopening, and views.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Task Files and Clarifications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09</a:t>
            </a:r>
            <a:endParaRPr lang="en-US" sz="1200"/>
          </a:p>
        </p:txBody>
      </p:sp>
      <p:sp>
        <p:nvSpPr>
          <p:cNvPr id="10" name="Files panel"/>
          <p:cNvSpPr/>
          <p:nvPr/>
        </p:nvSpPr>
        <p:spPr>
          <a:xfrm>
            <a:off x="647700" y="1314450"/>
            <a:ext cx="4953000" cy="40957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Files title"/>
          <p:cNvSpPr txBox="1"/>
          <p:nvPr/>
        </p:nvSpPr>
        <p:spPr>
          <a:xfrm>
            <a:off x="933450" y="1581150"/>
            <a:ext cx="4191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600" b="1">
                <a:solidFill>
                  <a:srgbClr val="1178B8"/>
                </a:solidFill>
                <a:latin typeface="Aptos"/>
                <a:cs typeface="Aptos"/>
              </a:rPr>
              <a:t>Files</a:t>
            </a:r>
            <a:endParaRPr lang="en-US" sz="2600"/>
          </a:p>
        </p:txBody>
      </p:sp>
      <p:sp>
        <p:nvSpPr>
          <p:cNvPr id="12" name="Files bullet 0"/>
          <p:cNvSpPr txBox="1"/>
          <p:nvPr/>
        </p:nvSpPr>
        <p:spPr>
          <a:xfrm>
            <a:off x="1009650" y="22860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Users can attach files to a task for deliverables, references, or evidence.</a:t>
            </a:r>
            <a:endParaRPr lang="en-US" sz="1700"/>
          </a:p>
        </p:txBody>
      </p:sp>
      <p:sp>
        <p:nvSpPr>
          <p:cNvPr id="13" name="Files bullet 1"/>
          <p:cNvSpPr txBox="1"/>
          <p:nvPr/>
        </p:nvSpPr>
        <p:spPr>
          <a:xfrm>
            <a:off x="1009650" y="31242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Each file records who uploaded it and when.</a:t>
            </a:r>
            <a:endParaRPr lang="en-US" sz="1700"/>
          </a:p>
        </p:txBody>
      </p:sp>
      <p:sp>
        <p:nvSpPr>
          <p:cNvPr id="14" name="Files bullet 2"/>
          <p:cNvSpPr txBox="1"/>
          <p:nvPr/>
        </p:nvSpPr>
        <p:spPr>
          <a:xfrm>
            <a:off x="1009650" y="39624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Uploaded files can be downloaded later from the task.</a:t>
            </a:r>
            <a:endParaRPr lang="en-US" sz="1700"/>
          </a:p>
        </p:txBody>
      </p:sp>
      <p:sp>
        <p:nvSpPr>
          <p:cNvPr id="15" name="Task Chat panel"/>
          <p:cNvSpPr/>
          <p:nvPr/>
        </p:nvSpPr>
        <p:spPr>
          <a:xfrm>
            <a:off x="6362700" y="1314450"/>
            <a:ext cx="4953000" cy="40957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Task Chat title"/>
          <p:cNvSpPr txBox="1"/>
          <p:nvPr/>
        </p:nvSpPr>
        <p:spPr>
          <a:xfrm>
            <a:off x="6648450" y="1581150"/>
            <a:ext cx="4191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600" b="1">
                <a:solidFill>
                  <a:srgbClr val="1F9D68"/>
                </a:solidFill>
                <a:latin typeface="Aptos"/>
                <a:cs typeface="Aptos"/>
              </a:rPr>
              <a:t>Task Chat</a:t>
            </a:r>
            <a:endParaRPr lang="en-US" sz="2600"/>
          </a:p>
        </p:txBody>
      </p:sp>
      <p:sp>
        <p:nvSpPr>
          <p:cNvPr id="17" name="Task Chat bullet 0"/>
          <p:cNvSpPr txBox="1"/>
          <p:nvPr/>
        </p:nvSpPr>
        <p:spPr>
          <a:xfrm>
            <a:off x="6724650" y="22860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Each task has a small clarification chat.</a:t>
            </a:r>
            <a:endParaRPr lang="en-US" sz="1700"/>
          </a:p>
        </p:txBody>
      </p:sp>
      <p:sp>
        <p:nvSpPr>
          <p:cNvPr id="18" name="Task Chat bullet 1"/>
          <p:cNvSpPr txBox="1"/>
          <p:nvPr/>
        </p:nvSpPr>
        <p:spPr>
          <a:xfrm>
            <a:off x="6724650" y="31242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Users and managers can ask questions in context.</a:t>
            </a:r>
            <a:endParaRPr lang="en-US" sz="1700"/>
          </a:p>
        </p:txBody>
      </p:sp>
      <p:sp>
        <p:nvSpPr>
          <p:cNvPr id="19" name="Task Chat bullet 2"/>
          <p:cNvSpPr txBox="1"/>
          <p:nvPr/>
        </p:nvSpPr>
        <p:spPr>
          <a:xfrm>
            <a:off x="6724650" y="39624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Messages stay with the task so decisions are not lost.</a:t>
            </a:r>
            <a:endParaRPr lang="en-US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Department Chat and Notifications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10</a:t>
            </a:r>
            <a:endParaRPr lang="en-US" sz="1200"/>
          </a:p>
        </p:txBody>
      </p:sp>
      <p:sp>
        <p:nvSpPr>
          <p:cNvPr id="10" name="Chat panel"/>
          <p:cNvSpPr/>
          <p:nvPr/>
        </p:nvSpPr>
        <p:spPr>
          <a:xfrm>
            <a:off x="647700" y="1314450"/>
            <a:ext cx="4953000" cy="40957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Chat title"/>
          <p:cNvSpPr txBox="1"/>
          <p:nvPr/>
        </p:nvSpPr>
        <p:spPr>
          <a:xfrm>
            <a:off x="933450" y="1581150"/>
            <a:ext cx="4191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600" b="1">
                <a:solidFill>
                  <a:srgbClr val="1178B8"/>
                </a:solidFill>
                <a:latin typeface="Aptos"/>
                <a:cs typeface="Aptos"/>
              </a:rPr>
              <a:t>Chat</a:t>
            </a:r>
            <a:endParaRPr lang="en-US" sz="2600"/>
          </a:p>
        </p:txBody>
      </p:sp>
      <p:sp>
        <p:nvSpPr>
          <p:cNvPr id="12" name="Chat bullet 0"/>
          <p:cNvSpPr txBox="1"/>
          <p:nvPr/>
        </p:nvSpPr>
        <p:spPr>
          <a:xfrm>
            <a:off x="1009650" y="22860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Department chat keeps team conversations together.</a:t>
            </a:r>
            <a:endParaRPr lang="en-US" sz="1700"/>
          </a:p>
        </p:txBody>
      </p:sp>
      <p:sp>
        <p:nvSpPr>
          <p:cNvPr id="13" name="Chat bullet 1"/>
          <p:cNvSpPr txBox="1"/>
          <p:nvPr/>
        </p:nvSpPr>
        <p:spPr>
          <a:xfrm>
            <a:off x="1009650" y="31242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Super admin can see and create cross-department groups.</a:t>
            </a:r>
            <a:endParaRPr lang="en-US" sz="1700"/>
          </a:p>
        </p:txBody>
      </p:sp>
      <p:sp>
        <p:nvSpPr>
          <p:cNvPr id="14" name="Chat bullet 2"/>
          <p:cNvSpPr txBox="1"/>
          <p:nvPr/>
        </p:nvSpPr>
        <p:spPr>
          <a:xfrm>
            <a:off x="1009650" y="39624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Messages can include file attachments and replies.</a:t>
            </a:r>
            <a:endParaRPr lang="en-US" sz="1700"/>
          </a:p>
        </p:txBody>
      </p:sp>
      <p:sp>
        <p:nvSpPr>
          <p:cNvPr id="15" name="Notifications panel"/>
          <p:cNvSpPr/>
          <p:nvPr/>
        </p:nvSpPr>
        <p:spPr>
          <a:xfrm>
            <a:off x="6362700" y="1314450"/>
            <a:ext cx="4953000" cy="40957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Notifications title"/>
          <p:cNvSpPr txBox="1"/>
          <p:nvPr/>
        </p:nvSpPr>
        <p:spPr>
          <a:xfrm>
            <a:off x="6648450" y="1581150"/>
            <a:ext cx="4191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600" b="1">
                <a:solidFill>
                  <a:srgbClr val="1F9D68"/>
                </a:solidFill>
                <a:latin typeface="Aptos"/>
                <a:cs typeface="Aptos"/>
              </a:rPr>
              <a:t>Notifications</a:t>
            </a:r>
            <a:endParaRPr lang="en-US" sz="2600"/>
          </a:p>
        </p:txBody>
      </p:sp>
      <p:sp>
        <p:nvSpPr>
          <p:cNvPr id="17" name="Notifications bullet 0"/>
          <p:cNvSpPr txBox="1"/>
          <p:nvPr/>
        </p:nvSpPr>
        <p:spPr>
          <a:xfrm>
            <a:off x="6724650" y="22860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Users are notified when a task is allocated to them.</a:t>
            </a:r>
            <a:endParaRPr lang="en-US" sz="1700"/>
          </a:p>
        </p:txBody>
      </p:sp>
      <p:sp>
        <p:nvSpPr>
          <p:cNvPr id="18" name="Notifications bullet 1"/>
          <p:cNvSpPr txBox="1"/>
          <p:nvPr/>
        </p:nvSpPr>
        <p:spPr>
          <a:xfrm>
            <a:off x="6724650" y="31242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Managers are notified when claims or reviews need action.</a:t>
            </a:r>
            <a:endParaRPr lang="en-US" sz="1700"/>
          </a:p>
        </p:txBody>
      </p:sp>
      <p:sp>
        <p:nvSpPr>
          <p:cNvPr id="19" name="Notifications bullet 2"/>
          <p:cNvSpPr txBox="1"/>
          <p:nvPr/>
        </p:nvSpPr>
        <p:spPr>
          <a:xfrm>
            <a:off x="6724650" y="3962400"/>
            <a:ext cx="4095750" cy="5334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Chat activity can trigger notification badges and optional browser alerts.</a:t>
            </a:r>
            <a:endParaRPr lang="en-US"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Super Admin: Departments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11</a:t>
            </a:r>
            <a:endParaRPr lang="en-US" sz="1200"/>
          </a:p>
        </p:txBody>
      </p:sp>
      <p:sp>
        <p:nvSpPr>
          <p:cNvPr id="10" name="Step panel 1"/>
          <p:cNvSpPr/>
          <p:nvPr/>
        </p:nvSpPr>
        <p:spPr>
          <a:xfrm>
            <a:off x="666750" y="1428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Step label 1"/>
          <p:cNvSpPr txBox="1"/>
          <p:nvPr/>
        </p:nvSpPr>
        <p:spPr>
          <a:xfrm>
            <a:off x="876300" y="1600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178B8"/>
                </a:solidFill>
                <a:latin typeface="Aptos"/>
                <a:cs typeface="Aptos"/>
              </a:rPr>
              <a:t>01</a:t>
            </a:r>
            <a:endParaRPr lang="en-US" sz="2800"/>
          </a:p>
        </p:txBody>
      </p:sp>
      <p:sp>
        <p:nvSpPr>
          <p:cNvPr id="12" name="Step head 1"/>
          <p:cNvSpPr txBox="1"/>
          <p:nvPr/>
        </p:nvSpPr>
        <p:spPr>
          <a:xfrm>
            <a:off x="1714500" y="1619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Open Command Center</a:t>
            </a:r>
            <a:endParaRPr lang="en-US" sz="2200"/>
          </a:p>
        </p:txBody>
      </p:sp>
      <p:sp>
        <p:nvSpPr>
          <p:cNvPr id="13" name="Step body 1"/>
          <p:cNvSpPr txBox="1"/>
          <p:nvPr/>
        </p:nvSpPr>
        <p:spPr>
          <a:xfrm>
            <a:off x="1714500" y="2019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Use the management area from the left menu.</a:t>
            </a:r>
            <a:endParaRPr lang="en-US" sz="1600"/>
          </a:p>
        </p:txBody>
      </p:sp>
      <p:sp>
        <p:nvSpPr>
          <p:cNvPr id="14" name="Step panel 2"/>
          <p:cNvSpPr/>
          <p:nvPr/>
        </p:nvSpPr>
        <p:spPr>
          <a:xfrm>
            <a:off x="6381750" y="1428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Step label 2"/>
          <p:cNvSpPr txBox="1"/>
          <p:nvPr/>
        </p:nvSpPr>
        <p:spPr>
          <a:xfrm>
            <a:off x="6591300" y="1600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F9D68"/>
                </a:solidFill>
                <a:latin typeface="Aptos"/>
                <a:cs typeface="Aptos"/>
              </a:rPr>
              <a:t>02</a:t>
            </a:r>
            <a:endParaRPr lang="en-US" sz="2800"/>
          </a:p>
        </p:txBody>
      </p:sp>
      <p:sp>
        <p:nvSpPr>
          <p:cNvPr id="16" name="Step head 2"/>
          <p:cNvSpPr txBox="1"/>
          <p:nvPr/>
        </p:nvSpPr>
        <p:spPr>
          <a:xfrm>
            <a:off x="7429500" y="1619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Create Department</a:t>
            </a:r>
            <a:endParaRPr lang="en-US" sz="2200"/>
          </a:p>
        </p:txBody>
      </p:sp>
      <p:sp>
        <p:nvSpPr>
          <p:cNvPr id="17" name="Step body 2"/>
          <p:cNvSpPr txBox="1"/>
          <p:nvPr/>
        </p:nvSpPr>
        <p:spPr>
          <a:xfrm>
            <a:off x="7429500" y="2019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Add departments such as Document Controller, Mechanical Technical Office Engineer, Electrical, or QS.</a:t>
            </a:r>
            <a:endParaRPr lang="en-US" sz="1600"/>
          </a:p>
        </p:txBody>
      </p:sp>
      <p:sp>
        <p:nvSpPr>
          <p:cNvPr id="18" name="Step panel 3"/>
          <p:cNvSpPr/>
          <p:nvPr/>
        </p:nvSpPr>
        <p:spPr>
          <a:xfrm>
            <a:off x="666750" y="3714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Step label 3"/>
          <p:cNvSpPr txBox="1"/>
          <p:nvPr/>
        </p:nvSpPr>
        <p:spPr>
          <a:xfrm>
            <a:off x="876300" y="3886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178B8"/>
                </a:solidFill>
                <a:latin typeface="Aptos"/>
                <a:cs typeface="Aptos"/>
              </a:rPr>
              <a:t>03</a:t>
            </a:r>
            <a:endParaRPr lang="en-US" sz="2800"/>
          </a:p>
        </p:txBody>
      </p:sp>
      <p:sp>
        <p:nvSpPr>
          <p:cNvPr id="20" name="Step head 3"/>
          <p:cNvSpPr txBox="1"/>
          <p:nvPr/>
        </p:nvSpPr>
        <p:spPr>
          <a:xfrm>
            <a:off x="1714500" y="3905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Assign Users</a:t>
            </a:r>
            <a:endParaRPr lang="en-US" sz="2200"/>
          </a:p>
        </p:txBody>
      </p:sp>
      <p:sp>
        <p:nvSpPr>
          <p:cNvPr id="21" name="Step body 3"/>
          <p:cNvSpPr txBox="1"/>
          <p:nvPr/>
        </p:nvSpPr>
        <p:spPr>
          <a:xfrm>
            <a:off x="1714500" y="4305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Create or edit users and choose the correct department.</a:t>
            </a:r>
            <a:endParaRPr lang="en-US" sz="1600"/>
          </a:p>
        </p:txBody>
      </p:sp>
      <p:sp>
        <p:nvSpPr>
          <p:cNvPr id="22" name="Step panel 4"/>
          <p:cNvSpPr/>
          <p:nvPr/>
        </p:nvSpPr>
        <p:spPr>
          <a:xfrm>
            <a:off x="6381750" y="3714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Step label 4"/>
          <p:cNvSpPr txBox="1"/>
          <p:nvPr/>
        </p:nvSpPr>
        <p:spPr>
          <a:xfrm>
            <a:off x="6591300" y="3886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F9D68"/>
                </a:solidFill>
                <a:latin typeface="Aptos"/>
                <a:cs typeface="Aptos"/>
              </a:rPr>
              <a:t>04</a:t>
            </a:r>
            <a:endParaRPr lang="en-US" sz="2800"/>
          </a:p>
        </p:txBody>
      </p:sp>
      <p:sp>
        <p:nvSpPr>
          <p:cNvPr id="24" name="Step head 4"/>
          <p:cNvSpPr txBox="1"/>
          <p:nvPr/>
        </p:nvSpPr>
        <p:spPr>
          <a:xfrm>
            <a:off x="7429500" y="3905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Use Consistent Names</a:t>
            </a:r>
            <a:endParaRPr lang="en-US" sz="2200"/>
          </a:p>
        </p:txBody>
      </p:sp>
      <p:sp>
        <p:nvSpPr>
          <p:cNvPr id="25" name="Step body 4"/>
          <p:cNvSpPr txBox="1"/>
          <p:nvPr/>
        </p:nvSpPr>
        <p:spPr>
          <a:xfrm>
            <a:off x="7429500" y="4305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Department names are validated by the database to prevent accidental duplicates.</a:t>
            </a:r>
            <a:endParaRPr 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Projects and Imports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12</a:t>
            </a:r>
            <a:endParaRPr lang="en-US" sz="1200"/>
          </a:p>
        </p:txBody>
      </p:sp>
      <p:sp>
        <p:nvSpPr>
          <p:cNvPr id="10" name="Step panel 1"/>
          <p:cNvSpPr/>
          <p:nvPr/>
        </p:nvSpPr>
        <p:spPr>
          <a:xfrm>
            <a:off x="666750" y="1428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Step label 1"/>
          <p:cNvSpPr txBox="1"/>
          <p:nvPr/>
        </p:nvSpPr>
        <p:spPr>
          <a:xfrm>
            <a:off x="876300" y="1600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178B8"/>
                </a:solidFill>
                <a:latin typeface="Aptos"/>
                <a:cs typeface="Aptos"/>
              </a:rPr>
              <a:t>01</a:t>
            </a:r>
            <a:endParaRPr lang="en-US" sz="2800"/>
          </a:p>
        </p:txBody>
      </p:sp>
      <p:sp>
        <p:nvSpPr>
          <p:cNvPr id="12" name="Step head 1"/>
          <p:cNvSpPr txBox="1"/>
          <p:nvPr/>
        </p:nvSpPr>
        <p:spPr>
          <a:xfrm>
            <a:off x="1714500" y="1619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Create Project</a:t>
            </a:r>
            <a:endParaRPr lang="en-US" sz="2200"/>
          </a:p>
        </p:txBody>
      </p:sp>
      <p:sp>
        <p:nvSpPr>
          <p:cNvPr id="13" name="Step body 1"/>
          <p:cNvSpPr txBox="1"/>
          <p:nvPr/>
        </p:nvSpPr>
        <p:spPr>
          <a:xfrm>
            <a:off x="1714500" y="2019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Enter project name, description, department, and members.</a:t>
            </a:r>
            <a:endParaRPr lang="en-US" sz="1600"/>
          </a:p>
        </p:txBody>
      </p:sp>
      <p:sp>
        <p:nvSpPr>
          <p:cNvPr id="14" name="Step panel 2"/>
          <p:cNvSpPr/>
          <p:nvPr/>
        </p:nvSpPr>
        <p:spPr>
          <a:xfrm>
            <a:off x="6381750" y="1428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Step label 2"/>
          <p:cNvSpPr txBox="1"/>
          <p:nvPr/>
        </p:nvSpPr>
        <p:spPr>
          <a:xfrm>
            <a:off x="6591300" y="1600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F9D68"/>
                </a:solidFill>
                <a:latin typeface="Aptos"/>
                <a:cs typeface="Aptos"/>
              </a:rPr>
              <a:t>02</a:t>
            </a:r>
            <a:endParaRPr lang="en-US" sz="2800"/>
          </a:p>
        </p:txBody>
      </p:sp>
      <p:sp>
        <p:nvSpPr>
          <p:cNvPr id="16" name="Step head 2"/>
          <p:cNvSpPr txBox="1"/>
          <p:nvPr/>
        </p:nvSpPr>
        <p:spPr>
          <a:xfrm>
            <a:off x="7429500" y="1619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Allocate Tasks</a:t>
            </a:r>
            <a:endParaRPr lang="en-US" sz="2200"/>
          </a:p>
        </p:txBody>
      </p:sp>
      <p:sp>
        <p:nvSpPr>
          <p:cNvPr id="17" name="Step body 2"/>
          <p:cNvSpPr txBox="1"/>
          <p:nvPr/>
        </p:nvSpPr>
        <p:spPr>
          <a:xfrm>
            <a:off x="7429500" y="2019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Create tasks directly under the project so project work is traceable.</a:t>
            </a:r>
            <a:endParaRPr lang="en-US" sz="1600"/>
          </a:p>
        </p:txBody>
      </p:sp>
      <p:sp>
        <p:nvSpPr>
          <p:cNvPr id="18" name="Step panel 3"/>
          <p:cNvSpPr/>
          <p:nvPr/>
        </p:nvSpPr>
        <p:spPr>
          <a:xfrm>
            <a:off x="666750" y="3714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Step label 3"/>
          <p:cNvSpPr txBox="1"/>
          <p:nvPr/>
        </p:nvSpPr>
        <p:spPr>
          <a:xfrm>
            <a:off x="876300" y="3886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178B8"/>
                </a:solidFill>
                <a:latin typeface="Aptos"/>
                <a:cs typeface="Aptos"/>
              </a:rPr>
              <a:t>03</a:t>
            </a:r>
            <a:endParaRPr lang="en-US" sz="2800"/>
          </a:p>
        </p:txBody>
      </p:sp>
      <p:sp>
        <p:nvSpPr>
          <p:cNvPr id="20" name="Step head 3"/>
          <p:cNvSpPr txBox="1"/>
          <p:nvPr/>
        </p:nvSpPr>
        <p:spPr>
          <a:xfrm>
            <a:off x="1714500" y="3905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Excel Template</a:t>
            </a:r>
            <a:endParaRPr lang="en-US" sz="2200"/>
          </a:p>
        </p:txBody>
      </p:sp>
      <p:sp>
        <p:nvSpPr>
          <p:cNvPr id="21" name="Step body 3"/>
          <p:cNvSpPr txBox="1"/>
          <p:nvPr/>
        </p:nvSpPr>
        <p:spPr>
          <a:xfrm>
            <a:off x="1714500" y="4305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Download the project task sheet template when bulk preparation is easier in Excel.</a:t>
            </a:r>
            <a:endParaRPr lang="en-US" sz="1600"/>
          </a:p>
        </p:txBody>
      </p:sp>
      <p:sp>
        <p:nvSpPr>
          <p:cNvPr id="22" name="Step panel 4"/>
          <p:cNvSpPr/>
          <p:nvPr/>
        </p:nvSpPr>
        <p:spPr>
          <a:xfrm>
            <a:off x="6381750" y="3714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Step label 4"/>
          <p:cNvSpPr txBox="1"/>
          <p:nvPr/>
        </p:nvSpPr>
        <p:spPr>
          <a:xfrm>
            <a:off x="6591300" y="3886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F9D68"/>
                </a:solidFill>
                <a:latin typeface="Aptos"/>
                <a:cs typeface="Aptos"/>
              </a:rPr>
              <a:t>04</a:t>
            </a:r>
            <a:endParaRPr lang="en-US" sz="2800"/>
          </a:p>
        </p:txBody>
      </p:sp>
      <p:sp>
        <p:nvSpPr>
          <p:cNvPr id="24" name="Step head 4"/>
          <p:cNvSpPr txBox="1"/>
          <p:nvPr/>
        </p:nvSpPr>
        <p:spPr>
          <a:xfrm>
            <a:off x="7429500" y="3905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Import Tasks</a:t>
            </a:r>
            <a:endParaRPr lang="en-US" sz="2200"/>
          </a:p>
        </p:txBody>
      </p:sp>
      <p:sp>
        <p:nvSpPr>
          <p:cNvPr id="25" name="Step body 4"/>
          <p:cNvSpPr txBox="1"/>
          <p:nvPr/>
        </p:nvSpPr>
        <p:spPr>
          <a:xfrm>
            <a:off x="7429500" y="4305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Upload the completed Excel sheet to create multiple project tasks.</a:t>
            </a:r>
            <a:endParaRPr 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Daily Best Practice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13</a:t>
            </a:r>
            <a:endParaRPr lang="en-US" sz="1200"/>
          </a:p>
        </p:txBody>
      </p:sp>
      <p:sp>
        <p:nvSpPr>
          <p:cNvPr id="10" name="Number 1"/>
          <p:cNvSpPr/>
          <p:nvPr/>
        </p:nvSpPr>
        <p:spPr>
          <a:xfrm>
            <a:off x="533400" y="1533525"/>
            <a:ext cx="457200" cy="457200"/>
          </a:xfrm>
          <a:prstGeom prst="round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Number text 1"/>
          <p:cNvSpPr txBox="1"/>
          <p:nvPr/>
        </p:nvSpPr>
        <p:spPr>
          <a:xfrm>
            <a:off x="552450" y="1571625"/>
            <a:ext cx="419100" cy="342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FFFFFF"/>
                </a:solidFill>
                <a:latin typeface="Aptos"/>
                <a:cs typeface="Aptos"/>
              </a:rPr>
              <a:t>1</a:t>
            </a:r>
            <a:endParaRPr lang="en-US" sz="2200"/>
          </a:p>
        </p:txBody>
      </p:sp>
      <p:sp>
        <p:nvSpPr>
          <p:cNvPr id="12" name="Item 1"/>
          <p:cNvSpPr txBox="1"/>
          <p:nvPr/>
        </p:nvSpPr>
        <p:spPr>
          <a:xfrm>
            <a:off x="1200150" y="1476375"/>
            <a:ext cx="9525000" cy="3619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400" b="1">
                <a:solidFill>
                  <a:srgbClr val="111827"/>
                </a:solidFill>
                <a:latin typeface="Aptos"/>
                <a:cs typeface="Aptos"/>
              </a:rPr>
              <a:t>Users</a:t>
            </a:r>
            <a:endParaRPr lang="en-US" sz="2400"/>
          </a:p>
        </p:txBody>
      </p:sp>
      <p:sp>
        <p:nvSpPr>
          <p:cNvPr id="13" name="Item body 1"/>
          <p:cNvSpPr txBox="1"/>
          <p:nvPr/>
        </p:nvSpPr>
        <p:spPr>
          <a:xfrm>
            <a:off x="1200150" y="184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Check My Allocated Tasks first, then department free tasks. Add comments/files before submitting.</a:t>
            </a:r>
            <a:endParaRPr lang="en-US" sz="1700"/>
          </a:p>
        </p:txBody>
      </p:sp>
      <p:sp>
        <p:nvSpPr>
          <p:cNvPr id="14" name="Number 2"/>
          <p:cNvSpPr/>
          <p:nvPr/>
        </p:nvSpPr>
        <p:spPr>
          <a:xfrm>
            <a:off x="533400" y="2600325"/>
            <a:ext cx="457200" cy="457200"/>
          </a:xfrm>
          <a:prstGeom prst="roundRect">
            <a:avLst/>
          </a:prstGeom>
          <a:solidFill>
            <a:srgbClr val="1F9D68"/>
          </a:solidFill>
          <a:ln w="12700">
            <a:solidFill>
              <a:srgbClr val="1F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Number text 2"/>
          <p:cNvSpPr txBox="1"/>
          <p:nvPr/>
        </p:nvSpPr>
        <p:spPr>
          <a:xfrm>
            <a:off x="552450" y="2638425"/>
            <a:ext cx="419100" cy="342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FFFFFF"/>
                </a:solidFill>
                <a:latin typeface="Aptos"/>
                <a:cs typeface="Aptos"/>
              </a:rPr>
              <a:t>2</a:t>
            </a:r>
            <a:endParaRPr lang="en-US" sz="2200"/>
          </a:p>
        </p:txBody>
      </p:sp>
      <p:sp>
        <p:nvSpPr>
          <p:cNvPr id="16" name="Item 2"/>
          <p:cNvSpPr txBox="1"/>
          <p:nvPr/>
        </p:nvSpPr>
        <p:spPr>
          <a:xfrm>
            <a:off x="1200150" y="2543175"/>
            <a:ext cx="9525000" cy="3619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400" b="1">
                <a:solidFill>
                  <a:srgbClr val="111827"/>
                </a:solidFill>
                <a:latin typeface="Aptos"/>
                <a:cs typeface="Aptos"/>
              </a:rPr>
              <a:t>Admins</a:t>
            </a:r>
            <a:endParaRPr lang="en-US" sz="2400"/>
          </a:p>
        </p:txBody>
      </p:sp>
      <p:sp>
        <p:nvSpPr>
          <p:cNvPr id="17" name="Item body 2"/>
          <p:cNvSpPr txBox="1"/>
          <p:nvPr/>
        </p:nvSpPr>
        <p:spPr>
          <a:xfrm>
            <a:off x="1200150" y="29146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Review Under Review tasks daily. Reopen with specific comments, not general rejection notes.</a:t>
            </a:r>
            <a:endParaRPr lang="en-US" sz="1700"/>
          </a:p>
        </p:txBody>
      </p:sp>
      <p:sp>
        <p:nvSpPr>
          <p:cNvPr id="18" name="Number 3"/>
          <p:cNvSpPr/>
          <p:nvPr/>
        </p:nvSpPr>
        <p:spPr>
          <a:xfrm>
            <a:off x="533400" y="3667125"/>
            <a:ext cx="457200" cy="457200"/>
          </a:xfrm>
          <a:prstGeom prst="round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Number text 3"/>
          <p:cNvSpPr txBox="1"/>
          <p:nvPr/>
        </p:nvSpPr>
        <p:spPr>
          <a:xfrm>
            <a:off x="552450" y="3705225"/>
            <a:ext cx="419100" cy="342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FFFFFF"/>
                </a:solidFill>
                <a:latin typeface="Aptos"/>
                <a:cs typeface="Aptos"/>
              </a:rPr>
              <a:t>3</a:t>
            </a:r>
            <a:endParaRPr lang="en-US" sz="2200"/>
          </a:p>
        </p:txBody>
      </p:sp>
      <p:sp>
        <p:nvSpPr>
          <p:cNvPr id="20" name="Item 3"/>
          <p:cNvSpPr txBox="1"/>
          <p:nvPr/>
        </p:nvSpPr>
        <p:spPr>
          <a:xfrm>
            <a:off x="1200150" y="3609975"/>
            <a:ext cx="9525000" cy="3619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400" b="1">
                <a:solidFill>
                  <a:srgbClr val="111827"/>
                </a:solidFill>
                <a:latin typeface="Aptos"/>
                <a:cs typeface="Aptos"/>
              </a:rPr>
              <a:t>Super Admin</a:t>
            </a:r>
            <a:endParaRPr lang="en-US" sz="2400"/>
          </a:p>
        </p:txBody>
      </p:sp>
      <p:sp>
        <p:nvSpPr>
          <p:cNvPr id="21" name="Item body 3"/>
          <p:cNvSpPr txBox="1"/>
          <p:nvPr/>
        </p:nvSpPr>
        <p:spPr>
          <a:xfrm>
            <a:off x="1200150" y="39814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Keep departments clean, audit unusual changes, and use Finished Tasks as the official completion record.</a:t>
            </a:r>
            <a:endParaRPr lang="en-US" sz="1700"/>
          </a:p>
        </p:txBody>
      </p:sp>
      <p:sp>
        <p:nvSpPr>
          <p:cNvPr id="22" name="Number 4"/>
          <p:cNvSpPr/>
          <p:nvPr/>
        </p:nvSpPr>
        <p:spPr>
          <a:xfrm>
            <a:off x="533400" y="4733925"/>
            <a:ext cx="457200" cy="457200"/>
          </a:xfrm>
          <a:prstGeom prst="roundRect">
            <a:avLst/>
          </a:prstGeom>
          <a:solidFill>
            <a:srgbClr val="1F9D68"/>
          </a:solidFill>
          <a:ln w="12700">
            <a:solidFill>
              <a:srgbClr val="1F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Number text 4"/>
          <p:cNvSpPr txBox="1"/>
          <p:nvPr/>
        </p:nvSpPr>
        <p:spPr>
          <a:xfrm>
            <a:off x="552450" y="4772025"/>
            <a:ext cx="419100" cy="342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FFFFFF"/>
                </a:solidFill>
                <a:latin typeface="Aptos"/>
                <a:cs typeface="Aptos"/>
              </a:rPr>
              <a:t>4</a:t>
            </a:r>
            <a:endParaRPr lang="en-US" sz="2200"/>
          </a:p>
        </p:txBody>
      </p:sp>
      <p:sp>
        <p:nvSpPr>
          <p:cNvPr id="24" name="Item 4"/>
          <p:cNvSpPr txBox="1"/>
          <p:nvPr/>
        </p:nvSpPr>
        <p:spPr>
          <a:xfrm>
            <a:off x="1200150" y="4676775"/>
            <a:ext cx="9525000" cy="3619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400" b="1">
                <a:solidFill>
                  <a:srgbClr val="111827"/>
                </a:solidFill>
                <a:latin typeface="Aptos"/>
                <a:cs typeface="Aptos"/>
              </a:rPr>
              <a:t>Everyone</a:t>
            </a:r>
            <a:endParaRPr lang="en-US" sz="2400"/>
          </a:p>
        </p:txBody>
      </p:sp>
      <p:sp>
        <p:nvSpPr>
          <p:cNvPr id="25" name="Item body 4"/>
          <p:cNvSpPr txBox="1"/>
          <p:nvPr/>
        </p:nvSpPr>
        <p:spPr>
          <a:xfrm>
            <a:off x="1200150" y="50482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Use task chat for clarification so the reason for decisions remains visible.</a:t>
            </a:r>
            <a:endParaRPr lang="en-US"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Common Status Meanings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14</a:t>
            </a:r>
            <a:endParaRPr lang="en-US" sz="1200"/>
          </a:p>
        </p:txBody>
      </p:sp>
      <p:sp>
        <p:nvSpPr>
          <p:cNvPr id="10" name="Header Role"/>
          <p:cNvSpPr txBox="1"/>
          <p:nvPr/>
        </p:nvSpPr>
        <p:spPr>
          <a:xfrm>
            <a:off x="495300" y="1238250"/>
            <a:ext cx="2000250" cy="4381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Role</a:t>
            </a:r>
            <a:endParaRPr lang="en-US" sz="1800"/>
          </a:p>
        </p:txBody>
      </p:sp>
      <p:sp>
        <p:nvSpPr>
          <p:cNvPr id="11" name="Header Scope"/>
          <p:cNvSpPr txBox="1"/>
          <p:nvPr/>
        </p:nvSpPr>
        <p:spPr>
          <a:xfrm>
            <a:off x="2857500" y="1238250"/>
            <a:ext cx="1619250" cy="4381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Scope</a:t>
            </a:r>
            <a:endParaRPr lang="en-US" sz="1800"/>
          </a:p>
        </p:txBody>
      </p:sp>
      <p:sp>
        <p:nvSpPr>
          <p:cNvPr id="12" name="Header What they can do"/>
          <p:cNvSpPr txBox="1"/>
          <p:nvPr/>
        </p:nvSpPr>
        <p:spPr>
          <a:xfrm>
            <a:off x="4895850" y="1238250"/>
            <a:ext cx="6191250" cy="4381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What they can do</a:t>
            </a:r>
            <a:endParaRPr lang="en-US" sz="1800"/>
          </a:p>
        </p:txBody>
      </p:sp>
      <p:sp>
        <p:nvSpPr>
          <p:cNvPr id="13" name="Cell 0-0"/>
          <p:cNvSpPr txBox="1"/>
          <p:nvPr/>
        </p:nvSpPr>
        <p:spPr>
          <a:xfrm>
            <a:off x="495300" y="1752600"/>
            <a:ext cx="2000250" cy="8382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2000" b="1">
                <a:solidFill>
                  <a:srgbClr val="111827"/>
                </a:solidFill>
                <a:latin typeface="Aptos"/>
                <a:cs typeface="Aptos"/>
              </a:rPr>
              <a:t>New</a:t>
            </a:r>
            <a:endParaRPr lang="en-US" sz="2000"/>
          </a:p>
        </p:txBody>
      </p:sp>
      <p:sp>
        <p:nvSpPr>
          <p:cNvPr id="14" name="Cell 0-1"/>
          <p:cNvSpPr txBox="1"/>
          <p:nvPr/>
        </p:nvSpPr>
        <p:spPr>
          <a:xfrm>
            <a:off x="2857500" y="1752600"/>
            <a:ext cx="1619250" cy="8382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111827"/>
                </a:solidFill>
                <a:latin typeface="Aptos"/>
                <a:cs typeface="Aptos"/>
              </a:rPr>
              <a:t>Created but not started</a:t>
            </a:r>
            <a:endParaRPr lang="en-US" sz="1600"/>
          </a:p>
        </p:txBody>
      </p:sp>
      <p:sp>
        <p:nvSpPr>
          <p:cNvPr id="15" name="Cell 0-2"/>
          <p:cNvSpPr txBox="1"/>
          <p:nvPr/>
        </p:nvSpPr>
        <p:spPr>
          <a:xfrm>
            <a:off x="4895850" y="1752600"/>
            <a:ext cx="6191250" cy="8382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Usually waiting for assignment, claim approval, or first action.</a:t>
            </a:r>
            <a:endParaRPr lang="en-US" sz="1600"/>
          </a:p>
        </p:txBody>
      </p:sp>
      <p:sp>
        <p:nvSpPr>
          <p:cNvPr id="16" name="Cell 1-0"/>
          <p:cNvSpPr txBox="1"/>
          <p:nvPr/>
        </p:nvSpPr>
        <p:spPr>
          <a:xfrm>
            <a:off x="495300" y="2743200"/>
            <a:ext cx="200025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2000" b="1">
                <a:solidFill>
                  <a:srgbClr val="111827"/>
                </a:solidFill>
                <a:latin typeface="Aptos"/>
                <a:cs typeface="Aptos"/>
              </a:rPr>
              <a:t>In Progress</a:t>
            </a:r>
            <a:endParaRPr lang="en-US" sz="2000"/>
          </a:p>
        </p:txBody>
      </p:sp>
      <p:sp>
        <p:nvSpPr>
          <p:cNvPr id="17" name="Cell 1-1"/>
          <p:cNvSpPr txBox="1"/>
          <p:nvPr/>
        </p:nvSpPr>
        <p:spPr>
          <a:xfrm>
            <a:off x="2857500" y="2743200"/>
            <a:ext cx="161925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111827"/>
                </a:solidFill>
                <a:latin typeface="Aptos"/>
                <a:cs typeface="Aptos"/>
              </a:rPr>
              <a:t>Work has started</a:t>
            </a:r>
            <a:endParaRPr lang="en-US" sz="1600"/>
          </a:p>
        </p:txBody>
      </p:sp>
      <p:sp>
        <p:nvSpPr>
          <p:cNvPr id="18" name="Cell 1-2"/>
          <p:cNvSpPr txBox="1"/>
          <p:nvPr/>
        </p:nvSpPr>
        <p:spPr>
          <a:xfrm>
            <a:off x="4895850" y="2743200"/>
            <a:ext cx="619125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Assignee should update progress and communicate blockers.</a:t>
            </a:r>
            <a:endParaRPr lang="en-US" sz="1600"/>
          </a:p>
        </p:txBody>
      </p:sp>
      <p:sp>
        <p:nvSpPr>
          <p:cNvPr id="19" name="Cell 2-0"/>
          <p:cNvSpPr txBox="1"/>
          <p:nvPr/>
        </p:nvSpPr>
        <p:spPr>
          <a:xfrm>
            <a:off x="495300" y="3733800"/>
            <a:ext cx="2000250" cy="8382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2000" b="1">
                <a:solidFill>
                  <a:srgbClr val="111827"/>
                </a:solidFill>
                <a:latin typeface="Aptos"/>
                <a:cs typeface="Aptos"/>
              </a:rPr>
              <a:t>Under Review</a:t>
            </a:r>
            <a:endParaRPr lang="en-US" sz="2000"/>
          </a:p>
        </p:txBody>
      </p:sp>
      <p:sp>
        <p:nvSpPr>
          <p:cNvPr id="20" name="Cell 2-1"/>
          <p:cNvSpPr txBox="1"/>
          <p:nvPr/>
        </p:nvSpPr>
        <p:spPr>
          <a:xfrm>
            <a:off x="2857500" y="3733800"/>
            <a:ext cx="1619250" cy="8382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111827"/>
                </a:solidFill>
                <a:latin typeface="Aptos"/>
                <a:cs typeface="Aptos"/>
              </a:rPr>
              <a:t>User submitted finished work</a:t>
            </a:r>
            <a:endParaRPr lang="en-US" sz="1600"/>
          </a:p>
        </p:txBody>
      </p:sp>
      <p:sp>
        <p:nvSpPr>
          <p:cNvPr id="21" name="Cell 2-2"/>
          <p:cNvSpPr txBox="1"/>
          <p:nvPr/>
        </p:nvSpPr>
        <p:spPr>
          <a:xfrm>
            <a:off x="4895850" y="3733800"/>
            <a:ext cx="6191250" cy="838200"/>
          </a:xfrm>
          <a:prstGeom prst="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Manager must approve or reopen with comments.</a:t>
            </a:r>
            <a:endParaRPr lang="en-US" sz="1600"/>
          </a:p>
        </p:txBody>
      </p:sp>
      <p:sp>
        <p:nvSpPr>
          <p:cNvPr id="22" name="Cell 3-0"/>
          <p:cNvSpPr txBox="1"/>
          <p:nvPr/>
        </p:nvSpPr>
        <p:spPr>
          <a:xfrm>
            <a:off x="495300" y="4724400"/>
            <a:ext cx="200025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2000" b="1">
                <a:solidFill>
                  <a:srgbClr val="111827"/>
                </a:solidFill>
                <a:latin typeface="Aptos"/>
                <a:cs typeface="Aptos"/>
              </a:rPr>
              <a:t>Done</a:t>
            </a:r>
            <a:endParaRPr lang="en-US" sz="2000"/>
          </a:p>
        </p:txBody>
      </p:sp>
      <p:sp>
        <p:nvSpPr>
          <p:cNvPr id="23" name="Cell 3-1"/>
          <p:cNvSpPr txBox="1"/>
          <p:nvPr/>
        </p:nvSpPr>
        <p:spPr>
          <a:xfrm>
            <a:off x="2857500" y="4724400"/>
            <a:ext cx="161925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111827"/>
                </a:solidFill>
                <a:latin typeface="Aptos"/>
                <a:cs typeface="Aptos"/>
              </a:rPr>
              <a:t>Approved and finished</a:t>
            </a:r>
            <a:endParaRPr lang="en-US" sz="1600"/>
          </a:p>
        </p:txBody>
      </p:sp>
      <p:sp>
        <p:nvSpPr>
          <p:cNvPr id="24" name="Cell 3-2"/>
          <p:cNvSpPr txBox="1"/>
          <p:nvPr/>
        </p:nvSpPr>
        <p:spPr>
          <a:xfrm>
            <a:off x="4895850" y="4724400"/>
            <a:ext cx="619125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3CC"/>
            </a:solidFill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Task is moved to the Finished Tasks area for reference and reporting.</a:t>
            </a:r>
            <a:endParaRPr lang="en-US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Running and Checking the App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15</a:t>
            </a:r>
            <a:endParaRPr lang="en-US" sz="1200"/>
          </a:p>
        </p:txBody>
      </p:sp>
      <p:sp>
        <p:nvSpPr>
          <p:cNvPr id="10" name="Step panel 1"/>
          <p:cNvSpPr/>
          <p:nvPr/>
        </p:nvSpPr>
        <p:spPr>
          <a:xfrm>
            <a:off x="666750" y="1428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Step label 1"/>
          <p:cNvSpPr txBox="1"/>
          <p:nvPr/>
        </p:nvSpPr>
        <p:spPr>
          <a:xfrm>
            <a:off x="876300" y="1600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178B8"/>
                </a:solidFill>
                <a:latin typeface="Aptos"/>
                <a:cs typeface="Aptos"/>
              </a:rPr>
              <a:t>01</a:t>
            </a:r>
            <a:endParaRPr lang="en-US" sz="2800"/>
          </a:p>
        </p:txBody>
      </p:sp>
      <p:sp>
        <p:nvSpPr>
          <p:cNvPr id="12" name="Step head 1"/>
          <p:cNvSpPr txBox="1"/>
          <p:nvPr/>
        </p:nvSpPr>
        <p:spPr>
          <a:xfrm>
            <a:off x="1714500" y="1619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Local check</a:t>
            </a:r>
            <a:endParaRPr lang="en-US" sz="2200"/>
          </a:p>
        </p:txBody>
      </p:sp>
      <p:sp>
        <p:nvSpPr>
          <p:cNvPr id="13" name="Step body 1"/>
          <p:cNvSpPr txBox="1"/>
          <p:nvPr/>
        </p:nvSpPr>
        <p:spPr>
          <a:xfrm>
            <a:off x="1714500" y="2019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Run the web app locally and open http://localhost:5173 before pushing changes.</a:t>
            </a:r>
            <a:endParaRPr lang="en-US" sz="1600"/>
          </a:p>
        </p:txBody>
      </p:sp>
      <p:sp>
        <p:nvSpPr>
          <p:cNvPr id="14" name="Step panel 2"/>
          <p:cNvSpPr/>
          <p:nvPr/>
        </p:nvSpPr>
        <p:spPr>
          <a:xfrm>
            <a:off x="6381750" y="1428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Step label 2"/>
          <p:cNvSpPr txBox="1"/>
          <p:nvPr/>
        </p:nvSpPr>
        <p:spPr>
          <a:xfrm>
            <a:off x="6591300" y="1600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F9D68"/>
                </a:solidFill>
                <a:latin typeface="Aptos"/>
                <a:cs typeface="Aptos"/>
              </a:rPr>
              <a:t>02</a:t>
            </a:r>
            <a:endParaRPr lang="en-US" sz="2800"/>
          </a:p>
        </p:txBody>
      </p:sp>
      <p:sp>
        <p:nvSpPr>
          <p:cNvPr id="16" name="Step head 2"/>
          <p:cNvSpPr txBox="1"/>
          <p:nvPr/>
        </p:nvSpPr>
        <p:spPr>
          <a:xfrm>
            <a:off x="7429500" y="1619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API/database</a:t>
            </a:r>
            <a:endParaRPr lang="en-US" sz="2200"/>
          </a:p>
        </p:txBody>
      </p:sp>
      <p:sp>
        <p:nvSpPr>
          <p:cNvPr id="17" name="Step body 2"/>
          <p:cNvSpPr txBox="1"/>
          <p:nvPr/>
        </p:nvSpPr>
        <p:spPr>
          <a:xfrm>
            <a:off x="7429500" y="2019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Local frontend can use the Railway API through the Vite proxy when local Postgres is not running.</a:t>
            </a:r>
            <a:endParaRPr lang="en-US" sz="1600"/>
          </a:p>
        </p:txBody>
      </p:sp>
      <p:sp>
        <p:nvSpPr>
          <p:cNvPr id="18" name="Step panel 3"/>
          <p:cNvSpPr/>
          <p:nvPr/>
        </p:nvSpPr>
        <p:spPr>
          <a:xfrm>
            <a:off x="666750" y="3714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Step label 3"/>
          <p:cNvSpPr txBox="1"/>
          <p:nvPr/>
        </p:nvSpPr>
        <p:spPr>
          <a:xfrm>
            <a:off x="876300" y="3886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178B8"/>
                </a:solidFill>
                <a:latin typeface="Aptos"/>
                <a:cs typeface="Aptos"/>
              </a:rPr>
              <a:t>03</a:t>
            </a:r>
            <a:endParaRPr lang="en-US" sz="2800"/>
          </a:p>
        </p:txBody>
      </p:sp>
      <p:sp>
        <p:nvSpPr>
          <p:cNvPr id="20" name="Step head 3"/>
          <p:cNvSpPr txBox="1"/>
          <p:nvPr/>
        </p:nvSpPr>
        <p:spPr>
          <a:xfrm>
            <a:off x="1714500" y="3905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Online check</a:t>
            </a:r>
            <a:endParaRPr lang="en-US" sz="2200"/>
          </a:p>
        </p:txBody>
      </p:sp>
      <p:sp>
        <p:nvSpPr>
          <p:cNvPr id="21" name="Step body 3"/>
          <p:cNvSpPr txBox="1"/>
          <p:nvPr/>
        </p:nvSpPr>
        <p:spPr>
          <a:xfrm>
            <a:off x="1714500" y="4305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After pushing to GitHub, Vercel rebuilds the frontend and Railway serves the API.</a:t>
            </a:r>
            <a:endParaRPr lang="en-US" sz="1600"/>
          </a:p>
        </p:txBody>
      </p:sp>
      <p:sp>
        <p:nvSpPr>
          <p:cNvPr id="22" name="Step panel 4"/>
          <p:cNvSpPr/>
          <p:nvPr/>
        </p:nvSpPr>
        <p:spPr>
          <a:xfrm>
            <a:off x="6381750" y="3714750"/>
            <a:ext cx="4953000" cy="161925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B8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Step label 4"/>
          <p:cNvSpPr txBox="1"/>
          <p:nvPr/>
        </p:nvSpPr>
        <p:spPr>
          <a:xfrm>
            <a:off x="6591300" y="388620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800" b="1">
                <a:solidFill>
                  <a:srgbClr val="1F9D68"/>
                </a:solidFill>
                <a:latin typeface="Aptos"/>
                <a:cs typeface="Aptos"/>
              </a:rPr>
              <a:t>04</a:t>
            </a:r>
            <a:endParaRPr lang="en-US" sz="2800"/>
          </a:p>
        </p:txBody>
      </p:sp>
      <p:sp>
        <p:nvSpPr>
          <p:cNvPr id="24" name="Step head 4"/>
          <p:cNvSpPr txBox="1"/>
          <p:nvPr/>
        </p:nvSpPr>
        <p:spPr>
          <a:xfrm>
            <a:off x="7429500" y="390525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2200" b="1">
                <a:solidFill>
                  <a:srgbClr val="111827"/>
                </a:solidFill>
                <a:latin typeface="Aptos"/>
                <a:cs typeface="Aptos"/>
              </a:rPr>
              <a:t>Important note</a:t>
            </a:r>
            <a:endParaRPr lang="en-US" sz="2200"/>
          </a:p>
        </p:txBody>
      </p:sp>
      <p:sp>
        <p:nvSpPr>
          <p:cNvPr id="25" name="Step body 4"/>
          <p:cNvSpPr txBox="1"/>
          <p:nvPr/>
        </p:nvSpPr>
        <p:spPr>
          <a:xfrm>
            <a:off x="7429500" y="4305300"/>
            <a:ext cx="3429000" cy="7239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600">
                <a:solidFill>
                  <a:srgbClr val="5B6472"/>
                </a:solidFill>
                <a:latin typeface="Aptos"/>
                <a:cs typeface="Aptos"/>
              </a:rPr>
              <a:t>When local frontend points to Railway API, local testing changes live production data.</a:t>
            </a:r>
            <a:endParaRPr 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342900"/>
            <a:ext cx="9144000" cy="5905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600" b="1">
                <a:solidFill>
                  <a:srgbClr val="111827"/>
                </a:solidFill>
                <a:latin typeface="Aptos"/>
                <a:cs typeface="Aptos"/>
              </a:rPr>
              <a:t>Support Checklist</a:t>
            </a:r>
            <a:endParaRPr lang="en-US" sz="3600"/>
          </a:p>
        </p:txBody>
      </p:sp>
      <p:sp>
        <p:nvSpPr>
          <p:cNvPr id="3" name="Footer"/>
          <p:cNvSpPr txBox="1"/>
          <p:nvPr/>
        </p:nvSpPr>
        <p:spPr>
          <a:xfrm>
            <a:off x="457200" y="6381750"/>
            <a:ext cx="819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200"/>
          </a:p>
        </p:txBody>
      </p:sp>
      <p:sp>
        <p:nvSpPr>
          <p:cNvPr id="4" name="Page"/>
          <p:cNvSpPr txBox="1"/>
          <p:nvPr/>
        </p:nvSpPr>
        <p:spPr>
          <a:xfrm>
            <a:off x="10782300" y="6381750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200">
                <a:solidFill>
                  <a:srgbClr val="5B6472"/>
                </a:solidFill>
                <a:latin typeface="Aptos"/>
                <a:cs typeface="Aptos"/>
              </a:rPr>
              <a:t>16</a:t>
            </a:r>
            <a:endParaRPr lang="en-US" sz="1200"/>
          </a:p>
        </p:txBody>
      </p:sp>
      <p:sp>
        <p:nvSpPr>
          <p:cNvPr id="10" name="Closing headline"/>
          <p:cNvSpPr txBox="1"/>
          <p:nvPr/>
        </p:nvSpPr>
        <p:spPr>
          <a:xfrm>
            <a:off x="628650" y="1352550"/>
            <a:ext cx="5905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3800" b="1">
                <a:solidFill>
                  <a:srgbClr val="111827"/>
                </a:solidFill>
                <a:latin typeface="Aptos"/>
                <a:cs typeface="Aptos"/>
              </a:rPr>
              <a:t>Use the task record as the single source of truth.</a:t>
            </a:r>
            <a:endParaRPr lang="en-US" sz="3800"/>
          </a:p>
        </p:txBody>
      </p:sp>
      <p:sp>
        <p:nvSpPr>
          <p:cNvPr id="11" name="Check 0"/>
          <p:cNvSpPr/>
          <p:nvPr/>
        </p:nvSpPr>
        <p:spPr>
          <a:xfrm>
            <a:off x="857250" y="3105150"/>
            <a:ext cx="304800" cy="304800"/>
          </a:xfrm>
          <a:prstGeom prst="ellipse">
            <a:avLst/>
          </a:prstGeom>
          <a:solidFill>
            <a:srgbClr val="1F9D68"/>
          </a:solidFill>
          <a:ln w="12700">
            <a:solidFill>
              <a:srgbClr val="1F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Check text 0"/>
          <p:cNvSpPr txBox="1"/>
          <p:nvPr/>
        </p:nvSpPr>
        <p:spPr>
          <a:xfrm>
            <a:off x="1390650" y="3048000"/>
            <a:ext cx="876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900">
                <a:solidFill>
                  <a:srgbClr val="5B6472"/>
                </a:solidFill>
                <a:latin typeface="Aptos"/>
                <a:cs typeface="Aptos"/>
              </a:rPr>
              <a:t>Confirm the user role and department before reporting an issue.</a:t>
            </a:r>
            <a:endParaRPr lang="en-US" sz="1900"/>
          </a:p>
        </p:txBody>
      </p:sp>
      <p:sp>
        <p:nvSpPr>
          <p:cNvPr id="13" name="Check 1"/>
          <p:cNvSpPr/>
          <p:nvPr/>
        </p:nvSpPr>
        <p:spPr>
          <a:xfrm>
            <a:off x="857250" y="3733800"/>
            <a:ext cx="304800" cy="304800"/>
          </a:xfrm>
          <a:prstGeom prst="ellipse">
            <a:avLst/>
          </a:prstGeom>
          <a:solidFill>
            <a:srgbClr val="1F9D68"/>
          </a:solidFill>
          <a:ln w="12700">
            <a:solidFill>
              <a:srgbClr val="1F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Check text 1"/>
          <p:cNvSpPr txBox="1"/>
          <p:nvPr/>
        </p:nvSpPr>
        <p:spPr>
          <a:xfrm>
            <a:off x="1390650" y="3676650"/>
            <a:ext cx="876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900">
                <a:solidFill>
                  <a:srgbClr val="5B6472"/>
                </a:solidFill>
                <a:latin typeface="Aptos"/>
                <a:cs typeface="Aptos"/>
              </a:rPr>
              <a:t>Share the task code, project name, screenshot, and exact action attempted.</a:t>
            </a:r>
            <a:endParaRPr lang="en-US" sz="1900"/>
          </a:p>
        </p:txBody>
      </p:sp>
      <p:sp>
        <p:nvSpPr>
          <p:cNvPr id="15" name="Check 2"/>
          <p:cNvSpPr/>
          <p:nvPr/>
        </p:nvSpPr>
        <p:spPr>
          <a:xfrm>
            <a:off x="857250" y="4362450"/>
            <a:ext cx="304800" cy="304800"/>
          </a:xfrm>
          <a:prstGeom prst="ellipse">
            <a:avLst/>
          </a:prstGeom>
          <a:solidFill>
            <a:srgbClr val="1F9D68"/>
          </a:solidFill>
          <a:ln w="12700">
            <a:solidFill>
              <a:srgbClr val="1F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Check text 2"/>
          <p:cNvSpPr txBox="1"/>
          <p:nvPr/>
        </p:nvSpPr>
        <p:spPr>
          <a:xfrm>
            <a:off x="1390650" y="4305300"/>
            <a:ext cx="876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900">
                <a:solidFill>
                  <a:srgbClr val="5B6472"/>
                </a:solidFill>
                <a:latin typeface="Aptos"/>
                <a:cs typeface="Aptos"/>
              </a:rPr>
              <a:t>Check whether the task is Active, Under Review, Reopened, or Finished.</a:t>
            </a:r>
            <a:endParaRPr lang="en-US" sz="1900"/>
          </a:p>
        </p:txBody>
      </p:sp>
      <p:sp>
        <p:nvSpPr>
          <p:cNvPr id="17" name="Check 3"/>
          <p:cNvSpPr/>
          <p:nvPr/>
        </p:nvSpPr>
        <p:spPr>
          <a:xfrm>
            <a:off x="857250" y="4991100"/>
            <a:ext cx="304800" cy="304800"/>
          </a:xfrm>
          <a:prstGeom prst="ellipse">
            <a:avLst/>
          </a:prstGeom>
          <a:solidFill>
            <a:srgbClr val="1F9D68"/>
          </a:solidFill>
          <a:ln w="12700">
            <a:solidFill>
              <a:srgbClr val="1F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Check text 3"/>
          <p:cNvSpPr txBox="1"/>
          <p:nvPr/>
        </p:nvSpPr>
        <p:spPr>
          <a:xfrm>
            <a:off x="1390650" y="4933950"/>
            <a:ext cx="876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76200" rIns="114300" bIns="76200" anchor="t"/>
          <a:lstStyle/>
          <a:p>
            <a:r>
              <a:rPr lang="en-US" sz="1900">
                <a:solidFill>
                  <a:srgbClr val="5B6472"/>
                </a:solidFill>
                <a:latin typeface="Aptos"/>
                <a:cs typeface="Aptos"/>
              </a:rPr>
              <a:t>For access issues, confirm the correct username and that the account is assigned to the right department.</a:t>
            </a:r>
            <a:endParaRPr lang="en-US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1194</Words>
  <Application>Microsoft Office PowerPoint</Application>
  <PresentationFormat>Widescreen</PresentationFormat>
  <Paragraphs>213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Aptos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MAB Task Allocator User Manual</dc:title>
  <dc:creator>Codex</dc:creator>
  <cp:lastModifiedBy>jad chehade</cp:lastModifiedBy>
  <cp:revision>1</cp:revision>
  <dcterms:created xsi:type="dcterms:W3CDTF">2026-08-03T08:52:05Z</dcterms:created>
  <dcterms:modified xsi:type="dcterms:W3CDTF">2026-08-03T09:03:08Z</dcterms:modified>
</cp:coreProperties>
</file>