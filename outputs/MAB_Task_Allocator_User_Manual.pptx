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</p:sldIdLst>
  <p:sldSz cx="12192000" cy="6858000" type="wide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theme" Target="theme/them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533400" y="685800"/>
            <a:ext cx="2000250" cy="95250"/>
          </a:xfrm>
          <a:prstGeom prst="rect">
            <a:avLst/>
          </a:prstGeom>
          <a:solidFill>
            <a:srgbClr val="1178B8"/>
          </a:solidFill>
          <a:ln w="12700">
            <a:solidFill>
              <a:srgbClr val="117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Title"/>
          <p:cNvSpPr txBox="1"/>
          <p:nvPr/>
        </p:nvSpPr>
        <p:spPr>
          <a:xfrm>
            <a:off x="590550" y="1619250"/>
            <a:ext cx="7239000" cy="8763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5600" b="1">
                <a:solidFill>
                  <a:srgbClr val="111827"/>
                </a:solidFill>
                <a:latin typeface="Aptos"/>
                <a:cs typeface="Aptos"/>
              </a:rPr>
              <a:t>MAB Task Allocator</a:t>
            </a:r>
            <a:endParaRPr lang="en-US" sz="5600"/>
          </a:p>
        </p:txBody>
      </p:sp>
      <p:sp>
        <p:nvSpPr>
          <p:cNvPr id="4" name="Subtitle"/>
          <p:cNvSpPr txBox="1"/>
          <p:nvPr/>
        </p:nvSpPr>
        <p:spPr>
          <a:xfrm>
            <a:off x="628650" y="2714625"/>
            <a:ext cx="7429500" cy="5334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2800" b="1">
                <a:solidFill>
                  <a:srgbClr val="1178B8"/>
                </a:solidFill>
                <a:latin typeface="Aptos"/>
                <a:cs typeface="Aptos"/>
              </a:rPr>
              <a:t>Complete User Manual</a:t>
            </a:r>
            <a:endParaRPr lang="en-US" sz="2800"/>
          </a:p>
        </p:txBody>
      </p:sp>
      <p:sp>
        <p:nvSpPr>
          <p:cNvPr id="5" name="Body"/>
          <p:cNvSpPr txBox="1"/>
          <p:nvPr/>
        </p:nvSpPr>
        <p:spPr>
          <a:xfrm>
            <a:off x="628650" y="3543300"/>
            <a:ext cx="7048500" cy="8382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2000">
                <a:solidFill>
                  <a:srgbClr val="5B6472"/>
                </a:solidFill>
                <a:latin typeface="Aptos"/>
                <a:cs typeface="Aptos"/>
              </a:rPr>
              <a:t>Detailed guide for daily users, department admins, and super admins.</a:t>
            </a:r>
            <a:endParaRPr lang="en-US" sz="2000"/>
          </a:p>
        </p:txBody>
      </p:sp>
      <p:sp>
        <p:nvSpPr>
          <p:cNvPr id="6" name="Panel"/>
          <p:cNvSpPr/>
          <p:nvPr/>
        </p:nvSpPr>
        <p:spPr>
          <a:xfrm>
            <a:off x="8458200" y="1066800"/>
            <a:ext cx="2800350" cy="447675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B9C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Panel title"/>
          <p:cNvSpPr txBox="1"/>
          <p:nvPr/>
        </p:nvSpPr>
        <p:spPr>
          <a:xfrm>
            <a:off x="8801100" y="1638300"/>
            <a:ext cx="2143125" cy="5715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3000" b="1">
                <a:solidFill>
                  <a:srgbClr val="1178B8"/>
                </a:solidFill>
                <a:latin typeface="Aptos"/>
                <a:cs typeface="Aptos"/>
              </a:rPr>
              <a:t>Complete guide</a:t>
            </a:r>
            <a:endParaRPr lang="en-US" sz="3000"/>
          </a:p>
        </p:txBody>
      </p:sp>
      <p:sp>
        <p:nvSpPr>
          <p:cNvPr id="8" name="Panel bullets"/>
          <p:cNvSpPr txBox="1"/>
          <p:nvPr/>
        </p:nvSpPr>
        <p:spPr>
          <a:xfrm>
            <a:off x="8801100" y="2571750"/>
            <a:ext cx="2143125" cy="18097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 marL="260000" indent="-145000">
              <a:buChar char="•"/>
            </a:pPr>
            <a:r>
              <a:rPr lang="en-US" sz="1800">
                <a:solidFill>
                  <a:srgbClr val="5B6472"/>
                </a:solidFill>
                <a:latin typeface="Aptos"/>
                <a:cs typeface="Aptos"/>
              </a:rPr>
              <a:t>Roles</a:t>
            </a:r>
            <a:endParaRPr lang="en-US" sz="1800"/>
          </a:p>
          <a:p>
            <a:pPr marL="260000" indent="-145000">
              <a:buChar char="•"/>
            </a:pPr>
            <a:r>
              <a:rPr lang="en-US" sz="1800">
                <a:solidFill>
                  <a:srgbClr val="5B6472"/>
                </a:solidFill>
                <a:latin typeface="Aptos"/>
                <a:cs typeface="Aptos"/>
              </a:rPr>
              <a:t>Tasks</a:t>
            </a:r>
            <a:endParaRPr lang="en-US" sz="1800"/>
          </a:p>
          <a:p>
            <a:pPr marL="260000" indent="-145000">
              <a:buChar char="•"/>
            </a:pPr>
            <a:r>
              <a:rPr lang="en-US" sz="1800">
                <a:solidFill>
                  <a:srgbClr val="5B6472"/>
                </a:solidFill>
                <a:latin typeface="Aptos"/>
                <a:cs typeface="Aptos"/>
              </a:rPr>
              <a:t>Chat + AI</a:t>
            </a:r>
            <a:endParaRPr lang="en-US" sz="1800"/>
          </a:p>
          <a:p>
            <a:pPr marL="260000" indent="-145000">
              <a:buChar char="•"/>
            </a:pPr>
            <a:r>
              <a:rPr lang="en-US" sz="1800">
                <a:solidFill>
                  <a:srgbClr val="5B6472"/>
                </a:solidFill>
                <a:latin typeface="Aptos"/>
                <a:cs typeface="Aptos"/>
              </a:rPr>
              <a:t>Reports</a:t>
            </a:r>
            <a:endParaRPr lang="en-US" sz="1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533400" y="685800"/>
            <a:ext cx="1714500" cy="95250"/>
          </a:xfrm>
          <a:prstGeom prst="rect">
            <a:avLst/>
          </a:prstGeom>
          <a:solidFill>
            <a:srgbClr val="1178B8"/>
          </a:solidFill>
          <a:ln w="12700">
            <a:solidFill>
              <a:srgbClr val="117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Part"/>
          <p:cNvSpPr txBox="1"/>
          <p:nvPr/>
        </p:nvSpPr>
        <p:spPr>
          <a:xfrm>
            <a:off x="609600" y="1428750"/>
            <a:ext cx="34290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4600" b="1">
                <a:solidFill>
                  <a:srgbClr val="1178B8"/>
                </a:solidFill>
                <a:latin typeface="Aptos"/>
                <a:cs typeface="Aptos"/>
              </a:rPr>
              <a:t>Part 1</a:t>
            </a:r>
            <a:endParaRPr lang="en-US" sz="4600"/>
          </a:p>
        </p:txBody>
      </p:sp>
      <p:sp>
        <p:nvSpPr>
          <p:cNvPr id="4" name="Subtitle"/>
          <p:cNvSpPr txBox="1"/>
          <p:nvPr/>
        </p:nvSpPr>
        <p:spPr>
          <a:xfrm>
            <a:off x="609600" y="2343150"/>
            <a:ext cx="7810500" cy="7239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3800" b="1">
                <a:solidFill>
                  <a:srgbClr val="111827"/>
                </a:solidFill>
                <a:latin typeface="Aptos"/>
                <a:cs typeface="Aptos"/>
              </a:rPr>
              <a:t>System Overview</a:t>
            </a:r>
            <a:endParaRPr lang="en-US" sz="3800"/>
          </a:p>
        </p:txBody>
      </p:sp>
      <p:sp>
        <p:nvSpPr>
          <p:cNvPr id="5" name="Body"/>
          <p:cNvSpPr txBox="1"/>
          <p:nvPr/>
        </p:nvSpPr>
        <p:spPr>
          <a:xfrm>
            <a:off x="647700" y="3429000"/>
            <a:ext cx="8191500" cy="9144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2200">
                <a:solidFill>
                  <a:srgbClr val="5B6472"/>
                </a:solidFill>
                <a:latin typeface="Aptos"/>
                <a:cs typeface="Aptos"/>
              </a:rPr>
              <a:t>How the software is organized and what each area is for.</a:t>
            </a:r>
            <a:endParaRPr lang="en-US" sz="2200"/>
          </a:p>
        </p:txBody>
      </p:sp>
      <p:sp>
        <p:nvSpPr>
          <p:cNvPr id="6" name="Page"/>
          <p:cNvSpPr txBox="1"/>
          <p:nvPr/>
        </p:nvSpPr>
        <p:spPr>
          <a:xfrm>
            <a:off x="10763250" y="6419850"/>
            <a:ext cx="85725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1100">
                <a:solidFill>
                  <a:srgbClr val="5B6472"/>
                </a:solidFill>
                <a:latin typeface="Aptos"/>
                <a:cs typeface="Aptos"/>
              </a:rPr>
              <a:t>02</a:t>
            </a:r>
            <a:endParaRPr lang="en-US" sz="1100"/>
          </a:p>
        </p:txBody>
      </p:sp>
      <p:sp>
        <p:nvSpPr>
          <p:cNvPr id="7" name="Side"/>
          <p:cNvSpPr/>
          <p:nvPr/>
        </p:nvSpPr>
        <p:spPr>
          <a:xfrm>
            <a:off x="9334500" y="914400"/>
            <a:ext cx="1619250" cy="447675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B9C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457200" y="400050"/>
            <a:ext cx="1524000" cy="76200"/>
          </a:xfrm>
          <a:prstGeom prst="rect">
            <a:avLst/>
          </a:prstGeom>
          <a:solidFill>
            <a:srgbClr val="1178B8"/>
          </a:solidFill>
          <a:ln w="12700">
            <a:solidFill>
              <a:srgbClr val="117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Title"/>
          <p:cNvSpPr txBox="1"/>
          <p:nvPr/>
        </p:nvSpPr>
        <p:spPr>
          <a:xfrm>
            <a:off x="457200" y="628650"/>
            <a:ext cx="9144000" cy="5524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3400" b="1">
                <a:solidFill>
                  <a:srgbClr val="111827"/>
                </a:solidFill>
                <a:latin typeface="Aptos"/>
                <a:cs typeface="Aptos"/>
              </a:rPr>
              <a:t>What the software controls</a:t>
            </a:r>
            <a:endParaRPr lang="en-US" sz="3400"/>
          </a:p>
        </p:txBody>
      </p:sp>
      <p:sp>
        <p:nvSpPr>
          <p:cNvPr id="4" name="Footer"/>
          <p:cNvSpPr txBox="1"/>
          <p:nvPr/>
        </p:nvSpPr>
        <p:spPr>
          <a:xfrm>
            <a:off x="457200" y="6419850"/>
            <a:ext cx="66675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1100">
                <a:solidFill>
                  <a:srgbClr val="5B6472"/>
                </a:solidFill>
                <a:latin typeface="Aptos"/>
                <a:cs typeface="Aptos"/>
              </a:rPr>
              <a:t>MAB Task Allocator user manual</a:t>
            </a:r>
            <a:endParaRPr lang="en-US" sz="1100"/>
          </a:p>
        </p:txBody>
      </p:sp>
      <p:sp>
        <p:nvSpPr>
          <p:cNvPr id="5" name="Page"/>
          <p:cNvSpPr txBox="1"/>
          <p:nvPr/>
        </p:nvSpPr>
        <p:spPr>
          <a:xfrm>
            <a:off x="10801350" y="6419850"/>
            <a:ext cx="85725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1100">
                <a:solidFill>
                  <a:srgbClr val="5B6472"/>
                </a:solidFill>
                <a:latin typeface="Aptos"/>
                <a:cs typeface="Aptos"/>
              </a:rPr>
              <a:t>03</a:t>
            </a:r>
            <a:endParaRPr lang="en-US" sz="1100"/>
          </a:p>
        </p:txBody>
      </p:sp>
      <p:sp>
        <p:nvSpPr>
          <p:cNvPr id="10" name="Bullet mark 0"/>
          <p:cNvSpPr/>
          <p:nvPr/>
        </p:nvSpPr>
        <p:spPr>
          <a:xfrm>
            <a:off x="628650" y="1457325"/>
            <a:ext cx="285750" cy="285750"/>
          </a:xfrm>
          <a:prstGeom prst="roundRect">
            <a:avLst/>
          </a:prstGeom>
          <a:solidFill>
            <a:srgbClr val="11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Bullet 0"/>
          <p:cNvSpPr txBox="1"/>
          <p:nvPr/>
        </p:nvSpPr>
        <p:spPr>
          <a:xfrm>
            <a:off x="1123950" y="1381125"/>
            <a:ext cx="9906000" cy="5524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1700">
                <a:solidFill>
                  <a:srgbClr val="5B6472"/>
                </a:solidFill>
                <a:latin typeface="Aptos"/>
                <a:cs typeface="Aptos"/>
              </a:rPr>
              <a:t>Departments, users, projects, tasks, files, task comments, department chat, direct messages, notifications, TODOs, attendance, achievements, productivity, Work Intelligence, and audit logs.</a:t>
            </a:r>
            <a:endParaRPr lang="en-US" sz="1700"/>
          </a:p>
        </p:txBody>
      </p:sp>
      <p:sp>
        <p:nvSpPr>
          <p:cNvPr id="12" name="Bullet mark 1"/>
          <p:cNvSpPr/>
          <p:nvPr/>
        </p:nvSpPr>
        <p:spPr>
          <a:xfrm>
            <a:off x="628650" y="2276475"/>
            <a:ext cx="285750" cy="285750"/>
          </a:xfrm>
          <a:prstGeom prst="roundRect">
            <a:avLst/>
          </a:prstGeom>
          <a:solidFill>
            <a:srgbClr val="1F9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3" name="Bullet 1"/>
          <p:cNvSpPr txBox="1"/>
          <p:nvPr/>
        </p:nvSpPr>
        <p:spPr>
          <a:xfrm>
            <a:off x="1123950" y="2200275"/>
            <a:ext cx="9906000" cy="5524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1700">
                <a:solidFill>
                  <a:srgbClr val="5B6472"/>
                </a:solidFill>
                <a:latin typeface="Aptos"/>
                <a:cs typeface="Aptos"/>
              </a:rPr>
              <a:t>The application is role-based. Every user sees the same system, but access is filtered by role and department.</a:t>
            </a:r>
            <a:endParaRPr lang="en-US" sz="1700"/>
          </a:p>
        </p:txBody>
      </p:sp>
      <p:sp>
        <p:nvSpPr>
          <p:cNvPr id="14" name="Bullet mark 2"/>
          <p:cNvSpPr/>
          <p:nvPr/>
        </p:nvSpPr>
        <p:spPr>
          <a:xfrm>
            <a:off x="628650" y="3095625"/>
            <a:ext cx="285750" cy="285750"/>
          </a:xfrm>
          <a:prstGeom prst="roundRect">
            <a:avLst/>
          </a:prstGeom>
          <a:solidFill>
            <a:srgbClr val="11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" name="Bullet 2"/>
          <p:cNvSpPr txBox="1"/>
          <p:nvPr/>
        </p:nvSpPr>
        <p:spPr>
          <a:xfrm>
            <a:off x="1123950" y="3019425"/>
            <a:ext cx="9906000" cy="5524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1700">
                <a:solidFill>
                  <a:srgbClr val="5B6472"/>
                </a:solidFill>
                <a:latin typeface="Aptos"/>
                <a:cs typeface="Aptos"/>
              </a:rPr>
              <a:t>PostgreSQL is used for production data so the system can grow beyond small local storage.</a:t>
            </a:r>
            <a:endParaRPr lang="en-US" sz="1700"/>
          </a:p>
        </p:txBody>
      </p:sp>
      <p:sp>
        <p:nvSpPr>
          <p:cNvPr id="16" name="Bullet mark 3"/>
          <p:cNvSpPr/>
          <p:nvPr/>
        </p:nvSpPr>
        <p:spPr>
          <a:xfrm>
            <a:off x="628650" y="3914775"/>
            <a:ext cx="285750" cy="285750"/>
          </a:xfrm>
          <a:prstGeom prst="roundRect">
            <a:avLst/>
          </a:prstGeom>
          <a:solidFill>
            <a:srgbClr val="1F9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7" name="Bullet 3"/>
          <p:cNvSpPr txBox="1"/>
          <p:nvPr/>
        </p:nvSpPr>
        <p:spPr>
          <a:xfrm>
            <a:off x="1123950" y="3838575"/>
            <a:ext cx="9906000" cy="5524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1700">
                <a:solidFill>
                  <a:srgbClr val="5B6472"/>
                </a:solidFill>
                <a:latin typeface="Aptos"/>
                <a:cs typeface="Aptos"/>
              </a:rPr>
              <a:t>Attachments are stored separately from database records and linked back to tasks or chat messages.</a:t>
            </a:r>
            <a:endParaRPr lang="en-US" sz="17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457200" y="400050"/>
            <a:ext cx="1524000" cy="76200"/>
          </a:xfrm>
          <a:prstGeom prst="rect">
            <a:avLst/>
          </a:prstGeom>
          <a:solidFill>
            <a:srgbClr val="1178B8"/>
          </a:solidFill>
          <a:ln w="12700">
            <a:solidFill>
              <a:srgbClr val="117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Title"/>
          <p:cNvSpPr txBox="1"/>
          <p:nvPr/>
        </p:nvSpPr>
        <p:spPr>
          <a:xfrm>
            <a:off x="457200" y="628650"/>
            <a:ext cx="9144000" cy="5524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3400" b="1">
                <a:solidFill>
                  <a:srgbClr val="111827"/>
                </a:solidFill>
                <a:latin typeface="Aptos"/>
                <a:cs typeface="Aptos"/>
              </a:rPr>
              <a:t>Roles and access levels</a:t>
            </a:r>
            <a:endParaRPr lang="en-US" sz="3400"/>
          </a:p>
        </p:txBody>
      </p:sp>
      <p:sp>
        <p:nvSpPr>
          <p:cNvPr id="4" name="Footer"/>
          <p:cNvSpPr txBox="1"/>
          <p:nvPr/>
        </p:nvSpPr>
        <p:spPr>
          <a:xfrm>
            <a:off x="457200" y="6419850"/>
            <a:ext cx="66675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1100">
                <a:solidFill>
                  <a:srgbClr val="5B6472"/>
                </a:solidFill>
                <a:latin typeface="Aptos"/>
                <a:cs typeface="Aptos"/>
              </a:rPr>
              <a:t>MAB Task Allocator user manual</a:t>
            </a:r>
            <a:endParaRPr lang="en-US" sz="1100"/>
          </a:p>
        </p:txBody>
      </p:sp>
      <p:sp>
        <p:nvSpPr>
          <p:cNvPr id="5" name="Page"/>
          <p:cNvSpPr txBox="1"/>
          <p:nvPr/>
        </p:nvSpPr>
        <p:spPr>
          <a:xfrm>
            <a:off x="10801350" y="6419850"/>
            <a:ext cx="85725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1100">
                <a:solidFill>
                  <a:srgbClr val="5B6472"/>
                </a:solidFill>
                <a:latin typeface="Aptos"/>
                <a:cs typeface="Aptos"/>
              </a:rPr>
              <a:t>04</a:t>
            </a:r>
            <a:endParaRPr lang="en-US" sz="1100"/>
          </a:p>
        </p:txBody>
      </p:sp>
      <p:sp>
        <p:nvSpPr>
          <p:cNvPr id="10" name="Header 0"/>
          <p:cNvSpPr txBox="1"/>
          <p:nvPr/>
        </p:nvSpPr>
        <p:spPr>
          <a:xfrm>
            <a:off x="457200" y="1219200"/>
            <a:ext cx="1905000" cy="40005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 wrap="square" anchor="t" lIns="95250" tIns="76200" rIns="95250" bIns="76200"/>
          <a:lstStyle/>
          <a:p>
            <a:pPr/>
            <a:r>
              <a:rPr lang="en-US" sz="1500" b="1">
                <a:solidFill>
                  <a:srgbClr val="FFFFFF"/>
                </a:solidFill>
                <a:latin typeface="Aptos"/>
                <a:cs typeface="Aptos"/>
              </a:rPr>
              <a:t>Role</a:t>
            </a:r>
            <a:endParaRPr lang="en-US" sz="1500"/>
          </a:p>
        </p:txBody>
      </p:sp>
      <p:sp>
        <p:nvSpPr>
          <p:cNvPr id="11" name="Header 1"/>
          <p:cNvSpPr txBox="1"/>
          <p:nvPr/>
        </p:nvSpPr>
        <p:spPr>
          <a:xfrm>
            <a:off x="2686050" y="1219200"/>
            <a:ext cx="1714500" cy="40005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 wrap="square" anchor="t" lIns="95250" tIns="76200" rIns="95250" bIns="76200"/>
          <a:lstStyle/>
          <a:p>
            <a:pPr/>
            <a:r>
              <a:rPr lang="en-US" sz="1500" b="1">
                <a:solidFill>
                  <a:srgbClr val="FFFFFF"/>
                </a:solidFill>
                <a:latin typeface="Aptos"/>
                <a:cs typeface="Aptos"/>
              </a:rPr>
              <a:t>Scope</a:t>
            </a:r>
            <a:endParaRPr lang="en-US" sz="1500"/>
          </a:p>
        </p:txBody>
      </p:sp>
      <p:sp>
        <p:nvSpPr>
          <p:cNvPr id="12" name="Header 2"/>
          <p:cNvSpPr txBox="1"/>
          <p:nvPr/>
        </p:nvSpPr>
        <p:spPr>
          <a:xfrm>
            <a:off x="4724400" y="1219200"/>
            <a:ext cx="6286500" cy="40005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 wrap="square" anchor="t" lIns="95250" tIns="76200" rIns="95250" bIns="76200"/>
          <a:lstStyle/>
          <a:p>
            <a:pPr/>
            <a:r>
              <a:rPr lang="en-US" sz="1500" b="1">
                <a:solidFill>
                  <a:srgbClr val="FFFFFF"/>
                </a:solidFill>
                <a:latin typeface="Aptos"/>
                <a:cs typeface="Aptos"/>
              </a:rPr>
              <a:t>Main access</a:t>
            </a:r>
            <a:endParaRPr lang="en-US" sz="1500"/>
          </a:p>
        </p:txBody>
      </p:sp>
      <p:sp>
        <p:nvSpPr>
          <p:cNvPr id="13" name="Cell 0-0"/>
          <p:cNvSpPr txBox="1"/>
          <p:nvPr/>
        </p:nvSpPr>
        <p:spPr>
          <a:xfrm>
            <a:off x="457200" y="1695450"/>
            <a:ext cx="1905000" cy="933450"/>
          </a:xfrm>
          <a:prstGeom prst="rect">
            <a:avLst/>
          </a:prstGeom>
          <a:solidFill>
            <a:srgbClr val="F4F7FA"/>
          </a:solidFill>
          <a:ln w="12700">
            <a:solidFill>
              <a:srgbClr val="B9C6D2"/>
            </a:solidFill>
          </a:ln>
        </p:spPr>
        <p:txBody>
          <a:bodyPr wrap="square" anchor="t" lIns="95250" tIns="57150" rIns="95250" bIns="57150"/>
          <a:lstStyle/>
          <a:p>
            <a:pPr/>
            <a:r>
              <a:rPr lang="en-US" sz="1500" b="1">
                <a:solidFill>
                  <a:srgbClr val="111827"/>
                </a:solidFill>
                <a:latin typeface="Aptos"/>
                <a:cs typeface="Aptos"/>
              </a:rPr>
              <a:t>Super Admin</a:t>
            </a:r>
            <a:endParaRPr lang="en-US" sz="1500"/>
          </a:p>
        </p:txBody>
      </p:sp>
      <p:sp>
        <p:nvSpPr>
          <p:cNvPr id="14" name="Cell 0-1"/>
          <p:cNvSpPr txBox="1"/>
          <p:nvPr/>
        </p:nvSpPr>
        <p:spPr>
          <a:xfrm>
            <a:off x="2686050" y="1695450"/>
            <a:ext cx="1714500" cy="933450"/>
          </a:xfrm>
          <a:prstGeom prst="rect">
            <a:avLst/>
          </a:prstGeom>
          <a:solidFill>
            <a:srgbClr val="F4F7FA"/>
          </a:solidFill>
          <a:ln w="12700">
            <a:solidFill>
              <a:srgbClr val="B9C6D2"/>
            </a:solidFill>
          </a:ln>
        </p:spPr>
        <p:txBody>
          <a:bodyPr wrap="square" anchor="t" lIns="95250" tIns="57150" rIns="95250" bIns="57150"/>
          <a:lstStyle/>
          <a:p>
            <a:pPr/>
            <a:r>
              <a:rPr lang="en-US" sz="1300">
                <a:solidFill>
                  <a:srgbClr val="5B6472"/>
                </a:solidFill>
                <a:latin typeface="Aptos"/>
                <a:cs typeface="Aptos"/>
              </a:rPr>
              <a:t>All departments</a:t>
            </a:r>
            <a:endParaRPr lang="en-US" sz="1300"/>
          </a:p>
        </p:txBody>
      </p:sp>
      <p:sp>
        <p:nvSpPr>
          <p:cNvPr id="15" name="Cell 0-2"/>
          <p:cNvSpPr txBox="1"/>
          <p:nvPr/>
        </p:nvSpPr>
        <p:spPr>
          <a:xfrm>
            <a:off x="4724400" y="1695450"/>
            <a:ext cx="6286500" cy="933450"/>
          </a:xfrm>
          <a:prstGeom prst="rect">
            <a:avLst/>
          </a:prstGeom>
          <a:solidFill>
            <a:srgbClr val="F4F7FA"/>
          </a:solidFill>
          <a:ln w="12700">
            <a:solidFill>
              <a:srgbClr val="B9C6D2"/>
            </a:solidFill>
          </a:ln>
        </p:spPr>
        <p:txBody>
          <a:bodyPr wrap="square" anchor="t" lIns="95250" tIns="57150" rIns="95250" bIns="57150"/>
          <a:lstStyle/>
          <a:p>
            <a:pPr/>
            <a:r>
              <a:rPr lang="en-US" sz="1300">
                <a:solidFill>
                  <a:srgbClr val="5B6472"/>
                </a:solidFill>
                <a:latin typeface="Aptos"/>
                <a:cs typeface="Aptos"/>
              </a:rPr>
              <a:t>Create departments, manage all users, create/edit/delete tasks, approve/reopen, view all reports, Work Intelligence, and audit.</a:t>
            </a:r>
            <a:endParaRPr lang="en-US" sz="1300"/>
          </a:p>
        </p:txBody>
      </p:sp>
      <p:sp>
        <p:nvSpPr>
          <p:cNvPr id="16" name="Cell 1-0"/>
          <p:cNvSpPr txBox="1"/>
          <p:nvPr/>
        </p:nvSpPr>
        <p:spPr>
          <a:xfrm>
            <a:off x="457200" y="2838450"/>
            <a:ext cx="1905000" cy="93345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6D2"/>
            </a:solidFill>
          </a:ln>
        </p:spPr>
        <p:txBody>
          <a:bodyPr wrap="square" anchor="t" lIns="95250" tIns="57150" rIns="95250" bIns="57150"/>
          <a:lstStyle/>
          <a:p>
            <a:pPr/>
            <a:r>
              <a:rPr lang="en-US" sz="1500" b="1">
                <a:solidFill>
                  <a:srgbClr val="111827"/>
                </a:solidFill>
                <a:latin typeface="Aptos"/>
                <a:cs typeface="Aptos"/>
              </a:rPr>
              <a:t>Admin</a:t>
            </a:r>
            <a:endParaRPr lang="en-US" sz="1500"/>
          </a:p>
        </p:txBody>
      </p:sp>
      <p:sp>
        <p:nvSpPr>
          <p:cNvPr id="17" name="Cell 1-1"/>
          <p:cNvSpPr txBox="1"/>
          <p:nvPr/>
        </p:nvSpPr>
        <p:spPr>
          <a:xfrm>
            <a:off x="2686050" y="2838450"/>
            <a:ext cx="1714500" cy="93345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6D2"/>
            </a:solidFill>
          </a:ln>
        </p:spPr>
        <p:txBody>
          <a:bodyPr wrap="square" anchor="t" lIns="95250" tIns="57150" rIns="95250" bIns="57150"/>
          <a:lstStyle/>
          <a:p>
            <a:pPr/>
            <a:r>
              <a:rPr lang="en-US" sz="1300">
                <a:solidFill>
                  <a:srgbClr val="5B6472"/>
                </a:solidFill>
                <a:latin typeface="Aptos"/>
                <a:cs typeface="Aptos"/>
              </a:rPr>
              <a:t>Own department</a:t>
            </a:r>
            <a:endParaRPr lang="en-US" sz="1300"/>
          </a:p>
        </p:txBody>
      </p:sp>
      <p:sp>
        <p:nvSpPr>
          <p:cNvPr id="18" name="Cell 1-2"/>
          <p:cNvSpPr txBox="1"/>
          <p:nvPr/>
        </p:nvSpPr>
        <p:spPr>
          <a:xfrm>
            <a:off x="4724400" y="2838450"/>
            <a:ext cx="6286500" cy="93345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6D2"/>
            </a:solidFill>
          </a:ln>
        </p:spPr>
        <p:txBody>
          <a:bodyPr wrap="square" anchor="t" lIns="95250" tIns="57150" rIns="95250" bIns="57150"/>
          <a:lstStyle/>
          <a:p>
            <a:pPr/>
            <a:r>
              <a:rPr lang="en-US" sz="1300">
                <a:solidFill>
                  <a:srgbClr val="5B6472"/>
                </a:solidFill>
                <a:latin typeface="Aptos"/>
                <a:cs typeface="Aptos"/>
              </a:rPr>
              <a:t>Create normal users, manage department projects and tasks, approve/reopen work, export department productivity reports.</a:t>
            </a:r>
            <a:endParaRPr lang="en-US" sz="1300"/>
          </a:p>
        </p:txBody>
      </p:sp>
      <p:sp>
        <p:nvSpPr>
          <p:cNvPr id="19" name="Cell 2-0"/>
          <p:cNvSpPr txBox="1"/>
          <p:nvPr/>
        </p:nvSpPr>
        <p:spPr>
          <a:xfrm>
            <a:off x="457200" y="3981450"/>
            <a:ext cx="1905000" cy="933450"/>
          </a:xfrm>
          <a:prstGeom prst="rect">
            <a:avLst/>
          </a:prstGeom>
          <a:solidFill>
            <a:srgbClr val="F4F7FA"/>
          </a:solidFill>
          <a:ln w="12700">
            <a:solidFill>
              <a:srgbClr val="B9C6D2"/>
            </a:solidFill>
          </a:ln>
        </p:spPr>
        <p:txBody>
          <a:bodyPr wrap="square" anchor="t" lIns="95250" tIns="57150" rIns="95250" bIns="57150"/>
          <a:lstStyle/>
          <a:p>
            <a:pPr/>
            <a:r>
              <a:rPr lang="en-US" sz="1500" b="1">
                <a:solidFill>
                  <a:srgbClr val="111827"/>
                </a:solidFill>
                <a:latin typeface="Aptos"/>
                <a:cs typeface="Aptos"/>
              </a:rPr>
              <a:t>Normal User</a:t>
            </a:r>
            <a:endParaRPr lang="en-US" sz="1500"/>
          </a:p>
        </p:txBody>
      </p:sp>
      <p:sp>
        <p:nvSpPr>
          <p:cNvPr id="20" name="Cell 2-1"/>
          <p:cNvSpPr txBox="1"/>
          <p:nvPr/>
        </p:nvSpPr>
        <p:spPr>
          <a:xfrm>
            <a:off x="2686050" y="3981450"/>
            <a:ext cx="1714500" cy="933450"/>
          </a:xfrm>
          <a:prstGeom prst="rect">
            <a:avLst/>
          </a:prstGeom>
          <a:solidFill>
            <a:srgbClr val="F4F7FA"/>
          </a:solidFill>
          <a:ln w="12700">
            <a:solidFill>
              <a:srgbClr val="B9C6D2"/>
            </a:solidFill>
          </a:ln>
        </p:spPr>
        <p:txBody>
          <a:bodyPr wrap="square" anchor="t" lIns="95250" tIns="57150" rIns="95250" bIns="57150"/>
          <a:lstStyle/>
          <a:p>
            <a:pPr/>
            <a:r>
              <a:rPr lang="en-US" sz="1300">
                <a:solidFill>
                  <a:srgbClr val="5B6472"/>
                </a:solidFill>
                <a:latin typeface="Aptos"/>
                <a:cs typeface="Aptos"/>
              </a:rPr>
              <a:t>Own department</a:t>
            </a:r>
            <a:endParaRPr lang="en-US" sz="1300"/>
          </a:p>
        </p:txBody>
      </p:sp>
      <p:sp>
        <p:nvSpPr>
          <p:cNvPr id="21" name="Cell 2-2"/>
          <p:cNvSpPr txBox="1"/>
          <p:nvPr/>
        </p:nvSpPr>
        <p:spPr>
          <a:xfrm>
            <a:off x="4724400" y="3981450"/>
            <a:ext cx="6286500" cy="933450"/>
          </a:xfrm>
          <a:prstGeom prst="rect">
            <a:avLst/>
          </a:prstGeom>
          <a:solidFill>
            <a:srgbClr val="F4F7FA"/>
          </a:solidFill>
          <a:ln w="12700">
            <a:solidFill>
              <a:srgbClr val="B9C6D2"/>
            </a:solidFill>
          </a:ln>
        </p:spPr>
        <p:txBody>
          <a:bodyPr wrap="square" anchor="t" lIns="95250" tIns="57150" rIns="95250" bIns="57150"/>
          <a:lstStyle/>
          <a:p>
            <a:pPr/>
            <a:r>
              <a:rPr lang="en-US" sz="1300">
                <a:solidFill>
                  <a:srgbClr val="5B6472"/>
                </a:solidFill>
                <a:latin typeface="Aptos"/>
                <a:cs typeface="Aptos"/>
              </a:rPr>
              <a:t>See department task allocation, claim free tasks, work assigned tasks, submit finished work, upload files, chat, and manage TODOs.</a:t>
            </a:r>
            <a:endParaRPr lang="en-US" sz="13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457200" y="400050"/>
            <a:ext cx="1524000" cy="76200"/>
          </a:xfrm>
          <a:prstGeom prst="rect">
            <a:avLst/>
          </a:prstGeom>
          <a:solidFill>
            <a:srgbClr val="1178B8"/>
          </a:solidFill>
          <a:ln w="12700">
            <a:solidFill>
              <a:srgbClr val="117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Title"/>
          <p:cNvSpPr txBox="1"/>
          <p:nvPr/>
        </p:nvSpPr>
        <p:spPr>
          <a:xfrm>
            <a:off x="457200" y="628650"/>
            <a:ext cx="9144000" cy="5524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3400" b="1">
                <a:solidFill>
                  <a:srgbClr val="111827"/>
                </a:solidFill>
                <a:latin typeface="Aptos"/>
                <a:cs typeface="Aptos"/>
              </a:rPr>
              <a:t>Main navigation areas</a:t>
            </a:r>
            <a:endParaRPr lang="en-US" sz="3400"/>
          </a:p>
        </p:txBody>
      </p:sp>
      <p:sp>
        <p:nvSpPr>
          <p:cNvPr id="4" name="Footer"/>
          <p:cNvSpPr txBox="1"/>
          <p:nvPr/>
        </p:nvSpPr>
        <p:spPr>
          <a:xfrm>
            <a:off x="457200" y="6419850"/>
            <a:ext cx="66675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1100">
                <a:solidFill>
                  <a:srgbClr val="5B6472"/>
                </a:solidFill>
                <a:latin typeface="Aptos"/>
                <a:cs typeface="Aptos"/>
              </a:rPr>
              <a:t>MAB Task Allocator user manual</a:t>
            </a:r>
            <a:endParaRPr lang="en-US" sz="1100"/>
          </a:p>
        </p:txBody>
      </p:sp>
      <p:sp>
        <p:nvSpPr>
          <p:cNvPr id="5" name="Page"/>
          <p:cNvSpPr txBox="1"/>
          <p:nvPr/>
        </p:nvSpPr>
        <p:spPr>
          <a:xfrm>
            <a:off x="10801350" y="6419850"/>
            <a:ext cx="85725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1100">
                <a:solidFill>
                  <a:srgbClr val="5B6472"/>
                </a:solidFill>
                <a:latin typeface="Aptos"/>
                <a:cs typeface="Aptos"/>
              </a:rPr>
              <a:t>05</a:t>
            </a:r>
            <a:endParaRPr lang="en-US" sz="1100"/>
          </a:p>
        </p:txBody>
      </p:sp>
      <p:sp>
        <p:nvSpPr>
          <p:cNvPr id="10" name="Bullet mark 0"/>
          <p:cNvSpPr/>
          <p:nvPr/>
        </p:nvSpPr>
        <p:spPr>
          <a:xfrm>
            <a:off x="628650" y="1457325"/>
            <a:ext cx="285750" cy="285750"/>
          </a:xfrm>
          <a:prstGeom prst="roundRect">
            <a:avLst/>
          </a:prstGeom>
          <a:solidFill>
            <a:srgbClr val="11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Bullet 0"/>
          <p:cNvSpPr txBox="1"/>
          <p:nvPr/>
        </p:nvSpPr>
        <p:spPr>
          <a:xfrm>
            <a:off x="1123950" y="1381125"/>
            <a:ext cx="9906000" cy="5524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1700">
                <a:solidFill>
                  <a:srgbClr val="5B6472"/>
                </a:solidFill>
                <a:latin typeface="Aptos"/>
                <a:cs typeface="Aptos"/>
              </a:rPr>
              <a:t>Dashboard: command center, live workload, quick actions, and operational summary.</a:t>
            </a:r>
            <a:endParaRPr lang="en-US" sz="1700"/>
          </a:p>
        </p:txBody>
      </p:sp>
      <p:sp>
        <p:nvSpPr>
          <p:cNvPr id="12" name="Bullet mark 1"/>
          <p:cNvSpPr/>
          <p:nvPr/>
        </p:nvSpPr>
        <p:spPr>
          <a:xfrm>
            <a:off x="628650" y="2276475"/>
            <a:ext cx="285750" cy="285750"/>
          </a:xfrm>
          <a:prstGeom prst="roundRect">
            <a:avLst/>
          </a:prstGeom>
          <a:solidFill>
            <a:srgbClr val="1F9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3" name="Bullet 1"/>
          <p:cNvSpPr txBox="1"/>
          <p:nvPr/>
        </p:nvSpPr>
        <p:spPr>
          <a:xfrm>
            <a:off x="1123950" y="2200275"/>
            <a:ext cx="9906000" cy="5524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1700">
                <a:solidFill>
                  <a:srgbClr val="5B6472"/>
                </a:solidFill>
                <a:latin typeface="Aptos"/>
                <a:cs typeface="Aptos"/>
              </a:rPr>
              <a:t>Active Tasks: current work queue, sorted by priority and due date.</a:t>
            </a:r>
            <a:endParaRPr lang="en-US" sz="1700"/>
          </a:p>
        </p:txBody>
      </p:sp>
      <p:sp>
        <p:nvSpPr>
          <p:cNvPr id="14" name="Bullet mark 2"/>
          <p:cNvSpPr/>
          <p:nvPr/>
        </p:nvSpPr>
        <p:spPr>
          <a:xfrm>
            <a:off x="628650" y="3095625"/>
            <a:ext cx="285750" cy="285750"/>
          </a:xfrm>
          <a:prstGeom prst="roundRect">
            <a:avLst/>
          </a:prstGeom>
          <a:solidFill>
            <a:srgbClr val="11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" name="Bullet 2"/>
          <p:cNvSpPr txBox="1"/>
          <p:nvPr/>
        </p:nvSpPr>
        <p:spPr>
          <a:xfrm>
            <a:off x="1123950" y="3019425"/>
            <a:ext cx="9906000" cy="5524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1700">
                <a:solidFill>
                  <a:srgbClr val="5B6472"/>
                </a:solidFill>
                <a:latin typeface="Aptos"/>
                <a:cs typeface="Aptos"/>
              </a:rPr>
              <a:t>Finished Tasks: approved archive with filters, completion data, files, comments, and reopen option for managers.</a:t>
            </a:r>
            <a:endParaRPr lang="en-US" sz="1700"/>
          </a:p>
        </p:txBody>
      </p:sp>
      <p:sp>
        <p:nvSpPr>
          <p:cNvPr id="16" name="Bullet mark 3"/>
          <p:cNvSpPr/>
          <p:nvPr/>
        </p:nvSpPr>
        <p:spPr>
          <a:xfrm>
            <a:off x="628650" y="3914775"/>
            <a:ext cx="285750" cy="285750"/>
          </a:xfrm>
          <a:prstGeom prst="roundRect">
            <a:avLst/>
          </a:prstGeom>
          <a:solidFill>
            <a:srgbClr val="1F9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7" name="Bullet 3"/>
          <p:cNvSpPr txBox="1"/>
          <p:nvPr/>
        </p:nvSpPr>
        <p:spPr>
          <a:xfrm>
            <a:off x="1123950" y="3838575"/>
            <a:ext cx="9906000" cy="5524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1700">
                <a:solidFill>
                  <a:srgbClr val="5B6472"/>
                </a:solidFill>
                <a:latin typeface="Aptos"/>
                <a:cs typeface="Aptos"/>
              </a:rPr>
              <a:t>Projects, People, Team, Productivity, Achievements, Attendance, Work Intelligence, Admin Audit, Settings, and Department Chat.</a:t>
            </a:r>
            <a:endParaRPr lang="en-US" sz="17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533400" y="685800"/>
            <a:ext cx="1714500" cy="95250"/>
          </a:xfrm>
          <a:prstGeom prst="rect">
            <a:avLst/>
          </a:prstGeom>
          <a:solidFill>
            <a:srgbClr val="1178B8"/>
          </a:solidFill>
          <a:ln w="12700">
            <a:solidFill>
              <a:srgbClr val="117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Part"/>
          <p:cNvSpPr txBox="1"/>
          <p:nvPr/>
        </p:nvSpPr>
        <p:spPr>
          <a:xfrm>
            <a:off x="609600" y="1428750"/>
            <a:ext cx="34290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4600" b="1">
                <a:solidFill>
                  <a:srgbClr val="1178B8"/>
                </a:solidFill>
                <a:latin typeface="Aptos"/>
                <a:cs typeface="Aptos"/>
              </a:rPr>
              <a:t>Part 2</a:t>
            </a:r>
            <a:endParaRPr lang="en-US" sz="4600"/>
          </a:p>
        </p:txBody>
      </p:sp>
      <p:sp>
        <p:nvSpPr>
          <p:cNvPr id="4" name="Subtitle"/>
          <p:cNvSpPr txBox="1"/>
          <p:nvPr/>
        </p:nvSpPr>
        <p:spPr>
          <a:xfrm>
            <a:off x="609600" y="2343150"/>
            <a:ext cx="7810500" cy="7239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3800" b="1">
                <a:solidFill>
                  <a:srgbClr val="111827"/>
                </a:solidFill>
                <a:latin typeface="Aptos"/>
                <a:cs typeface="Aptos"/>
              </a:rPr>
              <a:t>Login and daily workspace</a:t>
            </a:r>
            <a:endParaRPr lang="en-US" sz="3800"/>
          </a:p>
        </p:txBody>
      </p:sp>
      <p:sp>
        <p:nvSpPr>
          <p:cNvPr id="5" name="Body"/>
          <p:cNvSpPr txBox="1"/>
          <p:nvPr/>
        </p:nvSpPr>
        <p:spPr>
          <a:xfrm>
            <a:off x="647700" y="3429000"/>
            <a:ext cx="8191500" cy="9144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2200">
                <a:solidFill>
                  <a:srgbClr val="5B6472"/>
                </a:solidFill>
                <a:latin typeface="Aptos"/>
                <a:cs typeface="Aptos"/>
              </a:rPr>
              <a:t>How users enter, stay secure, and keep the app updated.</a:t>
            </a:r>
            <a:endParaRPr lang="en-US" sz="2200"/>
          </a:p>
        </p:txBody>
      </p:sp>
      <p:sp>
        <p:nvSpPr>
          <p:cNvPr id="6" name="Page"/>
          <p:cNvSpPr txBox="1"/>
          <p:nvPr/>
        </p:nvSpPr>
        <p:spPr>
          <a:xfrm>
            <a:off x="10763250" y="6419850"/>
            <a:ext cx="85725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1100">
                <a:solidFill>
                  <a:srgbClr val="5B6472"/>
                </a:solidFill>
                <a:latin typeface="Aptos"/>
                <a:cs typeface="Aptos"/>
              </a:rPr>
              <a:t>06</a:t>
            </a:r>
            <a:endParaRPr lang="en-US" sz="1100"/>
          </a:p>
        </p:txBody>
      </p:sp>
      <p:sp>
        <p:nvSpPr>
          <p:cNvPr id="7" name="Side"/>
          <p:cNvSpPr/>
          <p:nvPr/>
        </p:nvSpPr>
        <p:spPr>
          <a:xfrm>
            <a:off x="9334500" y="914400"/>
            <a:ext cx="1619250" cy="447675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B9C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457200" y="400050"/>
            <a:ext cx="1524000" cy="76200"/>
          </a:xfrm>
          <a:prstGeom prst="rect">
            <a:avLst/>
          </a:prstGeom>
          <a:solidFill>
            <a:srgbClr val="1178B8"/>
          </a:solidFill>
          <a:ln w="12700">
            <a:solidFill>
              <a:srgbClr val="117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Title"/>
          <p:cNvSpPr txBox="1"/>
          <p:nvPr/>
        </p:nvSpPr>
        <p:spPr>
          <a:xfrm>
            <a:off x="457200" y="628650"/>
            <a:ext cx="9144000" cy="5524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3400" b="1">
                <a:solidFill>
                  <a:srgbClr val="111827"/>
                </a:solidFill>
                <a:latin typeface="Aptos"/>
                <a:cs typeface="Aptos"/>
              </a:rPr>
              <a:t>Login workflow</a:t>
            </a:r>
            <a:endParaRPr lang="en-US" sz="3400"/>
          </a:p>
        </p:txBody>
      </p:sp>
      <p:sp>
        <p:nvSpPr>
          <p:cNvPr id="4" name="Footer"/>
          <p:cNvSpPr txBox="1"/>
          <p:nvPr/>
        </p:nvSpPr>
        <p:spPr>
          <a:xfrm>
            <a:off x="457200" y="6419850"/>
            <a:ext cx="66675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1100">
                <a:solidFill>
                  <a:srgbClr val="5B6472"/>
                </a:solidFill>
                <a:latin typeface="Aptos"/>
                <a:cs typeface="Aptos"/>
              </a:rPr>
              <a:t>MAB Task Allocator user manual</a:t>
            </a:r>
            <a:endParaRPr lang="en-US" sz="1100"/>
          </a:p>
        </p:txBody>
      </p:sp>
      <p:sp>
        <p:nvSpPr>
          <p:cNvPr id="5" name="Page"/>
          <p:cNvSpPr txBox="1"/>
          <p:nvPr/>
        </p:nvSpPr>
        <p:spPr>
          <a:xfrm>
            <a:off x="10801350" y="6419850"/>
            <a:ext cx="85725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1100">
                <a:solidFill>
                  <a:srgbClr val="5B6472"/>
                </a:solidFill>
                <a:latin typeface="Aptos"/>
                <a:cs typeface="Aptos"/>
              </a:rPr>
              <a:t>07</a:t>
            </a:r>
            <a:endParaRPr lang="en-US" sz="1100"/>
          </a:p>
        </p:txBody>
      </p:sp>
      <p:sp>
        <p:nvSpPr>
          <p:cNvPr id="10" name="Bullet mark 0"/>
          <p:cNvSpPr/>
          <p:nvPr/>
        </p:nvSpPr>
        <p:spPr>
          <a:xfrm>
            <a:off x="628650" y="1457325"/>
            <a:ext cx="285750" cy="285750"/>
          </a:xfrm>
          <a:prstGeom prst="roundRect">
            <a:avLst/>
          </a:prstGeom>
          <a:solidFill>
            <a:srgbClr val="11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Bullet 0"/>
          <p:cNvSpPr txBox="1"/>
          <p:nvPr/>
        </p:nvSpPr>
        <p:spPr>
          <a:xfrm>
            <a:off x="1123950" y="1381125"/>
            <a:ext cx="9906000" cy="5524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1700">
                <a:solidFill>
                  <a:srgbClr val="5B6472"/>
                </a:solidFill>
                <a:latin typeface="Aptos"/>
                <a:cs typeface="Aptos"/>
              </a:rPr>
              <a:t>Open the application URL and enter the assigned username and password.</a:t>
            </a:r>
            <a:endParaRPr lang="en-US" sz="1700"/>
          </a:p>
        </p:txBody>
      </p:sp>
      <p:sp>
        <p:nvSpPr>
          <p:cNvPr id="12" name="Bullet mark 1"/>
          <p:cNvSpPr/>
          <p:nvPr/>
        </p:nvSpPr>
        <p:spPr>
          <a:xfrm>
            <a:off x="628650" y="2276475"/>
            <a:ext cx="285750" cy="285750"/>
          </a:xfrm>
          <a:prstGeom prst="roundRect">
            <a:avLst/>
          </a:prstGeom>
          <a:solidFill>
            <a:srgbClr val="1F9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3" name="Bullet 1"/>
          <p:cNvSpPr txBox="1"/>
          <p:nvPr/>
        </p:nvSpPr>
        <p:spPr>
          <a:xfrm>
            <a:off x="1123950" y="2200275"/>
            <a:ext cx="9906000" cy="5524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1700">
                <a:solidFill>
                  <a:srgbClr val="5B6472"/>
                </a:solidFill>
                <a:latin typeface="Aptos"/>
                <a:cs typeface="Aptos"/>
              </a:rPr>
              <a:t>The login page does not expose placeholder credentials or super admin hints.</a:t>
            </a:r>
            <a:endParaRPr lang="en-US" sz="1700"/>
          </a:p>
        </p:txBody>
      </p:sp>
      <p:sp>
        <p:nvSpPr>
          <p:cNvPr id="14" name="Bullet mark 2"/>
          <p:cNvSpPr/>
          <p:nvPr/>
        </p:nvSpPr>
        <p:spPr>
          <a:xfrm>
            <a:off x="628650" y="3095625"/>
            <a:ext cx="285750" cy="285750"/>
          </a:xfrm>
          <a:prstGeom prst="roundRect">
            <a:avLst/>
          </a:prstGeom>
          <a:solidFill>
            <a:srgbClr val="11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" name="Bullet 2"/>
          <p:cNvSpPr txBox="1"/>
          <p:nvPr/>
        </p:nvSpPr>
        <p:spPr>
          <a:xfrm>
            <a:off x="1123950" y="3019425"/>
            <a:ext cx="9906000" cy="5524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1700">
                <a:solidFill>
                  <a:srgbClr val="5B6472"/>
                </a:solidFill>
                <a:latin typeface="Aptos"/>
                <a:cs typeface="Aptos"/>
              </a:rPr>
              <a:t>Light mode is the default, and each user can change appearance later from Settings.</a:t>
            </a:r>
            <a:endParaRPr lang="en-US" sz="1700"/>
          </a:p>
        </p:txBody>
      </p:sp>
      <p:sp>
        <p:nvSpPr>
          <p:cNvPr id="16" name="Bullet mark 3"/>
          <p:cNvSpPr/>
          <p:nvPr/>
        </p:nvSpPr>
        <p:spPr>
          <a:xfrm>
            <a:off x="628650" y="3914775"/>
            <a:ext cx="285750" cy="285750"/>
          </a:xfrm>
          <a:prstGeom prst="roundRect">
            <a:avLst/>
          </a:prstGeom>
          <a:solidFill>
            <a:srgbClr val="1F9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7" name="Bullet 3"/>
          <p:cNvSpPr txBox="1"/>
          <p:nvPr/>
        </p:nvSpPr>
        <p:spPr>
          <a:xfrm>
            <a:off x="1123950" y="3838575"/>
            <a:ext cx="9906000" cy="5524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1700">
                <a:solidFill>
                  <a:srgbClr val="5B6472"/>
                </a:solidFill>
                <a:latin typeface="Aptos"/>
                <a:cs typeface="Aptos"/>
              </a:rPr>
              <a:t>A successful login records attendance for the current Riyadh workday.</a:t>
            </a:r>
            <a:endParaRPr lang="en-US" sz="17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457200" y="400050"/>
            <a:ext cx="1524000" cy="76200"/>
          </a:xfrm>
          <a:prstGeom prst="rect">
            <a:avLst/>
          </a:prstGeom>
          <a:solidFill>
            <a:srgbClr val="1178B8"/>
          </a:solidFill>
          <a:ln w="12700">
            <a:solidFill>
              <a:srgbClr val="117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Title"/>
          <p:cNvSpPr txBox="1"/>
          <p:nvPr/>
        </p:nvSpPr>
        <p:spPr>
          <a:xfrm>
            <a:off x="457200" y="628650"/>
            <a:ext cx="9144000" cy="5524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3400" b="1">
                <a:solidFill>
                  <a:srgbClr val="111827"/>
                </a:solidFill>
                <a:latin typeface="Aptos"/>
                <a:cs typeface="Aptos"/>
              </a:rPr>
              <a:t>Sessions and duplicated tabs</a:t>
            </a:r>
            <a:endParaRPr lang="en-US" sz="3400"/>
          </a:p>
        </p:txBody>
      </p:sp>
      <p:sp>
        <p:nvSpPr>
          <p:cNvPr id="4" name="Footer"/>
          <p:cNvSpPr txBox="1"/>
          <p:nvPr/>
        </p:nvSpPr>
        <p:spPr>
          <a:xfrm>
            <a:off x="457200" y="6419850"/>
            <a:ext cx="66675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1100">
                <a:solidFill>
                  <a:srgbClr val="5B6472"/>
                </a:solidFill>
                <a:latin typeface="Aptos"/>
                <a:cs typeface="Aptos"/>
              </a:rPr>
              <a:t>MAB Task Allocator user manual</a:t>
            </a:r>
            <a:endParaRPr lang="en-US" sz="1100"/>
          </a:p>
        </p:txBody>
      </p:sp>
      <p:sp>
        <p:nvSpPr>
          <p:cNvPr id="5" name="Page"/>
          <p:cNvSpPr txBox="1"/>
          <p:nvPr/>
        </p:nvSpPr>
        <p:spPr>
          <a:xfrm>
            <a:off x="10801350" y="6419850"/>
            <a:ext cx="85725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1100">
                <a:solidFill>
                  <a:srgbClr val="5B6472"/>
                </a:solidFill>
                <a:latin typeface="Aptos"/>
                <a:cs typeface="Aptos"/>
              </a:rPr>
              <a:t>08</a:t>
            </a:r>
            <a:endParaRPr lang="en-US" sz="1100"/>
          </a:p>
        </p:txBody>
      </p:sp>
      <p:sp>
        <p:nvSpPr>
          <p:cNvPr id="10" name="Bullet mark 0"/>
          <p:cNvSpPr/>
          <p:nvPr/>
        </p:nvSpPr>
        <p:spPr>
          <a:xfrm>
            <a:off x="628650" y="1457325"/>
            <a:ext cx="285750" cy="285750"/>
          </a:xfrm>
          <a:prstGeom prst="roundRect">
            <a:avLst/>
          </a:prstGeom>
          <a:solidFill>
            <a:srgbClr val="11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Bullet 0"/>
          <p:cNvSpPr txBox="1"/>
          <p:nvPr/>
        </p:nvSpPr>
        <p:spPr>
          <a:xfrm>
            <a:off x="1123950" y="1381125"/>
            <a:ext cx="9906000" cy="5524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1700">
                <a:solidFill>
                  <a:srgbClr val="5B6472"/>
                </a:solidFill>
                <a:latin typeface="Aptos"/>
                <a:cs typeface="Aptos"/>
              </a:rPr>
              <a:t>The app stores login state in browser session storage, not shared local storage.</a:t>
            </a:r>
            <a:endParaRPr lang="en-US" sz="1700"/>
          </a:p>
        </p:txBody>
      </p:sp>
      <p:sp>
        <p:nvSpPr>
          <p:cNvPr id="12" name="Bullet mark 1"/>
          <p:cNvSpPr/>
          <p:nvPr/>
        </p:nvSpPr>
        <p:spPr>
          <a:xfrm>
            <a:off x="628650" y="2276475"/>
            <a:ext cx="285750" cy="285750"/>
          </a:xfrm>
          <a:prstGeom prst="roundRect">
            <a:avLst/>
          </a:prstGeom>
          <a:solidFill>
            <a:srgbClr val="1F9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3" name="Bullet 1"/>
          <p:cNvSpPr txBox="1"/>
          <p:nvPr/>
        </p:nvSpPr>
        <p:spPr>
          <a:xfrm>
            <a:off x="1123950" y="2200275"/>
            <a:ext cx="9906000" cy="5524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1700">
                <a:solidFill>
                  <a:srgbClr val="5B6472"/>
                </a:solidFill>
                <a:latin typeface="Aptos"/>
                <a:cs typeface="Aptos"/>
              </a:rPr>
              <a:t>Duplicated tabs can fork the session so both tabs work without breaking login.</a:t>
            </a:r>
            <a:endParaRPr lang="en-US" sz="1700"/>
          </a:p>
        </p:txBody>
      </p:sp>
      <p:sp>
        <p:nvSpPr>
          <p:cNvPr id="14" name="Bullet mark 2"/>
          <p:cNvSpPr/>
          <p:nvPr/>
        </p:nvSpPr>
        <p:spPr>
          <a:xfrm>
            <a:off x="628650" y="3095625"/>
            <a:ext cx="285750" cy="285750"/>
          </a:xfrm>
          <a:prstGeom prst="roundRect">
            <a:avLst/>
          </a:prstGeom>
          <a:solidFill>
            <a:srgbClr val="11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" name="Bullet 2"/>
          <p:cNvSpPr txBox="1"/>
          <p:nvPr/>
        </p:nvSpPr>
        <p:spPr>
          <a:xfrm>
            <a:off x="1123950" y="3019425"/>
            <a:ext cx="9906000" cy="5524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1700">
                <a:solidFill>
                  <a:srgbClr val="5B6472"/>
                </a:solidFill>
                <a:latin typeface="Aptos"/>
                <a:cs typeface="Aptos"/>
              </a:rPr>
              <a:t>The app tracks activity and logs out after 10 minutes of inactivity.</a:t>
            </a:r>
            <a:endParaRPr lang="en-US" sz="1700"/>
          </a:p>
        </p:txBody>
      </p:sp>
      <p:sp>
        <p:nvSpPr>
          <p:cNvPr id="16" name="Bullet mark 3"/>
          <p:cNvSpPr/>
          <p:nvPr/>
        </p:nvSpPr>
        <p:spPr>
          <a:xfrm>
            <a:off x="628650" y="3914775"/>
            <a:ext cx="285750" cy="285750"/>
          </a:xfrm>
          <a:prstGeom prst="roundRect">
            <a:avLst/>
          </a:prstGeom>
          <a:solidFill>
            <a:srgbClr val="1F9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7" name="Bullet 3"/>
          <p:cNvSpPr txBox="1"/>
          <p:nvPr/>
        </p:nvSpPr>
        <p:spPr>
          <a:xfrm>
            <a:off x="1123950" y="3838575"/>
            <a:ext cx="9906000" cy="5524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1700">
                <a:solidFill>
                  <a:srgbClr val="5B6472"/>
                </a:solidFill>
                <a:latin typeface="Aptos"/>
                <a:cs typeface="Aptos"/>
              </a:rPr>
              <a:t>When a session expires, the user must log in again before continuing.</a:t>
            </a:r>
            <a:endParaRPr lang="en-US" sz="17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457200" y="400050"/>
            <a:ext cx="1524000" cy="76200"/>
          </a:xfrm>
          <a:prstGeom prst="rect">
            <a:avLst/>
          </a:prstGeom>
          <a:solidFill>
            <a:srgbClr val="1178B8"/>
          </a:solidFill>
          <a:ln w="12700">
            <a:solidFill>
              <a:srgbClr val="117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Title"/>
          <p:cNvSpPr txBox="1"/>
          <p:nvPr/>
        </p:nvSpPr>
        <p:spPr>
          <a:xfrm>
            <a:off x="457200" y="628650"/>
            <a:ext cx="9144000" cy="5524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3400" b="1">
                <a:solidFill>
                  <a:srgbClr val="111827"/>
                </a:solidFill>
                <a:latin typeface="Aptos"/>
                <a:cs typeface="Aptos"/>
              </a:rPr>
              <a:t>Dashboard command center</a:t>
            </a:r>
            <a:endParaRPr lang="en-US" sz="3400"/>
          </a:p>
        </p:txBody>
      </p:sp>
      <p:sp>
        <p:nvSpPr>
          <p:cNvPr id="4" name="Footer"/>
          <p:cNvSpPr txBox="1"/>
          <p:nvPr/>
        </p:nvSpPr>
        <p:spPr>
          <a:xfrm>
            <a:off x="457200" y="6419850"/>
            <a:ext cx="66675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1100">
                <a:solidFill>
                  <a:srgbClr val="5B6472"/>
                </a:solidFill>
                <a:latin typeface="Aptos"/>
                <a:cs typeface="Aptos"/>
              </a:rPr>
              <a:t>MAB Task Allocator user manual</a:t>
            </a:r>
            <a:endParaRPr lang="en-US" sz="1100"/>
          </a:p>
        </p:txBody>
      </p:sp>
      <p:sp>
        <p:nvSpPr>
          <p:cNvPr id="5" name="Page"/>
          <p:cNvSpPr txBox="1"/>
          <p:nvPr/>
        </p:nvSpPr>
        <p:spPr>
          <a:xfrm>
            <a:off x="10801350" y="6419850"/>
            <a:ext cx="85725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1100">
                <a:solidFill>
                  <a:srgbClr val="5B6472"/>
                </a:solidFill>
                <a:latin typeface="Aptos"/>
                <a:cs typeface="Aptos"/>
              </a:rPr>
              <a:t>09</a:t>
            </a:r>
            <a:endParaRPr lang="en-US" sz="1100"/>
          </a:p>
        </p:txBody>
      </p:sp>
      <p:sp>
        <p:nvSpPr>
          <p:cNvPr id="10" name="Bullet mark 0"/>
          <p:cNvSpPr/>
          <p:nvPr/>
        </p:nvSpPr>
        <p:spPr>
          <a:xfrm>
            <a:off x="628650" y="1457325"/>
            <a:ext cx="285750" cy="285750"/>
          </a:xfrm>
          <a:prstGeom prst="roundRect">
            <a:avLst/>
          </a:prstGeom>
          <a:solidFill>
            <a:srgbClr val="11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Bullet 0"/>
          <p:cNvSpPr txBox="1"/>
          <p:nvPr/>
        </p:nvSpPr>
        <p:spPr>
          <a:xfrm>
            <a:off x="1123950" y="1381125"/>
            <a:ext cx="9906000" cy="5524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1700">
                <a:solidFill>
                  <a:srgbClr val="5B6472"/>
                </a:solidFill>
                <a:latin typeface="Aptos"/>
                <a:cs typeface="Aptos"/>
              </a:rPr>
              <a:t>Shows Active Tasks, Needs Review, Overdue, and Average Progress.</a:t>
            </a:r>
            <a:endParaRPr lang="en-US" sz="1700"/>
          </a:p>
        </p:txBody>
      </p:sp>
      <p:sp>
        <p:nvSpPr>
          <p:cNvPr id="12" name="Bullet mark 1"/>
          <p:cNvSpPr/>
          <p:nvPr/>
        </p:nvSpPr>
        <p:spPr>
          <a:xfrm>
            <a:off x="628650" y="2276475"/>
            <a:ext cx="285750" cy="285750"/>
          </a:xfrm>
          <a:prstGeom prst="roundRect">
            <a:avLst/>
          </a:prstGeom>
          <a:solidFill>
            <a:srgbClr val="1F9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3" name="Bullet 1"/>
          <p:cNvSpPr txBox="1"/>
          <p:nvPr/>
        </p:nvSpPr>
        <p:spPr>
          <a:xfrm>
            <a:off x="1123950" y="2200275"/>
            <a:ext cx="9906000" cy="5524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1700">
                <a:solidFill>
                  <a:srgbClr val="5B6472"/>
                </a:solidFill>
                <a:latin typeface="Aptos"/>
                <a:cs typeface="Aptos"/>
              </a:rPr>
              <a:t>Priority Work Queue lists the most important visible tasks first.</a:t>
            </a:r>
            <a:endParaRPr lang="en-US" sz="1700"/>
          </a:p>
        </p:txBody>
      </p:sp>
      <p:sp>
        <p:nvSpPr>
          <p:cNvPr id="14" name="Bullet mark 2"/>
          <p:cNvSpPr/>
          <p:nvPr/>
        </p:nvSpPr>
        <p:spPr>
          <a:xfrm>
            <a:off x="628650" y="3095625"/>
            <a:ext cx="285750" cy="285750"/>
          </a:xfrm>
          <a:prstGeom prst="roundRect">
            <a:avLst/>
          </a:prstGeom>
          <a:solidFill>
            <a:srgbClr val="11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" name="Bullet 2"/>
          <p:cNvSpPr txBox="1"/>
          <p:nvPr/>
        </p:nvSpPr>
        <p:spPr>
          <a:xfrm>
            <a:off x="1123950" y="3019425"/>
            <a:ext cx="9906000" cy="5524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1700">
                <a:solidFill>
                  <a:srgbClr val="5B6472"/>
                </a:solidFill>
                <a:latin typeface="Aptos"/>
                <a:cs typeface="Aptos"/>
              </a:rPr>
              <a:t>Quick actions open New Task, Free Tasks, Projects, People, and Messages.</a:t>
            </a:r>
            <a:endParaRPr lang="en-US" sz="1700"/>
          </a:p>
        </p:txBody>
      </p:sp>
      <p:sp>
        <p:nvSpPr>
          <p:cNvPr id="16" name="Bullet mark 3"/>
          <p:cNvSpPr/>
          <p:nvPr/>
        </p:nvSpPr>
        <p:spPr>
          <a:xfrm>
            <a:off x="628650" y="3914775"/>
            <a:ext cx="285750" cy="285750"/>
          </a:xfrm>
          <a:prstGeom prst="roundRect">
            <a:avLst/>
          </a:prstGeom>
          <a:solidFill>
            <a:srgbClr val="1F9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7" name="Bullet 3"/>
          <p:cNvSpPr txBox="1"/>
          <p:nvPr/>
        </p:nvSpPr>
        <p:spPr>
          <a:xfrm>
            <a:off x="1123950" y="3838575"/>
            <a:ext cx="9906000" cy="5524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1700">
                <a:solidFill>
                  <a:srgbClr val="5B6472"/>
                </a:solidFill>
                <a:latin typeface="Aptos"/>
                <a:cs typeface="Aptos"/>
              </a:rPr>
              <a:t>Operations summary shows projects, team members, urgent tasks, and completed tasks.</a:t>
            </a:r>
            <a:endParaRPr lang="en-US" sz="17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533400" y="685800"/>
            <a:ext cx="1714500" cy="95250"/>
          </a:xfrm>
          <a:prstGeom prst="rect">
            <a:avLst/>
          </a:prstGeom>
          <a:solidFill>
            <a:srgbClr val="1178B8"/>
          </a:solidFill>
          <a:ln w="12700">
            <a:solidFill>
              <a:srgbClr val="117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Part"/>
          <p:cNvSpPr txBox="1"/>
          <p:nvPr/>
        </p:nvSpPr>
        <p:spPr>
          <a:xfrm>
            <a:off x="609600" y="1428750"/>
            <a:ext cx="34290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4600" b="1">
                <a:solidFill>
                  <a:srgbClr val="1178B8"/>
                </a:solidFill>
                <a:latin typeface="Aptos"/>
                <a:cs typeface="Aptos"/>
              </a:rPr>
              <a:t>Part 3</a:t>
            </a:r>
            <a:endParaRPr lang="en-US" sz="4600"/>
          </a:p>
        </p:txBody>
      </p:sp>
      <p:sp>
        <p:nvSpPr>
          <p:cNvPr id="4" name="Subtitle"/>
          <p:cNvSpPr txBox="1"/>
          <p:nvPr/>
        </p:nvSpPr>
        <p:spPr>
          <a:xfrm>
            <a:off x="609600" y="2343150"/>
            <a:ext cx="7810500" cy="7239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3800" b="1">
                <a:solidFill>
                  <a:srgbClr val="111827"/>
                </a:solidFill>
                <a:latin typeface="Aptos"/>
                <a:cs typeface="Aptos"/>
              </a:rPr>
              <a:t>Tasks and allocation</a:t>
            </a:r>
            <a:endParaRPr lang="en-US" sz="3800"/>
          </a:p>
        </p:txBody>
      </p:sp>
      <p:sp>
        <p:nvSpPr>
          <p:cNvPr id="5" name="Body"/>
          <p:cNvSpPr txBox="1"/>
          <p:nvPr/>
        </p:nvSpPr>
        <p:spPr>
          <a:xfrm>
            <a:off x="647700" y="3429000"/>
            <a:ext cx="8191500" cy="9144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2200">
                <a:solidFill>
                  <a:srgbClr val="5B6472"/>
                </a:solidFill>
                <a:latin typeface="Aptos"/>
                <a:cs typeface="Aptos"/>
              </a:rPr>
              <a:t>How work is created, assigned, claimed, reviewed, and archived.</a:t>
            </a:r>
            <a:endParaRPr lang="en-US" sz="2200"/>
          </a:p>
        </p:txBody>
      </p:sp>
      <p:sp>
        <p:nvSpPr>
          <p:cNvPr id="6" name="Page"/>
          <p:cNvSpPr txBox="1"/>
          <p:nvPr/>
        </p:nvSpPr>
        <p:spPr>
          <a:xfrm>
            <a:off x="10763250" y="6419850"/>
            <a:ext cx="85725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1100">
                <a:solidFill>
                  <a:srgbClr val="5B6472"/>
                </a:solidFill>
                <a:latin typeface="Aptos"/>
                <a:cs typeface="Aptos"/>
              </a:rPr>
              <a:t>10</a:t>
            </a:r>
            <a:endParaRPr lang="en-US" sz="1100"/>
          </a:p>
        </p:txBody>
      </p:sp>
      <p:sp>
        <p:nvSpPr>
          <p:cNvPr id="7" name="Side"/>
          <p:cNvSpPr/>
          <p:nvPr/>
        </p:nvSpPr>
        <p:spPr>
          <a:xfrm>
            <a:off x="9334500" y="914400"/>
            <a:ext cx="1619250" cy="447675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B9C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457200" y="400050"/>
            <a:ext cx="1524000" cy="76200"/>
          </a:xfrm>
          <a:prstGeom prst="rect">
            <a:avLst/>
          </a:prstGeom>
          <a:solidFill>
            <a:srgbClr val="1178B8"/>
          </a:solidFill>
          <a:ln w="12700">
            <a:solidFill>
              <a:srgbClr val="117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Title"/>
          <p:cNvSpPr txBox="1"/>
          <p:nvPr/>
        </p:nvSpPr>
        <p:spPr>
          <a:xfrm>
            <a:off x="457200" y="628650"/>
            <a:ext cx="9144000" cy="5524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3400" b="1">
                <a:solidFill>
                  <a:srgbClr val="111827"/>
                </a:solidFill>
                <a:latin typeface="Aptos"/>
                <a:cs typeface="Aptos"/>
              </a:rPr>
              <a:t>Task lifecycle</a:t>
            </a:r>
            <a:endParaRPr lang="en-US" sz="3400"/>
          </a:p>
        </p:txBody>
      </p:sp>
      <p:sp>
        <p:nvSpPr>
          <p:cNvPr id="4" name="Footer"/>
          <p:cNvSpPr txBox="1"/>
          <p:nvPr/>
        </p:nvSpPr>
        <p:spPr>
          <a:xfrm>
            <a:off x="457200" y="6419850"/>
            <a:ext cx="66675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1100">
                <a:solidFill>
                  <a:srgbClr val="5B6472"/>
                </a:solidFill>
                <a:latin typeface="Aptos"/>
                <a:cs typeface="Aptos"/>
              </a:rPr>
              <a:t>MAB Task Allocator user manual</a:t>
            </a:r>
            <a:endParaRPr lang="en-US" sz="1100"/>
          </a:p>
        </p:txBody>
      </p:sp>
      <p:sp>
        <p:nvSpPr>
          <p:cNvPr id="5" name="Page"/>
          <p:cNvSpPr txBox="1"/>
          <p:nvPr/>
        </p:nvSpPr>
        <p:spPr>
          <a:xfrm>
            <a:off x="10801350" y="6419850"/>
            <a:ext cx="85725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1100">
                <a:solidFill>
                  <a:srgbClr val="5B6472"/>
                </a:solidFill>
                <a:latin typeface="Aptos"/>
                <a:cs typeface="Aptos"/>
              </a:rPr>
              <a:t>11</a:t>
            </a:r>
            <a:endParaRPr lang="en-US" sz="1100"/>
          </a:p>
        </p:txBody>
      </p:sp>
      <p:sp>
        <p:nvSpPr>
          <p:cNvPr id="10" name="Line 0"/>
          <p:cNvSpPr/>
          <p:nvPr/>
        </p:nvSpPr>
        <p:spPr>
          <a:xfrm>
            <a:off x="2114550" y="2895600"/>
            <a:ext cx="704850" cy="38100"/>
          </a:xfrm>
          <a:prstGeom prst="rect">
            <a:avLst/>
          </a:prstGeom>
          <a:solidFill>
            <a:srgbClr val="B9C6D2"/>
          </a:solidFill>
          <a:ln w="12700">
            <a:solidFill>
              <a:srgbClr val="B9C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Step 0"/>
          <p:cNvSpPr/>
          <p:nvPr/>
        </p:nvSpPr>
        <p:spPr>
          <a:xfrm>
            <a:off x="590550" y="2266950"/>
            <a:ext cx="1485900" cy="1257300"/>
          </a:xfrm>
          <a:prstGeom prst="roundRect">
            <a:avLst/>
          </a:prstGeom>
          <a:solidFill>
            <a:srgbClr val="1178B8"/>
          </a:solidFill>
          <a:ln w="12700">
            <a:solidFill>
              <a:srgbClr val="117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tep text 0"/>
          <p:cNvSpPr txBox="1"/>
          <p:nvPr/>
        </p:nvSpPr>
        <p:spPr>
          <a:xfrm>
            <a:off x="704850" y="2628900"/>
            <a:ext cx="1257300" cy="5143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1800" b="1">
                <a:solidFill>
                  <a:srgbClr val="FFFFFF"/>
                </a:solidFill>
                <a:latin typeface="Aptos"/>
                <a:cs typeface="Aptos"/>
              </a:rPr>
              <a:t>New</a:t>
            </a:r>
            <a:endParaRPr lang="en-US" sz="1800"/>
          </a:p>
        </p:txBody>
      </p:sp>
      <p:sp>
        <p:nvSpPr>
          <p:cNvPr id="13" name="Line 1"/>
          <p:cNvSpPr/>
          <p:nvPr/>
        </p:nvSpPr>
        <p:spPr>
          <a:xfrm>
            <a:off x="4343400" y="2895600"/>
            <a:ext cx="704850" cy="38100"/>
          </a:xfrm>
          <a:prstGeom prst="rect">
            <a:avLst/>
          </a:prstGeom>
          <a:solidFill>
            <a:srgbClr val="B9C6D2"/>
          </a:solidFill>
          <a:ln w="12700">
            <a:solidFill>
              <a:srgbClr val="B9C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Step 1"/>
          <p:cNvSpPr/>
          <p:nvPr/>
        </p:nvSpPr>
        <p:spPr>
          <a:xfrm>
            <a:off x="2819400" y="2266950"/>
            <a:ext cx="1485900" cy="1257300"/>
          </a:xfrm>
          <a:prstGeom prst="roundRect">
            <a:avLst/>
          </a:prstGeom>
          <a:solidFill>
            <a:srgbClr val="6D5BD0"/>
          </a:solidFill>
          <a:ln w="12700">
            <a:solidFill>
              <a:srgbClr val="6D5B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" name="Step text 1"/>
          <p:cNvSpPr txBox="1"/>
          <p:nvPr/>
        </p:nvSpPr>
        <p:spPr>
          <a:xfrm>
            <a:off x="2933700" y="2628900"/>
            <a:ext cx="1257300" cy="5143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1800" b="1">
                <a:solidFill>
                  <a:srgbClr val="FFFFFF"/>
                </a:solidFill>
                <a:latin typeface="Aptos"/>
                <a:cs typeface="Aptos"/>
              </a:rPr>
              <a:t>Assigned or Free</a:t>
            </a:r>
            <a:endParaRPr lang="en-US" sz="1800"/>
          </a:p>
        </p:txBody>
      </p:sp>
      <p:sp>
        <p:nvSpPr>
          <p:cNvPr id="16" name="Line 2"/>
          <p:cNvSpPr/>
          <p:nvPr/>
        </p:nvSpPr>
        <p:spPr>
          <a:xfrm>
            <a:off x="6572250" y="2895600"/>
            <a:ext cx="704850" cy="38100"/>
          </a:xfrm>
          <a:prstGeom prst="rect">
            <a:avLst/>
          </a:prstGeom>
          <a:solidFill>
            <a:srgbClr val="B9C6D2"/>
          </a:solidFill>
          <a:ln w="12700">
            <a:solidFill>
              <a:srgbClr val="B9C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7" name="Step 2"/>
          <p:cNvSpPr/>
          <p:nvPr/>
        </p:nvSpPr>
        <p:spPr>
          <a:xfrm>
            <a:off x="5048250" y="2266950"/>
            <a:ext cx="1485900" cy="1257300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8" name="Step text 2"/>
          <p:cNvSpPr txBox="1"/>
          <p:nvPr/>
        </p:nvSpPr>
        <p:spPr>
          <a:xfrm>
            <a:off x="5162550" y="2628900"/>
            <a:ext cx="1257300" cy="5143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1800" b="1">
                <a:solidFill>
                  <a:srgbClr val="FFFFFF"/>
                </a:solidFill>
                <a:latin typeface="Aptos"/>
                <a:cs typeface="Aptos"/>
              </a:rPr>
              <a:t>In Progress</a:t>
            </a:r>
            <a:endParaRPr lang="en-US" sz="1800"/>
          </a:p>
        </p:txBody>
      </p:sp>
      <p:sp>
        <p:nvSpPr>
          <p:cNvPr id="19" name="Line 3"/>
          <p:cNvSpPr/>
          <p:nvPr/>
        </p:nvSpPr>
        <p:spPr>
          <a:xfrm>
            <a:off x="8801100" y="2895600"/>
            <a:ext cx="704850" cy="38100"/>
          </a:xfrm>
          <a:prstGeom prst="rect">
            <a:avLst/>
          </a:prstGeom>
          <a:solidFill>
            <a:srgbClr val="B9C6D2"/>
          </a:solidFill>
          <a:ln w="12700">
            <a:solidFill>
              <a:srgbClr val="B9C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Step 3"/>
          <p:cNvSpPr/>
          <p:nvPr/>
        </p:nvSpPr>
        <p:spPr>
          <a:xfrm>
            <a:off x="7277100" y="2266950"/>
            <a:ext cx="1485900" cy="1257300"/>
          </a:xfrm>
          <a:prstGeom prst="roundRect">
            <a:avLst/>
          </a:prstGeom>
          <a:solidFill>
            <a:srgbClr val="DC3545"/>
          </a:solidFill>
          <a:ln w="12700">
            <a:solidFill>
              <a:srgbClr val="DC3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Step text 3"/>
          <p:cNvSpPr txBox="1"/>
          <p:nvPr/>
        </p:nvSpPr>
        <p:spPr>
          <a:xfrm>
            <a:off x="7391400" y="2628900"/>
            <a:ext cx="1257300" cy="5143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1800" b="1">
                <a:solidFill>
                  <a:srgbClr val="FFFFFF"/>
                </a:solidFill>
                <a:latin typeface="Aptos"/>
                <a:cs typeface="Aptos"/>
              </a:rPr>
              <a:t>Under Review</a:t>
            </a:r>
            <a:endParaRPr lang="en-US" sz="1800"/>
          </a:p>
        </p:txBody>
      </p:sp>
      <p:sp>
        <p:nvSpPr>
          <p:cNvPr id="22" name="Step 4"/>
          <p:cNvSpPr/>
          <p:nvPr/>
        </p:nvSpPr>
        <p:spPr>
          <a:xfrm>
            <a:off x="9505950" y="2266950"/>
            <a:ext cx="1485900" cy="1257300"/>
          </a:xfrm>
          <a:prstGeom prst="roundRect">
            <a:avLst/>
          </a:prstGeom>
          <a:solidFill>
            <a:srgbClr val="1F9D68"/>
          </a:solidFill>
          <a:ln w="12700">
            <a:solidFill>
              <a:srgbClr val="1F9D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Step text 4"/>
          <p:cNvSpPr txBox="1"/>
          <p:nvPr/>
        </p:nvSpPr>
        <p:spPr>
          <a:xfrm>
            <a:off x="9620250" y="2628900"/>
            <a:ext cx="1257300" cy="5143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1800" b="1">
                <a:solidFill>
                  <a:srgbClr val="FFFFFF"/>
                </a:solidFill>
                <a:latin typeface="Aptos"/>
                <a:cs typeface="Aptos"/>
              </a:rPr>
              <a:t>Approved / Done</a:t>
            </a:r>
            <a:endParaRPr lang="en-US" sz="1800"/>
          </a:p>
        </p:txBody>
      </p:sp>
      <p:sp>
        <p:nvSpPr>
          <p:cNvPr id="24" name="Note 0"/>
          <p:cNvSpPr txBox="1"/>
          <p:nvPr/>
        </p:nvSpPr>
        <p:spPr>
          <a:xfrm>
            <a:off x="1333500" y="4457700"/>
            <a:ext cx="2705100" cy="72390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B9C6D2"/>
            </a:solidFill>
          </a:ln>
        </p:spPr>
        <p:txBody>
          <a:bodyPr wrap="square" anchor="t" lIns="95250" tIns="57150" rIns="95250" bIns="57150"/>
          <a:lstStyle/>
          <a:p>
            <a:pPr/>
            <a:r>
              <a:rPr lang="en-US" sz="1500">
                <a:solidFill>
                  <a:srgbClr val="5B6472"/>
                </a:solidFill>
                <a:latin typeface="Aptos"/>
                <a:cs typeface="Aptos"/>
              </a:rPr>
              <a:t>Managers create or edit the task.</a:t>
            </a:r>
            <a:endParaRPr lang="en-US" sz="1500"/>
          </a:p>
        </p:txBody>
      </p:sp>
      <p:sp>
        <p:nvSpPr>
          <p:cNvPr id="25" name="Note 1"/>
          <p:cNvSpPr txBox="1"/>
          <p:nvPr/>
        </p:nvSpPr>
        <p:spPr>
          <a:xfrm>
            <a:off x="4476750" y="4457700"/>
            <a:ext cx="2705100" cy="72390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B9C6D2"/>
            </a:solidFill>
          </a:ln>
        </p:spPr>
        <p:txBody>
          <a:bodyPr wrap="square" anchor="t" lIns="95250" tIns="57150" rIns="95250" bIns="57150"/>
          <a:lstStyle/>
          <a:p>
            <a:pPr/>
            <a:r>
              <a:rPr lang="en-US" sz="1500">
                <a:solidFill>
                  <a:srgbClr val="5B6472"/>
                </a:solidFill>
                <a:latin typeface="Aptos"/>
                <a:cs typeface="Aptos"/>
              </a:rPr>
              <a:t>Users work, communicate, and upload files.</a:t>
            </a:r>
            <a:endParaRPr lang="en-US" sz="1500"/>
          </a:p>
        </p:txBody>
      </p:sp>
      <p:sp>
        <p:nvSpPr>
          <p:cNvPr id="26" name="Note 2"/>
          <p:cNvSpPr txBox="1"/>
          <p:nvPr/>
        </p:nvSpPr>
        <p:spPr>
          <a:xfrm>
            <a:off x="7620000" y="4457700"/>
            <a:ext cx="2705100" cy="72390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B9C6D2"/>
            </a:solidFill>
          </a:ln>
        </p:spPr>
        <p:txBody>
          <a:bodyPr wrap="square" anchor="t" lIns="95250" tIns="57150" rIns="95250" bIns="57150"/>
          <a:lstStyle/>
          <a:p>
            <a:pPr/>
            <a:r>
              <a:rPr lang="en-US" sz="1500">
                <a:solidFill>
                  <a:srgbClr val="5B6472"/>
                </a:solidFill>
                <a:latin typeface="Aptos"/>
                <a:cs typeface="Aptos"/>
              </a:rPr>
              <a:t>Finished work requires manager approval.</a:t>
            </a:r>
            <a:endParaRPr lang="en-US" sz="15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457200" y="400050"/>
            <a:ext cx="1524000" cy="76200"/>
          </a:xfrm>
          <a:prstGeom prst="rect">
            <a:avLst/>
          </a:prstGeom>
          <a:solidFill>
            <a:srgbClr val="1178B8"/>
          </a:solidFill>
          <a:ln w="12700">
            <a:solidFill>
              <a:srgbClr val="117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Title"/>
          <p:cNvSpPr txBox="1"/>
          <p:nvPr/>
        </p:nvSpPr>
        <p:spPr>
          <a:xfrm>
            <a:off x="457200" y="628650"/>
            <a:ext cx="9144000" cy="5524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3400" b="1">
                <a:solidFill>
                  <a:srgbClr val="111827"/>
                </a:solidFill>
                <a:latin typeface="Aptos"/>
                <a:cs typeface="Aptos"/>
              </a:rPr>
              <a:t>Creating a task</a:t>
            </a:r>
            <a:endParaRPr lang="en-US" sz="3400"/>
          </a:p>
        </p:txBody>
      </p:sp>
      <p:sp>
        <p:nvSpPr>
          <p:cNvPr id="4" name="Footer"/>
          <p:cNvSpPr txBox="1"/>
          <p:nvPr/>
        </p:nvSpPr>
        <p:spPr>
          <a:xfrm>
            <a:off x="457200" y="6419850"/>
            <a:ext cx="66675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1100">
                <a:solidFill>
                  <a:srgbClr val="5B6472"/>
                </a:solidFill>
                <a:latin typeface="Aptos"/>
                <a:cs typeface="Aptos"/>
              </a:rPr>
              <a:t>MAB Task Allocator user manual</a:t>
            </a:r>
            <a:endParaRPr lang="en-US" sz="1100"/>
          </a:p>
        </p:txBody>
      </p:sp>
      <p:sp>
        <p:nvSpPr>
          <p:cNvPr id="5" name="Page"/>
          <p:cNvSpPr txBox="1"/>
          <p:nvPr/>
        </p:nvSpPr>
        <p:spPr>
          <a:xfrm>
            <a:off x="10801350" y="6419850"/>
            <a:ext cx="85725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1100">
                <a:solidFill>
                  <a:srgbClr val="5B6472"/>
                </a:solidFill>
                <a:latin typeface="Aptos"/>
                <a:cs typeface="Aptos"/>
              </a:rPr>
              <a:t>12</a:t>
            </a:r>
            <a:endParaRPr lang="en-US" sz="1100"/>
          </a:p>
        </p:txBody>
      </p:sp>
      <p:sp>
        <p:nvSpPr>
          <p:cNvPr id="10" name="Bullet mark 0"/>
          <p:cNvSpPr/>
          <p:nvPr/>
        </p:nvSpPr>
        <p:spPr>
          <a:xfrm>
            <a:off x="628650" y="1457325"/>
            <a:ext cx="285750" cy="285750"/>
          </a:xfrm>
          <a:prstGeom prst="roundRect">
            <a:avLst/>
          </a:prstGeom>
          <a:solidFill>
            <a:srgbClr val="11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Bullet 0"/>
          <p:cNvSpPr txBox="1"/>
          <p:nvPr/>
        </p:nvSpPr>
        <p:spPr>
          <a:xfrm>
            <a:off x="1123950" y="1381125"/>
            <a:ext cx="9906000" cy="5524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1700">
                <a:solidFill>
                  <a:srgbClr val="5B6472"/>
                </a:solidFill>
                <a:latin typeface="Aptos"/>
                <a:cs typeface="Aptos"/>
              </a:rPr>
              <a:t>Managers enter task title, project if applicable, department, assignee or no assignee, task type, priority, complexity, due date, progress, and optional documents.</a:t>
            </a:r>
            <a:endParaRPr lang="en-US" sz="1700"/>
          </a:p>
        </p:txBody>
      </p:sp>
      <p:sp>
        <p:nvSpPr>
          <p:cNvPr id="12" name="Bullet mark 1"/>
          <p:cNvSpPr/>
          <p:nvPr/>
        </p:nvSpPr>
        <p:spPr>
          <a:xfrm>
            <a:off x="628650" y="2276475"/>
            <a:ext cx="285750" cy="285750"/>
          </a:xfrm>
          <a:prstGeom prst="roundRect">
            <a:avLst/>
          </a:prstGeom>
          <a:solidFill>
            <a:srgbClr val="1F9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3" name="Bullet 1"/>
          <p:cNvSpPr txBox="1"/>
          <p:nvPr/>
        </p:nvSpPr>
        <p:spPr>
          <a:xfrm>
            <a:off x="1123950" y="2200275"/>
            <a:ext cx="9906000" cy="5524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1700">
                <a:solidFill>
                  <a:srgbClr val="5B6472"/>
                </a:solidFill>
                <a:latin typeface="Aptos"/>
                <a:cs typeface="Aptos"/>
              </a:rPr>
              <a:t>Task types include Technical, QS, Shop Drawings, BIM, and Variation.</a:t>
            </a:r>
            <a:endParaRPr lang="en-US" sz="1700"/>
          </a:p>
        </p:txBody>
      </p:sp>
      <p:sp>
        <p:nvSpPr>
          <p:cNvPr id="14" name="Bullet mark 2"/>
          <p:cNvSpPr/>
          <p:nvPr/>
        </p:nvSpPr>
        <p:spPr>
          <a:xfrm>
            <a:off x="628650" y="3095625"/>
            <a:ext cx="285750" cy="285750"/>
          </a:xfrm>
          <a:prstGeom prst="roundRect">
            <a:avLst/>
          </a:prstGeom>
          <a:solidFill>
            <a:srgbClr val="11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" name="Bullet 2"/>
          <p:cNvSpPr txBox="1"/>
          <p:nvPr/>
        </p:nvSpPr>
        <p:spPr>
          <a:xfrm>
            <a:off x="1123950" y="3019425"/>
            <a:ext cx="9906000" cy="5524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1700">
                <a:solidFill>
                  <a:srgbClr val="5B6472"/>
                </a:solidFill>
                <a:latin typeface="Aptos"/>
                <a:cs typeface="Aptos"/>
              </a:rPr>
              <a:t>Priority values are Low, Medium, High, and Urgent.</a:t>
            </a:r>
            <a:endParaRPr lang="en-US" sz="1700"/>
          </a:p>
        </p:txBody>
      </p:sp>
      <p:sp>
        <p:nvSpPr>
          <p:cNvPr id="16" name="Bullet mark 3"/>
          <p:cNvSpPr/>
          <p:nvPr/>
        </p:nvSpPr>
        <p:spPr>
          <a:xfrm>
            <a:off x="628650" y="3914775"/>
            <a:ext cx="285750" cy="285750"/>
          </a:xfrm>
          <a:prstGeom prst="roundRect">
            <a:avLst/>
          </a:prstGeom>
          <a:solidFill>
            <a:srgbClr val="1F9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7" name="Bullet 3"/>
          <p:cNvSpPr txBox="1"/>
          <p:nvPr/>
        </p:nvSpPr>
        <p:spPr>
          <a:xfrm>
            <a:off x="1123950" y="3838575"/>
            <a:ext cx="9906000" cy="5524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1700">
                <a:solidFill>
                  <a:srgbClr val="5B6472"/>
                </a:solidFill>
                <a:latin typeface="Aptos"/>
                <a:cs typeface="Aptos"/>
              </a:rPr>
              <a:t>Complexity is a 1 to 5 manager-selected workload score used later in productivity and achievement calculations.</a:t>
            </a:r>
            <a:endParaRPr lang="en-US" sz="17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457200" y="400050"/>
            <a:ext cx="1524000" cy="76200"/>
          </a:xfrm>
          <a:prstGeom prst="rect">
            <a:avLst/>
          </a:prstGeom>
          <a:solidFill>
            <a:srgbClr val="1178B8"/>
          </a:solidFill>
          <a:ln w="12700">
            <a:solidFill>
              <a:srgbClr val="117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Title"/>
          <p:cNvSpPr txBox="1"/>
          <p:nvPr/>
        </p:nvSpPr>
        <p:spPr>
          <a:xfrm>
            <a:off x="457200" y="628650"/>
            <a:ext cx="9144000" cy="5524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3400" b="1">
                <a:solidFill>
                  <a:srgbClr val="111827"/>
                </a:solidFill>
                <a:latin typeface="Aptos"/>
                <a:cs typeface="Aptos"/>
              </a:rPr>
              <a:t>Priority sorting</a:t>
            </a:r>
            <a:endParaRPr lang="en-US" sz="3400"/>
          </a:p>
        </p:txBody>
      </p:sp>
      <p:sp>
        <p:nvSpPr>
          <p:cNvPr id="4" name="Footer"/>
          <p:cNvSpPr txBox="1"/>
          <p:nvPr/>
        </p:nvSpPr>
        <p:spPr>
          <a:xfrm>
            <a:off x="457200" y="6419850"/>
            <a:ext cx="66675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1100">
                <a:solidFill>
                  <a:srgbClr val="5B6472"/>
                </a:solidFill>
                <a:latin typeface="Aptos"/>
                <a:cs typeface="Aptos"/>
              </a:rPr>
              <a:t>MAB Task Allocator user manual</a:t>
            </a:r>
            <a:endParaRPr lang="en-US" sz="1100"/>
          </a:p>
        </p:txBody>
      </p:sp>
      <p:sp>
        <p:nvSpPr>
          <p:cNvPr id="5" name="Page"/>
          <p:cNvSpPr txBox="1"/>
          <p:nvPr/>
        </p:nvSpPr>
        <p:spPr>
          <a:xfrm>
            <a:off x="10801350" y="6419850"/>
            <a:ext cx="85725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1100">
                <a:solidFill>
                  <a:srgbClr val="5B6472"/>
                </a:solidFill>
                <a:latin typeface="Aptos"/>
                <a:cs typeface="Aptos"/>
              </a:rPr>
              <a:t>13</a:t>
            </a:r>
            <a:endParaRPr lang="en-US" sz="1100"/>
          </a:p>
        </p:txBody>
      </p:sp>
      <p:sp>
        <p:nvSpPr>
          <p:cNvPr id="10" name="Bullet mark 0"/>
          <p:cNvSpPr/>
          <p:nvPr/>
        </p:nvSpPr>
        <p:spPr>
          <a:xfrm>
            <a:off x="628650" y="1457325"/>
            <a:ext cx="285750" cy="285750"/>
          </a:xfrm>
          <a:prstGeom prst="roundRect">
            <a:avLst/>
          </a:prstGeom>
          <a:solidFill>
            <a:srgbClr val="11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Bullet 0"/>
          <p:cNvSpPr txBox="1"/>
          <p:nvPr/>
        </p:nvSpPr>
        <p:spPr>
          <a:xfrm>
            <a:off x="1123950" y="1381125"/>
            <a:ext cx="9906000" cy="5524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1700">
                <a:solidFill>
                  <a:srgbClr val="5B6472"/>
                </a:solidFill>
                <a:latin typeface="Aptos"/>
                <a:cs typeface="Aptos"/>
              </a:rPr>
              <a:t>Urgent and High tasks are shown before Medium and Low tasks.</a:t>
            </a:r>
            <a:endParaRPr lang="en-US" sz="1700"/>
          </a:p>
        </p:txBody>
      </p:sp>
      <p:sp>
        <p:nvSpPr>
          <p:cNvPr id="12" name="Bullet mark 1"/>
          <p:cNvSpPr/>
          <p:nvPr/>
        </p:nvSpPr>
        <p:spPr>
          <a:xfrm>
            <a:off x="628650" y="2276475"/>
            <a:ext cx="285750" cy="285750"/>
          </a:xfrm>
          <a:prstGeom prst="roundRect">
            <a:avLst/>
          </a:prstGeom>
          <a:solidFill>
            <a:srgbClr val="1F9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3" name="Bullet 1"/>
          <p:cNvSpPr txBox="1"/>
          <p:nvPr/>
        </p:nvSpPr>
        <p:spPr>
          <a:xfrm>
            <a:off x="1123950" y="2200275"/>
            <a:ext cx="9906000" cy="5524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1700">
                <a:solidFill>
                  <a:srgbClr val="5B6472"/>
                </a:solidFill>
                <a:latin typeface="Aptos"/>
                <a:cs typeface="Aptos"/>
              </a:rPr>
              <a:t>When priorities match, the app sorts by due date so closer deadlines appear first.</a:t>
            </a:r>
            <a:endParaRPr lang="en-US" sz="1700"/>
          </a:p>
        </p:txBody>
      </p:sp>
      <p:sp>
        <p:nvSpPr>
          <p:cNvPr id="14" name="Bullet mark 2"/>
          <p:cNvSpPr/>
          <p:nvPr/>
        </p:nvSpPr>
        <p:spPr>
          <a:xfrm>
            <a:off x="628650" y="3095625"/>
            <a:ext cx="285750" cy="285750"/>
          </a:xfrm>
          <a:prstGeom prst="roundRect">
            <a:avLst/>
          </a:prstGeom>
          <a:solidFill>
            <a:srgbClr val="11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" name="Bullet 2"/>
          <p:cNvSpPr txBox="1"/>
          <p:nvPr/>
        </p:nvSpPr>
        <p:spPr>
          <a:xfrm>
            <a:off x="1123950" y="3019425"/>
            <a:ext cx="9906000" cy="5524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1700">
                <a:solidFill>
                  <a:srgbClr val="5B6472"/>
                </a:solidFill>
                <a:latin typeface="Aptos"/>
                <a:cs typeface="Aptos"/>
              </a:rPr>
              <a:t>Managers should use priority to communicate business urgency, not only task difficulty.</a:t>
            </a:r>
            <a:endParaRPr lang="en-US" sz="1700"/>
          </a:p>
        </p:txBody>
      </p:sp>
      <p:sp>
        <p:nvSpPr>
          <p:cNvPr id="16" name="Bullet mark 3"/>
          <p:cNvSpPr/>
          <p:nvPr/>
        </p:nvSpPr>
        <p:spPr>
          <a:xfrm>
            <a:off x="628650" y="3914775"/>
            <a:ext cx="285750" cy="285750"/>
          </a:xfrm>
          <a:prstGeom prst="roundRect">
            <a:avLst/>
          </a:prstGeom>
          <a:solidFill>
            <a:srgbClr val="1F9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7" name="Bullet 3"/>
          <p:cNvSpPr txBox="1"/>
          <p:nvPr/>
        </p:nvSpPr>
        <p:spPr>
          <a:xfrm>
            <a:off x="1123950" y="3838575"/>
            <a:ext cx="9906000" cy="5524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1700">
                <a:solidFill>
                  <a:srgbClr val="5B6472"/>
                </a:solidFill>
                <a:latin typeface="Aptos"/>
                <a:cs typeface="Aptos"/>
              </a:rPr>
              <a:t>High-priority tasks affect Work Intelligence risk and workforce load signals.</a:t>
            </a:r>
            <a:endParaRPr lang="en-US" sz="17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457200" y="400050"/>
            <a:ext cx="1524000" cy="76200"/>
          </a:xfrm>
          <a:prstGeom prst="rect">
            <a:avLst/>
          </a:prstGeom>
          <a:solidFill>
            <a:srgbClr val="1178B8"/>
          </a:solidFill>
          <a:ln w="12700">
            <a:solidFill>
              <a:srgbClr val="117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Title"/>
          <p:cNvSpPr txBox="1"/>
          <p:nvPr/>
        </p:nvSpPr>
        <p:spPr>
          <a:xfrm>
            <a:off x="457200" y="628650"/>
            <a:ext cx="9144000" cy="5524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3400" b="1">
                <a:solidFill>
                  <a:srgbClr val="111827"/>
                </a:solidFill>
                <a:latin typeface="Aptos"/>
                <a:cs typeface="Aptos"/>
              </a:rPr>
              <a:t>Free tasks</a:t>
            </a:r>
            <a:endParaRPr lang="en-US" sz="3400"/>
          </a:p>
        </p:txBody>
      </p:sp>
      <p:sp>
        <p:nvSpPr>
          <p:cNvPr id="4" name="Footer"/>
          <p:cNvSpPr txBox="1"/>
          <p:nvPr/>
        </p:nvSpPr>
        <p:spPr>
          <a:xfrm>
            <a:off x="457200" y="6419850"/>
            <a:ext cx="66675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1100">
                <a:solidFill>
                  <a:srgbClr val="5B6472"/>
                </a:solidFill>
                <a:latin typeface="Aptos"/>
                <a:cs typeface="Aptos"/>
              </a:rPr>
              <a:t>MAB Task Allocator user manual</a:t>
            </a:r>
            <a:endParaRPr lang="en-US" sz="1100"/>
          </a:p>
        </p:txBody>
      </p:sp>
      <p:sp>
        <p:nvSpPr>
          <p:cNvPr id="5" name="Page"/>
          <p:cNvSpPr txBox="1"/>
          <p:nvPr/>
        </p:nvSpPr>
        <p:spPr>
          <a:xfrm>
            <a:off x="10801350" y="6419850"/>
            <a:ext cx="85725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1100">
                <a:solidFill>
                  <a:srgbClr val="5B6472"/>
                </a:solidFill>
                <a:latin typeface="Aptos"/>
                <a:cs typeface="Aptos"/>
              </a:rPr>
              <a:t>14</a:t>
            </a:r>
            <a:endParaRPr lang="en-US" sz="1100"/>
          </a:p>
        </p:txBody>
      </p:sp>
      <p:sp>
        <p:nvSpPr>
          <p:cNvPr id="10" name="Bullet mark 0"/>
          <p:cNvSpPr/>
          <p:nvPr/>
        </p:nvSpPr>
        <p:spPr>
          <a:xfrm>
            <a:off x="628650" y="1457325"/>
            <a:ext cx="285750" cy="285750"/>
          </a:xfrm>
          <a:prstGeom prst="roundRect">
            <a:avLst/>
          </a:prstGeom>
          <a:solidFill>
            <a:srgbClr val="11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Bullet 0"/>
          <p:cNvSpPr txBox="1"/>
          <p:nvPr/>
        </p:nvSpPr>
        <p:spPr>
          <a:xfrm>
            <a:off x="1123950" y="1381125"/>
            <a:ext cx="9906000" cy="5524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1700">
                <a:solidFill>
                  <a:srgbClr val="5B6472"/>
                </a:solidFill>
                <a:latin typeface="Aptos"/>
                <a:cs typeface="Aptos"/>
              </a:rPr>
              <a:t>A free task is created without assigning a specific normal user.</a:t>
            </a:r>
            <a:endParaRPr lang="en-US" sz="1700"/>
          </a:p>
        </p:txBody>
      </p:sp>
      <p:sp>
        <p:nvSpPr>
          <p:cNvPr id="12" name="Bullet mark 1"/>
          <p:cNvSpPr/>
          <p:nvPr/>
        </p:nvSpPr>
        <p:spPr>
          <a:xfrm>
            <a:off x="628650" y="2276475"/>
            <a:ext cx="285750" cy="285750"/>
          </a:xfrm>
          <a:prstGeom prst="roundRect">
            <a:avLst/>
          </a:prstGeom>
          <a:solidFill>
            <a:srgbClr val="1F9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3" name="Bullet 1"/>
          <p:cNvSpPr txBox="1"/>
          <p:nvPr/>
        </p:nvSpPr>
        <p:spPr>
          <a:xfrm>
            <a:off x="1123950" y="2200275"/>
            <a:ext cx="9906000" cy="5524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1700">
                <a:solidFill>
                  <a:srgbClr val="5B6472"/>
                </a:solidFill>
                <a:latin typeface="Aptos"/>
                <a:cs typeface="Aptos"/>
              </a:rPr>
              <a:t>Normal users can see free tasks in their own department and request to take them.</a:t>
            </a:r>
            <a:endParaRPr lang="en-US" sz="1700"/>
          </a:p>
        </p:txBody>
      </p:sp>
      <p:sp>
        <p:nvSpPr>
          <p:cNvPr id="14" name="Bullet mark 2"/>
          <p:cNvSpPr/>
          <p:nvPr/>
        </p:nvSpPr>
        <p:spPr>
          <a:xfrm>
            <a:off x="628650" y="3095625"/>
            <a:ext cx="285750" cy="285750"/>
          </a:xfrm>
          <a:prstGeom prst="roundRect">
            <a:avLst/>
          </a:prstGeom>
          <a:solidFill>
            <a:srgbClr val="11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" name="Bullet 2"/>
          <p:cNvSpPr txBox="1"/>
          <p:nvPr/>
        </p:nvSpPr>
        <p:spPr>
          <a:xfrm>
            <a:off x="1123950" y="3019425"/>
            <a:ext cx="9906000" cy="5524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1700">
                <a:solidFill>
                  <a:srgbClr val="5B6472"/>
                </a:solidFill>
                <a:latin typeface="Aptos"/>
                <a:cs typeface="Aptos"/>
              </a:rPr>
              <a:t>The claim does not automatically assign the task. Admin or super admin approval is required.</a:t>
            </a:r>
            <a:endParaRPr lang="en-US" sz="1700"/>
          </a:p>
        </p:txBody>
      </p:sp>
      <p:sp>
        <p:nvSpPr>
          <p:cNvPr id="16" name="Bullet mark 3"/>
          <p:cNvSpPr/>
          <p:nvPr/>
        </p:nvSpPr>
        <p:spPr>
          <a:xfrm>
            <a:off x="628650" y="3914775"/>
            <a:ext cx="285750" cy="285750"/>
          </a:xfrm>
          <a:prstGeom prst="roundRect">
            <a:avLst/>
          </a:prstGeom>
          <a:solidFill>
            <a:srgbClr val="1F9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7" name="Bullet 3"/>
          <p:cNvSpPr txBox="1"/>
          <p:nvPr/>
        </p:nvSpPr>
        <p:spPr>
          <a:xfrm>
            <a:off x="1123950" y="3838575"/>
            <a:ext cx="9906000" cy="5524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1700">
                <a:solidFill>
                  <a:srgbClr val="5B6472"/>
                </a:solidFill>
                <a:latin typeface="Aptos"/>
                <a:cs typeface="Aptos"/>
              </a:rPr>
              <a:t>Managers can approve one or more claim requests or decline a claim request.</a:t>
            </a:r>
            <a:endParaRPr lang="en-US" sz="17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457200" y="400050"/>
            <a:ext cx="1524000" cy="76200"/>
          </a:xfrm>
          <a:prstGeom prst="rect">
            <a:avLst/>
          </a:prstGeom>
          <a:solidFill>
            <a:srgbClr val="1178B8"/>
          </a:solidFill>
          <a:ln w="12700">
            <a:solidFill>
              <a:srgbClr val="117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Title"/>
          <p:cNvSpPr txBox="1"/>
          <p:nvPr/>
        </p:nvSpPr>
        <p:spPr>
          <a:xfrm>
            <a:off x="457200" y="628650"/>
            <a:ext cx="9144000" cy="5524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3400" b="1">
                <a:solidFill>
                  <a:srgbClr val="111827"/>
                </a:solidFill>
                <a:latin typeface="Aptos"/>
                <a:cs typeface="Aptos"/>
              </a:rPr>
              <a:t>Normal user task areas</a:t>
            </a:r>
            <a:endParaRPr lang="en-US" sz="3400"/>
          </a:p>
        </p:txBody>
      </p:sp>
      <p:sp>
        <p:nvSpPr>
          <p:cNvPr id="4" name="Footer"/>
          <p:cNvSpPr txBox="1"/>
          <p:nvPr/>
        </p:nvSpPr>
        <p:spPr>
          <a:xfrm>
            <a:off x="457200" y="6419850"/>
            <a:ext cx="66675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1100">
                <a:solidFill>
                  <a:srgbClr val="5B6472"/>
                </a:solidFill>
                <a:latin typeface="Aptos"/>
                <a:cs typeface="Aptos"/>
              </a:rPr>
              <a:t>MAB Task Allocator user manual</a:t>
            </a:r>
            <a:endParaRPr lang="en-US" sz="1100"/>
          </a:p>
        </p:txBody>
      </p:sp>
      <p:sp>
        <p:nvSpPr>
          <p:cNvPr id="5" name="Page"/>
          <p:cNvSpPr txBox="1"/>
          <p:nvPr/>
        </p:nvSpPr>
        <p:spPr>
          <a:xfrm>
            <a:off x="10801350" y="6419850"/>
            <a:ext cx="85725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1100">
                <a:solidFill>
                  <a:srgbClr val="5B6472"/>
                </a:solidFill>
                <a:latin typeface="Aptos"/>
                <a:cs typeface="Aptos"/>
              </a:rPr>
              <a:t>15</a:t>
            </a:r>
            <a:endParaRPr lang="en-US" sz="1100"/>
          </a:p>
        </p:txBody>
      </p:sp>
      <p:sp>
        <p:nvSpPr>
          <p:cNvPr id="10" name="Bullet mark 0"/>
          <p:cNvSpPr/>
          <p:nvPr/>
        </p:nvSpPr>
        <p:spPr>
          <a:xfrm>
            <a:off x="628650" y="1457325"/>
            <a:ext cx="285750" cy="285750"/>
          </a:xfrm>
          <a:prstGeom prst="roundRect">
            <a:avLst/>
          </a:prstGeom>
          <a:solidFill>
            <a:srgbClr val="11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Bullet 0"/>
          <p:cNvSpPr txBox="1"/>
          <p:nvPr/>
        </p:nvSpPr>
        <p:spPr>
          <a:xfrm>
            <a:off x="1123950" y="1381125"/>
            <a:ext cx="9906000" cy="5524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1700">
                <a:solidFill>
                  <a:srgbClr val="5B6472"/>
                </a:solidFill>
                <a:latin typeface="Aptos"/>
                <a:cs typeface="Aptos"/>
              </a:rPr>
              <a:t>Assigned to me: tasks directly allocated to the logged-in user.</a:t>
            </a:r>
            <a:endParaRPr lang="en-US" sz="1700"/>
          </a:p>
        </p:txBody>
      </p:sp>
      <p:sp>
        <p:nvSpPr>
          <p:cNvPr id="12" name="Bullet mark 1"/>
          <p:cNvSpPr/>
          <p:nvPr/>
        </p:nvSpPr>
        <p:spPr>
          <a:xfrm>
            <a:off x="628650" y="2276475"/>
            <a:ext cx="285750" cy="285750"/>
          </a:xfrm>
          <a:prstGeom prst="roundRect">
            <a:avLst/>
          </a:prstGeom>
          <a:solidFill>
            <a:srgbClr val="1F9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3" name="Bullet 1"/>
          <p:cNvSpPr txBox="1"/>
          <p:nvPr/>
        </p:nvSpPr>
        <p:spPr>
          <a:xfrm>
            <a:off x="1123950" y="2200275"/>
            <a:ext cx="9906000" cy="5524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1700">
                <a:solidFill>
                  <a:srgbClr val="5B6472"/>
                </a:solidFill>
                <a:latin typeface="Aptos"/>
                <a:cs typeface="Aptos"/>
              </a:rPr>
              <a:t>Free tasks: unassigned tasks available in the user's department.</a:t>
            </a:r>
            <a:endParaRPr lang="en-US" sz="1700"/>
          </a:p>
        </p:txBody>
      </p:sp>
      <p:sp>
        <p:nvSpPr>
          <p:cNvPr id="14" name="Bullet mark 2"/>
          <p:cNvSpPr/>
          <p:nvPr/>
        </p:nvSpPr>
        <p:spPr>
          <a:xfrm>
            <a:off x="628650" y="3095625"/>
            <a:ext cx="285750" cy="285750"/>
          </a:xfrm>
          <a:prstGeom prst="roundRect">
            <a:avLst/>
          </a:prstGeom>
          <a:solidFill>
            <a:srgbClr val="11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" name="Bullet 2"/>
          <p:cNvSpPr txBox="1"/>
          <p:nvPr/>
        </p:nvSpPr>
        <p:spPr>
          <a:xfrm>
            <a:off x="1123950" y="3019425"/>
            <a:ext cx="9906000" cy="5524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1700">
                <a:solidFill>
                  <a:srgbClr val="5B6472"/>
                </a:solidFill>
                <a:latin typeface="Aptos"/>
                <a:cs typeface="Aptos"/>
              </a:rPr>
              <a:t>Department Tasks: broader department allocation visibility so normal users understand who owns what.</a:t>
            </a:r>
            <a:endParaRPr lang="en-US" sz="1700"/>
          </a:p>
        </p:txBody>
      </p:sp>
      <p:sp>
        <p:nvSpPr>
          <p:cNvPr id="16" name="Bullet mark 3"/>
          <p:cNvSpPr/>
          <p:nvPr/>
        </p:nvSpPr>
        <p:spPr>
          <a:xfrm>
            <a:off x="628650" y="3914775"/>
            <a:ext cx="285750" cy="285750"/>
          </a:xfrm>
          <a:prstGeom prst="roundRect">
            <a:avLst/>
          </a:prstGeom>
          <a:solidFill>
            <a:srgbClr val="1F9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7" name="Bullet 3"/>
          <p:cNvSpPr txBox="1"/>
          <p:nvPr/>
        </p:nvSpPr>
        <p:spPr>
          <a:xfrm>
            <a:off x="1123950" y="3838575"/>
            <a:ext cx="9906000" cy="5524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1700">
                <a:solidFill>
                  <a:srgbClr val="5B6472"/>
                </a:solidFill>
                <a:latin typeface="Aptos"/>
                <a:cs typeface="Aptos"/>
              </a:rPr>
              <a:t>Users can open task details, add comments, attach files, and submit finished work.</a:t>
            </a:r>
            <a:endParaRPr lang="en-US" sz="17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457200" y="400050"/>
            <a:ext cx="1524000" cy="76200"/>
          </a:xfrm>
          <a:prstGeom prst="rect">
            <a:avLst/>
          </a:prstGeom>
          <a:solidFill>
            <a:srgbClr val="1178B8"/>
          </a:solidFill>
          <a:ln w="12700">
            <a:solidFill>
              <a:srgbClr val="117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Title"/>
          <p:cNvSpPr txBox="1"/>
          <p:nvPr/>
        </p:nvSpPr>
        <p:spPr>
          <a:xfrm>
            <a:off x="457200" y="628650"/>
            <a:ext cx="9144000" cy="5524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3400" b="1">
                <a:solidFill>
                  <a:srgbClr val="111827"/>
                </a:solidFill>
                <a:latin typeface="Aptos"/>
                <a:cs typeface="Aptos"/>
              </a:rPr>
              <a:t>Submitting finished work</a:t>
            </a:r>
            <a:endParaRPr lang="en-US" sz="3400"/>
          </a:p>
        </p:txBody>
      </p:sp>
      <p:sp>
        <p:nvSpPr>
          <p:cNvPr id="4" name="Footer"/>
          <p:cNvSpPr txBox="1"/>
          <p:nvPr/>
        </p:nvSpPr>
        <p:spPr>
          <a:xfrm>
            <a:off x="457200" y="6419850"/>
            <a:ext cx="66675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1100">
                <a:solidFill>
                  <a:srgbClr val="5B6472"/>
                </a:solidFill>
                <a:latin typeface="Aptos"/>
                <a:cs typeface="Aptos"/>
              </a:rPr>
              <a:t>MAB Task Allocator user manual</a:t>
            </a:r>
            <a:endParaRPr lang="en-US" sz="1100"/>
          </a:p>
        </p:txBody>
      </p:sp>
      <p:sp>
        <p:nvSpPr>
          <p:cNvPr id="5" name="Page"/>
          <p:cNvSpPr txBox="1"/>
          <p:nvPr/>
        </p:nvSpPr>
        <p:spPr>
          <a:xfrm>
            <a:off x="10801350" y="6419850"/>
            <a:ext cx="85725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1100">
                <a:solidFill>
                  <a:srgbClr val="5B6472"/>
                </a:solidFill>
                <a:latin typeface="Aptos"/>
                <a:cs typeface="Aptos"/>
              </a:rPr>
              <a:t>16</a:t>
            </a:r>
            <a:endParaRPr lang="en-US" sz="1100"/>
          </a:p>
        </p:txBody>
      </p:sp>
      <p:sp>
        <p:nvSpPr>
          <p:cNvPr id="10" name="Bullet mark 0"/>
          <p:cNvSpPr/>
          <p:nvPr/>
        </p:nvSpPr>
        <p:spPr>
          <a:xfrm>
            <a:off x="628650" y="1457325"/>
            <a:ext cx="285750" cy="285750"/>
          </a:xfrm>
          <a:prstGeom prst="roundRect">
            <a:avLst/>
          </a:prstGeom>
          <a:solidFill>
            <a:srgbClr val="11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Bullet 0"/>
          <p:cNvSpPr txBox="1"/>
          <p:nvPr/>
        </p:nvSpPr>
        <p:spPr>
          <a:xfrm>
            <a:off x="1123950" y="1381125"/>
            <a:ext cx="9906000" cy="5524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1700">
                <a:solidFill>
                  <a:srgbClr val="5B6472"/>
                </a:solidFill>
                <a:latin typeface="Aptos"/>
                <a:cs typeface="Aptos"/>
              </a:rPr>
              <a:t>A normal user presses the finish/submit action when work is complete.</a:t>
            </a:r>
            <a:endParaRPr lang="en-US" sz="1700"/>
          </a:p>
        </p:txBody>
      </p:sp>
      <p:sp>
        <p:nvSpPr>
          <p:cNvPr id="12" name="Bullet mark 1"/>
          <p:cNvSpPr/>
          <p:nvPr/>
        </p:nvSpPr>
        <p:spPr>
          <a:xfrm>
            <a:off x="628650" y="2276475"/>
            <a:ext cx="285750" cy="285750"/>
          </a:xfrm>
          <a:prstGeom prst="roundRect">
            <a:avLst/>
          </a:prstGeom>
          <a:solidFill>
            <a:srgbClr val="1F9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3" name="Bullet 1"/>
          <p:cNvSpPr txBox="1"/>
          <p:nvPr/>
        </p:nvSpPr>
        <p:spPr>
          <a:xfrm>
            <a:off x="1123950" y="2200275"/>
            <a:ext cx="9906000" cy="5524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1700">
                <a:solidFill>
                  <a:srgbClr val="5B6472"/>
                </a:solidFill>
                <a:latin typeface="Aptos"/>
                <a:cs typeface="Aptos"/>
              </a:rPr>
              <a:t>If one user is assigned, the task moves to Under Review for manager approval.</a:t>
            </a:r>
            <a:endParaRPr lang="en-US" sz="1700"/>
          </a:p>
        </p:txBody>
      </p:sp>
      <p:sp>
        <p:nvSpPr>
          <p:cNvPr id="14" name="Bullet mark 2"/>
          <p:cNvSpPr/>
          <p:nvPr/>
        </p:nvSpPr>
        <p:spPr>
          <a:xfrm>
            <a:off x="628650" y="3095625"/>
            <a:ext cx="285750" cy="285750"/>
          </a:xfrm>
          <a:prstGeom prst="roundRect">
            <a:avLst/>
          </a:prstGeom>
          <a:solidFill>
            <a:srgbClr val="11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" name="Bullet 2"/>
          <p:cNvSpPr txBox="1"/>
          <p:nvPr/>
        </p:nvSpPr>
        <p:spPr>
          <a:xfrm>
            <a:off x="1123950" y="3019425"/>
            <a:ext cx="9906000" cy="5524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1700">
                <a:solidFill>
                  <a:srgbClr val="5B6472"/>
                </a:solidFill>
                <a:latin typeface="Aptos"/>
                <a:cs typeface="Aptos"/>
              </a:rPr>
              <a:t>If multiple workers are assigned, each worker must submit before admin review begins.</a:t>
            </a:r>
            <a:endParaRPr lang="en-US" sz="1700"/>
          </a:p>
        </p:txBody>
      </p:sp>
      <p:sp>
        <p:nvSpPr>
          <p:cNvPr id="16" name="Bullet mark 3"/>
          <p:cNvSpPr/>
          <p:nvPr/>
        </p:nvSpPr>
        <p:spPr>
          <a:xfrm>
            <a:off x="628650" y="3914775"/>
            <a:ext cx="285750" cy="285750"/>
          </a:xfrm>
          <a:prstGeom prst="roundRect">
            <a:avLst/>
          </a:prstGeom>
          <a:solidFill>
            <a:srgbClr val="1F9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7" name="Bullet 3"/>
          <p:cNvSpPr txBox="1"/>
          <p:nvPr/>
        </p:nvSpPr>
        <p:spPr>
          <a:xfrm>
            <a:off x="1123950" y="3838575"/>
            <a:ext cx="9906000" cy="5524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1700">
                <a:solidFill>
                  <a:srgbClr val="5B6472"/>
                </a:solidFill>
                <a:latin typeface="Aptos"/>
                <a:cs typeface="Aptos"/>
              </a:rPr>
              <a:t>While under review, normal users see that the task is waiting for admin or super admin decision.</a:t>
            </a:r>
            <a:endParaRPr lang="en-US" sz="17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457200" y="400050"/>
            <a:ext cx="1524000" cy="76200"/>
          </a:xfrm>
          <a:prstGeom prst="rect">
            <a:avLst/>
          </a:prstGeom>
          <a:solidFill>
            <a:srgbClr val="1178B8"/>
          </a:solidFill>
          <a:ln w="12700">
            <a:solidFill>
              <a:srgbClr val="117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Title"/>
          <p:cNvSpPr txBox="1"/>
          <p:nvPr/>
        </p:nvSpPr>
        <p:spPr>
          <a:xfrm>
            <a:off x="457200" y="628650"/>
            <a:ext cx="9144000" cy="5524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3400" b="1">
                <a:solidFill>
                  <a:srgbClr val="111827"/>
                </a:solidFill>
                <a:latin typeface="Aptos"/>
                <a:cs typeface="Aptos"/>
              </a:rPr>
              <a:t>Approval and reopening</a:t>
            </a:r>
            <a:endParaRPr lang="en-US" sz="3400"/>
          </a:p>
        </p:txBody>
      </p:sp>
      <p:sp>
        <p:nvSpPr>
          <p:cNvPr id="4" name="Footer"/>
          <p:cNvSpPr txBox="1"/>
          <p:nvPr/>
        </p:nvSpPr>
        <p:spPr>
          <a:xfrm>
            <a:off x="457200" y="6419850"/>
            <a:ext cx="66675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1100">
                <a:solidFill>
                  <a:srgbClr val="5B6472"/>
                </a:solidFill>
                <a:latin typeface="Aptos"/>
                <a:cs typeface="Aptos"/>
              </a:rPr>
              <a:t>MAB Task Allocator user manual</a:t>
            </a:r>
            <a:endParaRPr lang="en-US" sz="1100"/>
          </a:p>
        </p:txBody>
      </p:sp>
      <p:sp>
        <p:nvSpPr>
          <p:cNvPr id="5" name="Page"/>
          <p:cNvSpPr txBox="1"/>
          <p:nvPr/>
        </p:nvSpPr>
        <p:spPr>
          <a:xfrm>
            <a:off x="10801350" y="6419850"/>
            <a:ext cx="85725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1100">
                <a:solidFill>
                  <a:srgbClr val="5B6472"/>
                </a:solidFill>
                <a:latin typeface="Aptos"/>
                <a:cs typeface="Aptos"/>
              </a:rPr>
              <a:t>17</a:t>
            </a:r>
            <a:endParaRPr lang="en-US" sz="1100"/>
          </a:p>
        </p:txBody>
      </p:sp>
      <p:sp>
        <p:nvSpPr>
          <p:cNvPr id="10" name="Bullet mark 0"/>
          <p:cNvSpPr/>
          <p:nvPr/>
        </p:nvSpPr>
        <p:spPr>
          <a:xfrm>
            <a:off x="628650" y="1457325"/>
            <a:ext cx="285750" cy="285750"/>
          </a:xfrm>
          <a:prstGeom prst="roundRect">
            <a:avLst/>
          </a:prstGeom>
          <a:solidFill>
            <a:srgbClr val="11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Bullet 0"/>
          <p:cNvSpPr txBox="1"/>
          <p:nvPr/>
        </p:nvSpPr>
        <p:spPr>
          <a:xfrm>
            <a:off x="1123950" y="1381125"/>
            <a:ext cx="9906000" cy="5524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1700">
                <a:solidFill>
                  <a:srgbClr val="5B6472"/>
                </a:solidFill>
                <a:latin typeface="Aptos"/>
                <a:cs typeface="Aptos"/>
              </a:rPr>
              <a:t>Admin and super admin can approve tasks submitted for review.</a:t>
            </a:r>
            <a:endParaRPr lang="en-US" sz="1700"/>
          </a:p>
        </p:txBody>
      </p:sp>
      <p:sp>
        <p:nvSpPr>
          <p:cNvPr id="12" name="Bullet mark 1"/>
          <p:cNvSpPr/>
          <p:nvPr/>
        </p:nvSpPr>
        <p:spPr>
          <a:xfrm>
            <a:off x="628650" y="2276475"/>
            <a:ext cx="285750" cy="285750"/>
          </a:xfrm>
          <a:prstGeom prst="roundRect">
            <a:avLst/>
          </a:prstGeom>
          <a:solidFill>
            <a:srgbClr val="1F9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3" name="Bullet 1"/>
          <p:cNvSpPr txBox="1"/>
          <p:nvPr/>
        </p:nvSpPr>
        <p:spPr>
          <a:xfrm>
            <a:off x="1123950" y="2200275"/>
            <a:ext cx="9906000" cy="5524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1700">
                <a:solidFill>
                  <a:srgbClr val="5B6472"/>
                </a:solidFill>
                <a:latin typeface="Aptos"/>
                <a:cs typeface="Aptos"/>
              </a:rPr>
              <a:t>Approved tasks become Done and move to the Finished Tasks tab.</a:t>
            </a:r>
            <a:endParaRPr lang="en-US" sz="1700"/>
          </a:p>
        </p:txBody>
      </p:sp>
      <p:sp>
        <p:nvSpPr>
          <p:cNvPr id="14" name="Bullet mark 2"/>
          <p:cNvSpPr/>
          <p:nvPr/>
        </p:nvSpPr>
        <p:spPr>
          <a:xfrm>
            <a:off x="628650" y="3095625"/>
            <a:ext cx="285750" cy="285750"/>
          </a:xfrm>
          <a:prstGeom prst="roundRect">
            <a:avLst/>
          </a:prstGeom>
          <a:solidFill>
            <a:srgbClr val="11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" name="Bullet 2"/>
          <p:cNvSpPr txBox="1"/>
          <p:nvPr/>
        </p:nvSpPr>
        <p:spPr>
          <a:xfrm>
            <a:off x="1123950" y="3019425"/>
            <a:ext cx="9906000" cy="5524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1700">
                <a:solidFill>
                  <a:srgbClr val="5B6472"/>
                </a:solidFill>
                <a:latin typeface="Aptos"/>
                <a:cs typeface="Aptos"/>
              </a:rPr>
              <a:t>If work is not acceptable, the manager reopens the task and writes a specific review comment.</a:t>
            </a:r>
            <a:endParaRPr lang="en-US" sz="1700"/>
          </a:p>
        </p:txBody>
      </p:sp>
      <p:sp>
        <p:nvSpPr>
          <p:cNvPr id="16" name="Bullet mark 3"/>
          <p:cNvSpPr/>
          <p:nvPr/>
        </p:nvSpPr>
        <p:spPr>
          <a:xfrm>
            <a:off x="628650" y="3914775"/>
            <a:ext cx="285750" cy="285750"/>
          </a:xfrm>
          <a:prstGeom prst="roundRect">
            <a:avLst/>
          </a:prstGeom>
          <a:solidFill>
            <a:srgbClr val="1F9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7" name="Bullet 3"/>
          <p:cNvSpPr txBox="1"/>
          <p:nvPr/>
        </p:nvSpPr>
        <p:spPr>
          <a:xfrm>
            <a:off x="1123950" y="3838575"/>
            <a:ext cx="9906000" cy="5524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1700">
                <a:solidFill>
                  <a:srgbClr val="5B6472"/>
                </a:solidFill>
                <a:latin typeface="Aptos"/>
                <a:cs typeface="Aptos"/>
              </a:rPr>
              <a:t>Reopen cycles are stored in task history and affect quality/productivity scoring.</a:t>
            </a:r>
            <a:endParaRPr lang="en-US" sz="17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457200" y="400050"/>
            <a:ext cx="1524000" cy="76200"/>
          </a:xfrm>
          <a:prstGeom prst="rect">
            <a:avLst/>
          </a:prstGeom>
          <a:solidFill>
            <a:srgbClr val="1178B8"/>
          </a:solidFill>
          <a:ln w="12700">
            <a:solidFill>
              <a:srgbClr val="117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Title"/>
          <p:cNvSpPr txBox="1"/>
          <p:nvPr/>
        </p:nvSpPr>
        <p:spPr>
          <a:xfrm>
            <a:off x="457200" y="628650"/>
            <a:ext cx="9144000" cy="5524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3400" b="1">
                <a:solidFill>
                  <a:srgbClr val="111827"/>
                </a:solidFill>
                <a:latin typeface="Aptos"/>
                <a:cs typeface="Aptos"/>
              </a:rPr>
              <a:t>Editing and deleting tasks</a:t>
            </a:r>
            <a:endParaRPr lang="en-US" sz="3400"/>
          </a:p>
        </p:txBody>
      </p:sp>
      <p:sp>
        <p:nvSpPr>
          <p:cNvPr id="4" name="Footer"/>
          <p:cNvSpPr txBox="1"/>
          <p:nvPr/>
        </p:nvSpPr>
        <p:spPr>
          <a:xfrm>
            <a:off x="457200" y="6419850"/>
            <a:ext cx="66675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1100">
                <a:solidFill>
                  <a:srgbClr val="5B6472"/>
                </a:solidFill>
                <a:latin typeface="Aptos"/>
                <a:cs typeface="Aptos"/>
              </a:rPr>
              <a:t>MAB Task Allocator user manual</a:t>
            </a:r>
            <a:endParaRPr lang="en-US" sz="1100"/>
          </a:p>
        </p:txBody>
      </p:sp>
      <p:sp>
        <p:nvSpPr>
          <p:cNvPr id="5" name="Page"/>
          <p:cNvSpPr txBox="1"/>
          <p:nvPr/>
        </p:nvSpPr>
        <p:spPr>
          <a:xfrm>
            <a:off x="10801350" y="6419850"/>
            <a:ext cx="85725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1100">
                <a:solidFill>
                  <a:srgbClr val="5B6472"/>
                </a:solidFill>
                <a:latin typeface="Aptos"/>
                <a:cs typeface="Aptos"/>
              </a:rPr>
              <a:t>18</a:t>
            </a:r>
            <a:endParaRPr lang="en-US" sz="1100"/>
          </a:p>
        </p:txBody>
      </p:sp>
      <p:sp>
        <p:nvSpPr>
          <p:cNvPr id="10" name="Bullet mark 0"/>
          <p:cNvSpPr/>
          <p:nvPr/>
        </p:nvSpPr>
        <p:spPr>
          <a:xfrm>
            <a:off x="628650" y="1457325"/>
            <a:ext cx="285750" cy="285750"/>
          </a:xfrm>
          <a:prstGeom prst="roundRect">
            <a:avLst/>
          </a:prstGeom>
          <a:solidFill>
            <a:srgbClr val="11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Bullet 0"/>
          <p:cNvSpPr txBox="1"/>
          <p:nvPr/>
        </p:nvSpPr>
        <p:spPr>
          <a:xfrm>
            <a:off x="1123950" y="1381125"/>
            <a:ext cx="9906000" cy="5524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1700">
                <a:solidFill>
                  <a:srgbClr val="5B6472"/>
                </a:solidFill>
                <a:latin typeface="Aptos"/>
                <a:cs typeface="Aptos"/>
              </a:rPr>
              <a:t>Super admin can edit and delete tasks across departments.</a:t>
            </a:r>
            <a:endParaRPr lang="en-US" sz="1700"/>
          </a:p>
        </p:txBody>
      </p:sp>
      <p:sp>
        <p:nvSpPr>
          <p:cNvPr id="12" name="Bullet mark 1"/>
          <p:cNvSpPr/>
          <p:nvPr/>
        </p:nvSpPr>
        <p:spPr>
          <a:xfrm>
            <a:off x="628650" y="2276475"/>
            <a:ext cx="285750" cy="285750"/>
          </a:xfrm>
          <a:prstGeom prst="roundRect">
            <a:avLst/>
          </a:prstGeom>
          <a:solidFill>
            <a:srgbClr val="1F9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3" name="Bullet 1"/>
          <p:cNvSpPr txBox="1"/>
          <p:nvPr/>
        </p:nvSpPr>
        <p:spPr>
          <a:xfrm>
            <a:off x="1123950" y="2200275"/>
            <a:ext cx="9906000" cy="5524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1700">
                <a:solidFill>
                  <a:srgbClr val="5B6472"/>
                </a:solidFill>
                <a:latin typeface="Aptos"/>
                <a:cs typeface="Aptos"/>
              </a:rPr>
              <a:t>Admin can edit and delete tasks inside the admin's department.</a:t>
            </a:r>
            <a:endParaRPr lang="en-US" sz="1700"/>
          </a:p>
        </p:txBody>
      </p:sp>
      <p:sp>
        <p:nvSpPr>
          <p:cNvPr id="14" name="Bullet mark 2"/>
          <p:cNvSpPr/>
          <p:nvPr/>
        </p:nvSpPr>
        <p:spPr>
          <a:xfrm>
            <a:off x="628650" y="3095625"/>
            <a:ext cx="285750" cy="285750"/>
          </a:xfrm>
          <a:prstGeom prst="roundRect">
            <a:avLst/>
          </a:prstGeom>
          <a:solidFill>
            <a:srgbClr val="11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" name="Bullet 2"/>
          <p:cNvSpPr txBox="1"/>
          <p:nvPr/>
        </p:nvSpPr>
        <p:spPr>
          <a:xfrm>
            <a:off x="1123950" y="3019425"/>
            <a:ext cx="9906000" cy="5524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1700">
                <a:solidFill>
                  <a:srgbClr val="5B6472"/>
                </a:solidFill>
                <a:latin typeface="Aptos"/>
                <a:cs typeface="Aptos"/>
              </a:rPr>
              <a:t>Completed tasks should usually stay in Finished Tasks as the official record.</a:t>
            </a:r>
            <a:endParaRPr lang="en-US" sz="1700"/>
          </a:p>
        </p:txBody>
      </p:sp>
      <p:sp>
        <p:nvSpPr>
          <p:cNvPr id="16" name="Bullet mark 3"/>
          <p:cNvSpPr/>
          <p:nvPr/>
        </p:nvSpPr>
        <p:spPr>
          <a:xfrm>
            <a:off x="628650" y="3914775"/>
            <a:ext cx="285750" cy="285750"/>
          </a:xfrm>
          <a:prstGeom prst="roundRect">
            <a:avLst/>
          </a:prstGeom>
          <a:solidFill>
            <a:srgbClr val="1F9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7" name="Bullet 3"/>
          <p:cNvSpPr txBox="1"/>
          <p:nvPr/>
        </p:nvSpPr>
        <p:spPr>
          <a:xfrm>
            <a:off x="1123950" y="3838575"/>
            <a:ext cx="9906000" cy="5524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1700">
                <a:solidFill>
                  <a:srgbClr val="5B6472"/>
                </a:solidFill>
                <a:latin typeface="Aptos"/>
                <a:cs typeface="Aptos"/>
              </a:rPr>
              <a:t>If a completed task needs more work, managers should reopen it with a comment instead of deleting the history.</a:t>
            </a:r>
            <a:endParaRPr lang="en-US" sz="17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457200" y="400050"/>
            <a:ext cx="1524000" cy="76200"/>
          </a:xfrm>
          <a:prstGeom prst="rect">
            <a:avLst/>
          </a:prstGeom>
          <a:solidFill>
            <a:srgbClr val="1178B8"/>
          </a:solidFill>
          <a:ln w="12700">
            <a:solidFill>
              <a:srgbClr val="117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Title"/>
          <p:cNvSpPr txBox="1"/>
          <p:nvPr/>
        </p:nvSpPr>
        <p:spPr>
          <a:xfrm>
            <a:off x="457200" y="628650"/>
            <a:ext cx="9144000" cy="5524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3400" b="1">
                <a:solidFill>
                  <a:srgbClr val="111827"/>
                </a:solidFill>
                <a:latin typeface="Aptos"/>
                <a:cs typeface="Aptos"/>
              </a:rPr>
              <a:t>Task files and task chat</a:t>
            </a:r>
            <a:endParaRPr lang="en-US" sz="3400"/>
          </a:p>
        </p:txBody>
      </p:sp>
      <p:sp>
        <p:nvSpPr>
          <p:cNvPr id="4" name="Footer"/>
          <p:cNvSpPr txBox="1"/>
          <p:nvPr/>
        </p:nvSpPr>
        <p:spPr>
          <a:xfrm>
            <a:off x="457200" y="6419850"/>
            <a:ext cx="66675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1100">
                <a:solidFill>
                  <a:srgbClr val="5B6472"/>
                </a:solidFill>
                <a:latin typeface="Aptos"/>
                <a:cs typeface="Aptos"/>
              </a:rPr>
              <a:t>MAB Task Allocator user manual</a:t>
            </a:r>
            <a:endParaRPr lang="en-US" sz="1100"/>
          </a:p>
        </p:txBody>
      </p:sp>
      <p:sp>
        <p:nvSpPr>
          <p:cNvPr id="5" name="Page"/>
          <p:cNvSpPr txBox="1"/>
          <p:nvPr/>
        </p:nvSpPr>
        <p:spPr>
          <a:xfrm>
            <a:off x="10801350" y="6419850"/>
            <a:ext cx="85725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1100">
                <a:solidFill>
                  <a:srgbClr val="5B6472"/>
                </a:solidFill>
                <a:latin typeface="Aptos"/>
                <a:cs typeface="Aptos"/>
              </a:rPr>
              <a:t>19</a:t>
            </a:r>
            <a:endParaRPr lang="en-US" sz="1100"/>
          </a:p>
        </p:txBody>
      </p:sp>
      <p:sp>
        <p:nvSpPr>
          <p:cNvPr id="10" name="Bullet mark 0"/>
          <p:cNvSpPr/>
          <p:nvPr/>
        </p:nvSpPr>
        <p:spPr>
          <a:xfrm>
            <a:off x="628650" y="1457325"/>
            <a:ext cx="285750" cy="285750"/>
          </a:xfrm>
          <a:prstGeom prst="roundRect">
            <a:avLst/>
          </a:prstGeom>
          <a:solidFill>
            <a:srgbClr val="11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Bullet 0"/>
          <p:cNvSpPr txBox="1"/>
          <p:nvPr/>
        </p:nvSpPr>
        <p:spPr>
          <a:xfrm>
            <a:off x="1123950" y="1381125"/>
            <a:ext cx="9906000" cy="5524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1700">
                <a:solidFill>
                  <a:srgbClr val="5B6472"/>
                </a:solidFill>
                <a:latin typeface="Aptos"/>
                <a:cs typeface="Aptos"/>
              </a:rPr>
              <a:t>Users can upload task files for deliverables, references, markups, approvals, or proof of completion.</a:t>
            </a:r>
            <a:endParaRPr lang="en-US" sz="1700"/>
          </a:p>
        </p:txBody>
      </p:sp>
      <p:sp>
        <p:nvSpPr>
          <p:cNvPr id="12" name="Bullet mark 1"/>
          <p:cNvSpPr/>
          <p:nvPr/>
        </p:nvSpPr>
        <p:spPr>
          <a:xfrm>
            <a:off x="628650" y="2276475"/>
            <a:ext cx="285750" cy="285750"/>
          </a:xfrm>
          <a:prstGeom prst="roundRect">
            <a:avLst/>
          </a:prstGeom>
          <a:solidFill>
            <a:srgbClr val="1F9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3" name="Bullet 1"/>
          <p:cNvSpPr txBox="1"/>
          <p:nvPr/>
        </p:nvSpPr>
        <p:spPr>
          <a:xfrm>
            <a:off x="1123950" y="2200275"/>
            <a:ext cx="9906000" cy="5524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1700">
                <a:solidFill>
                  <a:srgbClr val="5B6472"/>
                </a:solidFill>
                <a:latin typeface="Aptos"/>
                <a:cs typeface="Aptos"/>
              </a:rPr>
              <a:t>Each task has a clarification chat so questions and decisions stay attached to the task.</a:t>
            </a:r>
            <a:endParaRPr lang="en-US" sz="1700"/>
          </a:p>
        </p:txBody>
      </p:sp>
      <p:sp>
        <p:nvSpPr>
          <p:cNvPr id="14" name="Bullet mark 2"/>
          <p:cNvSpPr/>
          <p:nvPr/>
        </p:nvSpPr>
        <p:spPr>
          <a:xfrm>
            <a:off x="628650" y="3095625"/>
            <a:ext cx="285750" cy="285750"/>
          </a:xfrm>
          <a:prstGeom prst="roundRect">
            <a:avLst/>
          </a:prstGeom>
          <a:solidFill>
            <a:srgbClr val="11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" name="Bullet 2"/>
          <p:cNvSpPr txBox="1"/>
          <p:nvPr/>
        </p:nvSpPr>
        <p:spPr>
          <a:xfrm>
            <a:off x="1123950" y="3019425"/>
            <a:ext cx="9906000" cy="5524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1700">
                <a:solidFill>
                  <a:srgbClr val="5B6472"/>
                </a:solidFill>
                <a:latin typeface="Aptos"/>
                <a:cs typeface="Aptos"/>
              </a:rPr>
              <a:t>Managers and assigned users can use comments before submission, during review, or after reopening.</a:t>
            </a:r>
            <a:endParaRPr lang="en-US" sz="1700"/>
          </a:p>
        </p:txBody>
      </p:sp>
      <p:sp>
        <p:nvSpPr>
          <p:cNvPr id="16" name="Bullet mark 3"/>
          <p:cNvSpPr/>
          <p:nvPr/>
        </p:nvSpPr>
        <p:spPr>
          <a:xfrm>
            <a:off x="628650" y="3914775"/>
            <a:ext cx="285750" cy="285750"/>
          </a:xfrm>
          <a:prstGeom prst="roundRect">
            <a:avLst/>
          </a:prstGeom>
          <a:solidFill>
            <a:srgbClr val="1F9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7" name="Bullet 3"/>
          <p:cNvSpPr txBox="1"/>
          <p:nvPr/>
        </p:nvSpPr>
        <p:spPr>
          <a:xfrm>
            <a:off x="1123950" y="3838575"/>
            <a:ext cx="9906000" cy="5524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1700">
                <a:solidFill>
                  <a:srgbClr val="5B6472"/>
                </a:solidFill>
                <a:latin typeface="Aptos"/>
                <a:cs typeface="Aptos"/>
              </a:rPr>
              <a:t>The file limit is controlled by the API; the frontend prevents large batches and oversized files before upload.</a:t>
            </a:r>
            <a:endParaRPr lang="en-US" sz="17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533400" y="685800"/>
            <a:ext cx="1714500" cy="95250"/>
          </a:xfrm>
          <a:prstGeom prst="rect">
            <a:avLst/>
          </a:prstGeom>
          <a:solidFill>
            <a:srgbClr val="1178B8"/>
          </a:solidFill>
          <a:ln w="12700">
            <a:solidFill>
              <a:srgbClr val="117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Part"/>
          <p:cNvSpPr txBox="1"/>
          <p:nvPr/>
        </p:nvSpPr>
        <p:spPr>
          <a:xfrm>
            <a:off x="609600" y="1428750"/>
            <a:ext cx="34290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4600" b="1">
                <a:solidFill>
                  <a:srgbClr val="1178B8"/>
                </a:solidFill>
                <a:latin typeface="Aptos"/>
                <a:cs typeface="Aptos"/>
              </a:rPr>
              <a:t>Part 4</a:t>
            </a:r>
            <a:endParaRPr lang="en-US" sz="4600"/>
          </a:p>
        </p:txBody>
      </p:sp>
      <p:sp>
        <p:nvSpPr>
          <p:cNvPr id="4" name="Subtitle"/>
          <p:cNvSpPr txBox="1"/>
          <p:nvPr/>
        </p:nvSpPr>
        <p:spPr>
          <a:xfrm>
            <a:off x="609600" y="2343150"/>
            <a:ext cx="7810500" cy="7239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3800" b="1">
                <a:solidFill>
                  <a:srgbClr val="111827"/>
                </a:solidFill>
                <a:latin typeface="Aptos"/>
                <a:cs typeface="Aptos"/>
              </a:rPr>
              <a:t>Departments, people, and projects</a:t>
            </a:r>
            <a:endParaRPr lang="en-US" sz="3800"/>
          </a:p>
        </p:txBody>
      </p:sp>
      <p:sp>
        <p:nvSpPr>
          <p:cNvPr id="5" name="Body"/>
          <p:cNvSpPr txBox="1"/>
          <p:nvPr/>
        </p:nvSpPr>
        <p:spPr>
          <a:xfrm>
            <a:off x="647700" y="3429000"/>
            <a:ext cx="8191500" cy="9144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2200">
                <a:solidFill>
                  <a:srgbClr val="5B6472"/>
                </a:solidFill>
                <a:latin typeface="Aptos"/>
                <a:cs typeface="Aptos"/>
              </a:rPr>
              <a:t>How the organization structure is managed.</a:t>
            </a:r>
            <a:endParaRPr lang="en-US" sz="2200"/>
          </a:p>
        </p:txBody>
      </p:sp>
      <p:sp>
        <p:nvSpPr>
          <p:cNvPr id="6" name="Page"/>
          <p:cNvSpPr txBox="1"/>
          <p:nvPr/>
        </p:nvSpPr>
        <p:spPr>
          <a:xfrm>
            <a:off x="10763250" y="6419850"/>
            <a:ext cx="85725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1100">
                <a:solidFill>
                  <a:srgbClr val="5B6472"/>
                </a:solidFill>
                <a:latin typeface="Aptos"/>
                <a:cs typeface="Aptos"/>
              </a:rPr>
              <a:t>20</a:t>
            </a:r>
            <a:endParaRPr lang="en-US" sz="1100"/>
          </a:p>
        </p:txBody>
      </p:sp>
      <p:sp>
        <p:nvSpPr>
          <p:cNvPr id="7" name="Side"/>
          <p:cNvSpPr/>
          <p:nvPr/>
        </p:nvSpPr>
        <p:spPr>
          <a:xfrm>
            <a:off x="9334500" y="914400"/>
            <a:ext cx="1619250" cy="447675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B9C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457200" y="400050"/>
            <a:ext cx="1524000" cy="76200"/>
          </a:xfrm>
          <a:prstGeom prst="rect">
            <a:avLst/>
          </a:prstGeom>
          <a:solidFill>
            <a:srgbClr val="1178B8"/>
          </a:solidFill>
          <a:ln w="12700">
            <a:solidFill>
              <a:srgbClr val="117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Title"/>
          <p:cNvSpPr txBox="1"/>
          <p:nvPr/>
        </p:nvSpPr>
        <p:spPr>
          <a:xfrm>
            <a:off x="457200" y="628650"/>
            <a:ext cx="9144000" cy="5524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3400" b="1">
                <a:solidFill>
                  <a:srgbClr val="111827"/>
                </a:solidFill>
                <a:latin typeface="Aptos"/>
                <a:cs typeface="Aptos"/>
              </a:rPr>
              <a:t>Department creation</a:t>
            </a:r>
            <a:endParaRPr lang="en-US" sz="3400"/>
          </a:p>
        </p:txBody>
      </p:sp>
      <p:sp>
        <p:nvSpPr>
          <p:cNvPr id="4" name="Footer"/>
          <p:cNvSpPr txBox="1"/>
          <p:nvPr/>
        </p:nvSpPr>
        <p:spPr>
          <a:xfrm>
            <a:off x="457200" y="6419850"/>
            <a:ext cx="66675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1100">
                <a:solidFill>
                  <a:srgbClr val="5B6472"/>
                </a:solidFill>
                <a:latin typeface="Aptos"/>
                <a:cs typeface="Aptos"/>
              </a:rPr>
              <a:t>MAB Task Allocator user manual</a:t>
            </a:r>
            <a:endParaRPr lang="en-US" sz="1100"/>
          </a:p>
        </p:txBody>
      </p:sp>
      <p:sp>
        <p:nvSpPr>
          <p:cNvPr id="5" name="Page"/>
          <p:cNvSpPr txBox="1"/>
          <p:nvPr/>
        </p:nvSpPr>
        <p:spPr>
          <a:xfrm>
            <a:off x="10801350" y="6419850"/>
            <a:ext cx="85725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1100">
                <a:solidFill>
                  <a:srgbClr val="5B6472"/>
                </a:solidFill>
                <a:latin typeface="Aptos"/>
                <a:cs typeface="Aptos"/>
              </a:rPr>
              <a:t>21</a:t>
            </a:r>
            <a:endParaRPr lang="en-US" sz="1100"/>
          </a:p>
        </p:txBody>
      </p:sp>
      <p:sp>
        <p:nvSpPr>
          <p:cNvPr id="10" name="Bullet mark 0"/>
          <p:cNvSpPr/>
          <p:nvPr/>
        </p:nvSpPr>
        <p:spPr>
          <a:xfrm>
            <a:off x="628650" y="1457325"/>
            <a:ext cx="285750" cy="285750"/>
          </a:xfrm>
          <a:prstGeom prst="roundRect">
            <a:avLst/>
          </a:prstGeom>
          <a:solidFill>
            <a:srgbClr val="11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Bullet 0"/>
          <p:cNvSpPr txBox="1"/>
          <p:nvPr/>
        </p:nvSpPr>
        <p:spPr>
          <a:xfrm>
            <a:off x="1123950" y="1381125"/>
            <a:ext cx="9906000" cy="5524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1700">
                <a:solidFill>
                  <a:srgbClr val="5B6472"/>
                </a:solidFill>
                <a:latin typeface="Aptos"/>
                <a:cs typeface="Aptos"/>
              </a:rPr>
              <a:t>Only super admin can create departments.</a:t>
            </a:r>
            <a:endParaRPr lang="en-US" sz="1700"/>
          </a:p>
        </p:txBody>
      </p:sp>
      <p:sp>
        <p:nvSpPr>
          <p:cNvPr id="12" name="Bullet mark 1"/>
          <p:cNvSpPr/>
          <p:nvPr/>
        </p:nvSpPr>
        <p:spPr>
          <a:xfrm>
            <a:off x="628650" y="2276475"/>
            <a:ext cx="285750" cy="285750"/>
          </a:xfrm>
          <a:prstGeom prst="roundRect">
            <a:avLst/>
          </a:prstGeom>
          <a:solidFill>
            <a:srgbClr val="1F9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3" name="Bullet 1"/>
          <p:cNvSpPr txBox="1"/>
          <p:nvPr/>
        </p:nvSpPr>
        <p:spPr>
          <a:xfrm>
            <a:off x="1123950" y="2200275"/>
            <a:ext cx="9906000" cy="5524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1700">
                <a:solidFill>
                  <a:srgbClr val="5B6472"/>
                </a:solidFill>
                <a:latin typeface="Aptos"/>
                <a:cs typeface="Aptos"/>
              </a:rPr>
              <a:t>Examples: Document Controller, Mechanical Technical Office Engineer, Electrical, QS, BIM, or any company department.</a:t>
            </a:r>
            <a:endParaRPr lang="en-US" sz="1700"/>
          </a:p>
        </p:txBody>
      </p:sp>
      <p:sp>
        <p:nvSpPr>
          <p:cNvPr id="14" name="Bullet mark 2"/>
          <p:cNvSpPr/>
          <p:nvPr/>
        </p:nvSpPr>
        <p:spPr>
          <a:xfrm>
            <a:off x="628650" y="3095625"/>
            <a:ext cx="285750" cy="285750"/>
          </a:xfrm>
          <a:prstGeom prst="roundRect">
            <a:avLst/>
          </a:prstGeom>
          <a:solidFill>
            <a:srgbClr val="11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" name="Bullet 2"/>
          <p:cNvSpPr txBox="1"/>
          <p:nvPr/>
        </p:nvSpPr>
        <p:spPr>
          <a:xfrm>
            <a:off x="1123950" y="3019425"/>
            <a:ext cx="9906000" cy="5524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1700">
                <a:solidFill>
                  <a:srgbClr val="5B6472"/>
                </a:solidFill>
                <a:latin typeface="Aptos"/>
                <a:cs typeface="Aptos"/>
              </a:rPr>
              <a:t>Department names are stored in the database and validated before use.</a:t>
            </a:r>
            <a:endParaRPr lang="en-US" sz="1700"/>
          </a:p>
        </p:txBody>
      </p:sp>
      <p:sp>
        <p:nvSpPr>
          <p:cNvPr id="16" name="Bullet mark 3"/>
          <p:cNvSpPr/>
          <p:nvPr/>
        </p:nvSpPr>
        <p:spPr>
          <a:xfrm>
            <a:off x="628650" y="3914775"/>
            <a:ext cx="285750" cy="285750"/>
          </a:xfrm>
          <a:prstGeom prst="roundRect">
            <a:avLst/>
          </a:prstGeom>
          <a:solidFill>
            <a:srgbClr val="1F9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7" name="Bullet 3"/>
          <p:cNvSpPr txBox="1"/>
          <p:nvPr/>
        </p:nvSpPr>
        <p:spPr>
          <a:xfrm>
            <a:off x="1123950" y="3838575"/>
            <a:ext cx="9906000" cy="5524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1700">
                <a:solidFill>
                  <a:srgbClr val="5B6472"/>
                </a:solidFill>
                <a:latin typeface="Aptos"/>
                <a:cs typeface="Aptos"/>
              </a:rPr>
              <a:t>Duplicate department names are prevented using a case-insensitive check.</a:t>
            </a:r>
            <a:endParaRPr lang="en-US" sz="17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457200" y="400050"/>
            <a:ext cx="1524000" cy="76200"/>
          </a:xfrm>
          <a:prstGeom prst="rect">
            <a:avLst/>
          </a:prstGeom>
          <a:solidFill>
            <a:srgbClr val="1178B8"/>
          </a:solidFill>
          <a:ln w="12700">
            <a:solidFill>
              <a:srgbClr val="117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Title"/>
          <p:cNvSpPr txBox="1"/>
          <p:nvPr/>
        </p:nvSpPr>
        <p:spPr>
          <a:xfrm>
            <a:off x="457200" y="628650"/>
            <a:ext cx="9144000" cy="5524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3400" b="1">
                <a:solidFill>
                  <a:srgbClr val="111827"/>
                </a:solidFill>
                <a:latin typeface="Aptos"/>
                <a:cs typeface="Aptos"/>
              </a:rPr>
              <a:t>People management</a:t>
            </a:r>
            <a:endParaRPr lang="en-US" sz="3400"/>
          </a:p>
        </p:txBody>
      </p:sp>
      <p:sp>
        <p:nvSpPr>
          <p:cNvPr id="4" name="Footer"/>
          <p:cNvSpPr txBox="1"/>
          <p:nvPr/>
        </p:nvSpPr>
        <p:spPr>
          <a:xfrm>
            <a:off x="457200" y="6419850"/>
            <a:ext cx="66675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1100">
                <a:solidFill>
                  <a:srgbClr val="5B6472"/>
                </a:solidFill>
                <a:latin typeface="Aptos"/>
                <a:cs typeface="Aptos"/>
              </a:rPr>
              <a:t>MAB Task Allocator user manual</a:t>
            </a:r>
            <a:endParaRPr lang="en-US" sz="1100"/>
          </a:p>
        </p:txBody>
      </p:sp>
      <p:sp>
        <p:nvSpPr>
          <p:cNvPr id="5" name="Page"/>
          <p:cNvSpPr txBox="1"/>
          <p:nvPr/>
        </p:nvSpPr>
        <p:spPr>
          <a:xfrm>
            <a:off x="10801350" y="6419850"/>
            <a:ext cx="85725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1100">
                <a:solidFill>
                  <a:srgbClr val="5B6472"/>
                </a:solidFill>
                <a:latin typeface="Aptos"/>
                <a:cs typeface="Aptos"/>
              </a:rPr>
              <a:t>22</a:t>
            </a:r>
            <a:endParaRPr lang="en-US" sz="1100"/>
          </a:p>
        </p:txBody>
      </p:sp>
      <p:sp>
        <p:nvSpPr>
          <p:cNvPr id="10" name="Bullet mark 0"/>
          <p:cNvSpPr/>
          <p:nvPr/>
        </p:nvSpPr>
        <p:spPr>
          <a:xfrm>
            <a:off x="628650" y="1457325"/>
            <a:ext cx="285750" cy="285750"/>
          </a:xfrm>
          <a:prstGeom prst="roundRect">
            <a:avLst/>
          </a:prstGeom>
          <a:solidFill>
            <a:srgbClr val="11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Bullet 0"/>
          <p:cNvSpPr txBox="1"/>
          <p:nvPr/>
        </p:nvSpPr>
        <p:spPr>
          <a:xfrm>
            <a:off x="1123950" y="1381125"/>
            <a:ext cx="9906000" cy="5524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1700">
                <a:solidFill>
                  <a:srgbClr val="5B6472"/>
                </a:solidFill>
                <a:latin typeface="Aptos"/>
                <a:cs typeface="Aptos"/>
              </a:rPr>
              <a:t>Super admin can create, edit, and delete users across the organization.</a:t>
            </a:r>
            <a:endParaRPr lang="en-US" sz="1700"/>
          </a:p>
        </p:txBody>
      </p:sp>
      <p:sp>
        <p:nvSpPr>
          <p:cNvPr id="12" name="Bullet mark 1"/>
          <p:cNvSpPr/>
          <p:nvPr/>
        </p:nvSpPr>
        <p:spPr>
          <a:xfrm>
            <a:off x="628650" y="2276475"/>
            <a:ext cx="285750" cy="285750"/>
          </a:xfrm>
          <a:prstGeom prst="roundRect">
            <a:avLst/>
          </a:prstGeom>
          <a:solidFill>
            <a:srgbClr val="1F9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3" name="Bullet 1"/>
          <p:cNvSpPr txBox="1"/>
          <p:nvPr/>
        </p:nvSpPr>
        <p:spPr>
          <a:xfrm>
            <a:off x="1123950" y="2200275"/>
            <a:ext cx="9906000" cy="5524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1700">
                <a:solidFill>
                  <a:srgbClr val="5B6472"/>
                </a:solidFill>
                <a:latin typeface="Aptos"/>
                <a:cs typeface="Aptos"/>
              </a:rPr>
              <a:t>Admin can create and manage normal users only inside the admin's own department.</a:t>
            </a:r>
            <a:endParaRPr lang="en-US" sz="1700"/>
          </a:p>
        </p:txBody>
      </p:sp>
      <p:sp>
        <p:nvSpPr>
          <p:cNvPr id="14" name="Bullet mark 2"/>
          <p:cNvSpPr/>
          <p:nvPr/>
        </p:nvSpPr>
        <p:spPr>
          <a:xfrm>
            <a:off x="628650" y="3095625"/>
            <a:ext cx="285750" cy="285750"/>
          </a:xfrm>
          <a:prstGeom prst="roundRect">
            <a:avLst/>
          </a:prstGeom>
          <a:solidFill>
            <a:srgbClr val="11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" name="Bullet 2"/>
          <p:cNvSpPr txBox="1"/>
          <p:nvPr/>
        </p:nvSpPr>
        <p:spPr>
          <a:xfrm>
            <a:off x="1123950" y="3019425"/>
            <a:ext cx="9906000" cy="5524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1700">
                <a:solidFill>
                  <a:srgbClr val="5B6472"/>
                </a:solidFill>
                <a:latin typeface="Aptos"/>
                <a:cs typeface="Aptos"/>
              </a:rPr>
              <a:t>A user record includes name, username/email, role, department, and optional password reset.</a:t>
            </a:r>
            <a:endParaRPr lang="en-US" sz="1700"/>
          </a:p>
        </p:txBody>
      </p:sp>
      <p:sp>
        <p:nvSpPr>
          <p:cNvPr id="16" name="Bullet mark 3"/>
          <p:cNvSpPr/>
          <p:nvPr/>
        </p:nvSpPr>
        <p:spPr>
          <a:xfrm>
            <a:off x="628650" y="3914775"/>
            <a:ext cx="285750" cy="285750"/>
          </a:xfrm>
          <a:prstGeom prst="roundRect">
            <a:avLst/>
          </a:prstGeom>
          <a:solidFill>
            <a:srgbClr val="1F9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7" name="Bullet 3"/>
          <p:cNvSpPr txBox="1"/>
          <p:nvPr/>
        </p:nvSpPr>
        <p:spPr>
          <a:xfrm>
            <a:off x="1123950" y="3838575"/>
            <a:ext cx="9906000" cy="5524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1700">
                <a:solidFill>
                  <a:srgbClr val="5B6472"/>
                </a:solidFill>
                <a:latin typeface="Aptos"/>
                <a:cs typeface="Aptos"/>
              </a:rPr>
              <a:t>Super admin accounts stay in Executive scope and cannot be casually deleted by another row action.</a:t>
            </a:r>
            <a:endParaRPr lang="en-US" sz="17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457200" y="400050"/>
            <a:ext cx="1524000" cy="76200"/>
          </a:xfrm>
          <a:prstGeom prst="rect">
            <a:avLst/>
          </a:prstGeom>
          <a:solidFill>
            <a:srgbClr val="1178B8"/>
          </a:solidFill>
          <a:ln w="12700">
            <a:solidFill>
              <a:srgbClr val="117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Title"/>
          <p:cNvSpPr txBox="1"/>
          <p:nvPr/>
        </p:nvSpPr>
        <p:spPr>
          <a:xfrm>
            <a:off x="457200" y="628650"/>
            <a:ext cx="9144000" cy="5524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3400" b="1">
                <a:solidFill>
                  <a:srgbClr val="111827"/>
                </a:solidFill>
                <a:latin typeface="Aptos"/>
                <a:cs typeface="Aptos"/>
              </a:rPr>
              <a:t>Projects</a:t>
            </a:r>
            <a:endParaRPr lang="en-US" sz="3400"/>
          </a:p>
        </p:txBody>
      </p:sp>
      <p:sp>
        <p:nvSpPr>
          <p:cNvPr id="4" name="Footer"/>
          <p:cNvSpPr txBox="1"/>
          <p:nvPr/>
        </p:nvSpPr>
        <p:spPr>
          <a:xfrm>
            <a:off x="457200" y="6419850"/>
            <a:ext cx="66675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1100">
                <a:solidFill>
                  <a:srgbClr val="5B6472"/>
                </a:solidFill>
                <a:latin typeface="Aptos"/>
                <a:cs typeface="Aptos"/>
              </a:rPr>
              <a:t>MAB Task Allocator user manual</a:t>
            </a:r>
            <a:endParaRPr lang="en-US" sz="1100"/>
          </a:p>
        </p:txBody>
      </p:sp>
      <p:sp>
        <p:nvSpPr>
          <p:cNvPr id="5" name="Page"/>
          <p:cNvSpPr txBox="1"/>
          <p:nvPr/>
        </p:nvSpPr>
        <p:spPr>
          <a:xfrm>
            <a:off x="10801350" y="6419850"/>
            <a:ext cx="85725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1100">
                <a:solidFill>
                  <a:srgbClr val="5B6472"/>
                </a:solidFill>
                <a:latin typeface="Aptos"/>
                <a:cs typeface="Aptos"/>
              </a:rPr>
              <a:t>23</a:t>
            </a:r>
            <a:endParaRPr lang="en-US" sz="1100"/>
          </a:p>
        </p:txBody>
      </p:sp>
      <p:sp>
        <p:nvSpPr>
          <p:cNvPr id="10" name="Bullet mark 0"/>
          <p:cNvSpPr/>
          <p:nvPr/>
        </p:nvSpPr>
        <p:spPr>
          <a:xfrm>
            <a:off x="628650" y="1457325"/>
            <a:ext cx="285750" cy="285750"/>
          </a:xfrm>
          <a:prstGeom prst="roundRect">
            <a:avLst/>
          </a:prstGeom>
          <a:solidFill>
            <a:srgbClr val="11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Bullet 0"/>
          <p:cNvSpPr txBox="1"/>
          <p:nvPr/>
        </p:nvSpPr>
        <p:spPr>
          <a:xfrm>
            <a:off x="1123950" y="1381125"/>
            <a:ext cx="9906000" cy="5524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1700">
                <a:solidFill>
                  <a:srgbClr val="5B6472"/>
                </a:solidFill>
                <a:latin typeface="Aptos"/>
                <a:cs typeface="Aptos"/>
              </a:rPr>
              <a:t>Projects group tasks under a project name, description, department, and project members.</a:t>
            </a:r>
            <a:endParaRPr lang="en-US" sz="1700"/>
          </a:p>
        </p:txBody>
      </p:sp>
      <p:sp>
        <p:nvSpPr>
          <p:cNvPr id="12" name="Bullet mark 1"/>
          <p:cNvSpPr/>
          <p:nvPr/>
        </p:nvSpPr>
        <p:spPr>
          <a:xfrm>
            <a:off x="628650" y="2276475"/>
            <a:ext cx="285750" cy="285750"/>
          </a:xfrm>
          <a:prstGeom prst="roundRect">
            <a:avLst/>
          </a:prstGeom>
          <a:solidFill>
            <a:srgbClr val="1F9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3" name="Bullet 1"/>
          <p:cNvSpPr txBox="1"/>
          <p:nvPr/>
        </p:nvSpPr>
        <p:spPr>
          <a:xfrm>
            <a:off x="1123950" y="2200275"/>
            <a:ext cx="9906000" cy="5524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1700">
                <a:solidFill>
                  <a:srgbClr val="5B6472"/>
                </a:solidFill>
                <a:latin typeface="Aptos"/>
                <a:cs typeface="Aptos"/>
              </a:rPr>
              <a:t>Managers can create projects and assign normal users as members.</a:t>
            </a:r>
            <a:endParaRPr lang="en-US" sz="1700"/>
          </a:p>
        </p:txBody>
      </p:sp>
      <p:sp>
        <p:nvSpPr>
          <p:cNvPr id="14" name="Bullet mark 2"/>
          <p:cNvSpPr/>
          <p:nvPr/>
        </p:nvSpPr>
        <p:spPr>
          <a:xfrm>
            <a:off x="628650" y="3095625"/>
            <a:ext cx="285750" cy="285750"/>
          </a:xfrm>
          <a:prstGeom prst="roundRect">
            <a:avLst/>
          </a:prstGeom>
          <a:solidFill>
            <a:srgbClr val="11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" name="Bullet 2"/>
          <p:cNvSpPr txBox="1"/>
          <p:nvPr/>
        </p:nvSpPr>
        <p:spPr>
          <a:xfrm>
            <a:off x="1123950" y="3019425"/>
            <a:ext cx="9906000" cy="5524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1700">
                <a:solidFill>
                  <a:srgbClr val="5B6472"/>
                </a:solidFill>
                <a:latin typeface="Aptos"/>
                <a:cs typeface="Aptos"/>
              </a:rPr>
              <a:t>When a task is created under a project, department and assignee options follow the project team.</a:t>
            </a:r>
            <a:endParaRPr lang="en-US" sz="1700"/>
          </a:p>
        </p:txBody>
      </p:sp>
      <p:sp>
        <p:nvSpPr>
          <p:cNvPr id="16" name="Bullet mark 3"/>
          <p:cNvSpPr/>
          <p:nvPr/>
        </p:nvSpPr>
        <p:spPr>
          <a:xfrm>
            <a:off x="628650" y="3914775"/>
            <a:ext cx="285750" cy="285750"/>
          </a:xfrm>
          <a:prstGeom prst="roundRect">
            <a:avLst/>
          </a:prstGeom>
          <a:solidFill>
            <a:srgbClr val="1F9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7" name="Bullet 3"/>
          <p:cNvSpPr txBox="1"/>
          <p:nvPr/>
        </p:nvSpPr>
        <p:spPr>
          <a:xfrm>
            <a:off x="1123950" y="3838575"/>
            <a:ext cx="9906000" cy="5524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1700">
                <a:solidFill>
                  <a:srgbClr val="5B6472"/>
                </a:solidFill>
                <a:latin typeface="Aptos"/>
                <a:cs typeface="Aptos"/>
              </a:rPr>
              <a:t>Projects help separate project work from general department work.</a:t>
            </a:r>
            <a:endParaRPr lang="en-US" sz="17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457200" y="400050"/>
            <a:ext cx="1524000" cy="76200"/>
          </a:xfrm>
          <a:prstGeom prst="rect">
            <a:avLst/>
          </a:prstGeom>
          <a:solidFill>
            <a:srgbClr val="1178B8"/>
          </a:solidFill>
          <a:ln w="12700">
            <a:solidFill>
              <a:srgbClr val="117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Title"/>
          <p:cNvSpPr txBox="1"/>
          <p:nvPr/>
        </p:nvSpPr>
        <p:spPr>
          <a:xfrm>
            <a:off x="457200" y="628650"/>
            <a:ext cx="9144000" cy="5524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3400" b="1">
                <a:solidFill>
                  <a:srgbClr val="111827"/>
                </a:solidFill>
                <a:latin typeface="Aptos"/>
                <a:cs typeface="Aptos"/>
              </a:rPr>
              <a:t>Excel import and export</a:t>
            </a:r>
            <a:endParaRPr lang="en-US" sz="3400"/>
          </a:p>
        </p:txBody>
      </p:sp>
      <p:sp>
        <p:nvSpPr>
          <p:cNvPr id="4" name="Footer"/>
          <p:cNvSpPr txBox="1"/>
          <p:nvPr/>
        </p:nvSpPr>
        <p:spPr>
          <a:xfrm>
            <a:off x="457200" y="6419850"/>
            <a:ext cx="66675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1100">
                <a:solidFill>
                  <a:srgbClr val="5B6472"/>
                </a:solidFill>
                <a:latin typeface="Aptos"/>
                <a:cs typeface="Aptos"/>
              </a:rPr>
              <a:t>MAB Task Allocator user manual</a:t>
            </a:r>
            <a:endParaRPr lang="en-US" sz="1100"/>
          </a:p>
        </p:txBody>
      </p:sp>
      <p:sp>
        <p:nvSpPr>
          <p:cNvPr id="5" name="Page"/>
          <p:cNvSpPr txBox="1"/>
          <p:nvPr/>
        </p:nvSpPr>
        <p:spPr>
          <a:xfrm>
            <a:off x="10801350" y="6419850"/>
            <a:ext cx="85725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1100">
                <a:solidFill>
                  <a:srgbClr val="5B6472"/>
                </a:solidFill>
                <a:latin typeface="Aptos"/>
                <a:cs typeface="Aptos"/>
              </a:rPr>
              <a:t>24</a:t>
            </a:r>
            <a:endParaRPr lang="en-US" sz="1100"/>
          </a:p>
        </p:txBody>
      </p:sp>
      <p:sp>
        <p:nvSpPr>
          <p:cNvPr id="10" name="Bullet mark 0"/>
          <p:cNvSpPr/>
          <p:nvPr/>
        </p:nvSpPr>
        <p:spPr>
          <a:xfrm>
            <a:off x="628650" y="1457325"/>
            <a:ext cx="285750" cy="285750"/>
          </a:xfrm>
          <a:prstGeom prst="roundRect">
            <a:avLst/>
          </a:prstGeom>
          <a:solidFill>
            <a:srgbClr val="11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Bullet 0"/>
          <p:cNvSpPr txBox="1"/>
          <p:nvPr/>
        </p:nvSpPr>
        <p:spPr>
          <a:xfrm>
            <a:off x="1123950" y="1381125"/>
            <a:ext cx="9906000" cy="5524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1700">
                <a:solidFill>
                  <a:srgbClr val="5B6472"/>
                </a:solidFill>
                <a:latin typeface="Aptos"/>
                <a:cs typeface="Aptos"/>
              </a:rPr>
              <a:t>Managers can export a project task sheet template.</a:t>
            </a:r>
            <a:endParaRPr lang="en-US" sz="1700"/>
          </a:p>
        </p:txBody>
      </p:sp>
      <p:sp>
        <p:nvSpPr>
          <p:cNvPr id="12" name="Bullet mark 1"/>
          <p:cNvSpPr/>
          <p:nvPr/>
        </p:nvSpPr>
        <p:spPr>
          <a:xfrm>
            <a:off x="628650" y="2276475"/>
            <a:ext cx="285750" cy="285750"/>
          </a:xfrm>
          <a:prstGeom prst="roundRect">
            <a:avLst/>
          </a:prstGeom>
          <a:solidFill>
            <a:srgbClr val="1F9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3" name="Bullet 1"/>
          <p:cNvSpPr txBox="1"/>
          <p:nvPr/>
        </p:nvSpPr>
        <p:spPr>
          <a:xfrm>
            <a:off x="1123950" y="2200275"/>
            <a:ext cx="9906000" cy="5524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1700">
                <a:solidFill>
                  <a:srgbClr val="5B6472"/>
                </a:solidFill>
                <a:latin typeface="Aptos"/>
                <a:cs typeface="Aptos"/>
              </a:rPr>
              <a:t>The import sheet supports task title, priority, complexity, due date, progress, task type, and assignees by name or username.</a:t>
            </a:r>
            <a:endParaRPr lang="en-US" sz="1700"/>
          </a:p>
        </p:txBody>
      </p:sp>
      <p:sp>
        <p:nvSpPr>
          <p:cNvPr id="14" name="Bullet mark 2"/>
          <p:cNvSpPr/>
          <p:nvPr/>
        </p:nvSpPr>
        <p:spPr>
          <a:xfrm>
            <a:off x="628650" y="3095625"/>
            <a:ext cx="285750" cy="285750"/>
          </a:xfrm>
          <a:prstGeom prst="roundRect">
            <a:avLst/>
          </a:prstGeom>
          <a:solidFill>
            <a:srgbClr val="11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" name="Bullet 2"/>
          <p:cNvSpPr txBox="1"/>
          <p:nvPr/>
        </p:nvSpPr>
        <p:spPr>
          <a:xfrm>
            <a:off x="1123950" y="3019425"/>
            <a:ext cx="9906000" cy="5524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1700">
                <a:solidFill>
                  <a:srgbClr val="5B6472"/>
                </a:solidFill>
                <a:latin typeface="Aptos"/>
                <a:cs typeface="Aptos"/>
              </a:rPr>
              <a:t>Imported tasks notify assigned users automatically.</a:t>
            </a:r>
            <a:endParaRPr lang="en-US" sz="1700"/>
          </a:p>
        </p:txBody>
      </p:sp>
      <p:sp>
        <p:nvSpPr>
          <p:cNvPr id="16" name="Bullet mark 3"/>
          <p:cNvSpPr/>
          <p:nvPr/>
        </p:nvSpPr>
        <p:spPr>
          <a:xfrm>
            <a:off x="628650" y="3914775"/>
            <a:ext cx="285750" cy="285750"/>
          </a:xfrm>
          <a:prstGeom prst="roundRect">
            <a:avLst/>
          </a:prstGeom>
          <a:solidFill>
            <a:srgbClr val="1F9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7" name="Bullet 3"/>
          <p:cNvSpPr txBox="1"/>
          <p:nvPr/>
        </p:nvSpPr>
        <p:spPr>
          <a:xfrm>
            <a:off x="1123950" y="3838575"/>
            <a:ext cx="9906000" cy="5524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1700">
                <a:solidFill>
                  <a:srgbClr val="5B6472"/>
                </a:solidFill>
                <a:latin typeface="Aptos"/>
                <a:cs typeface="Aptos"/>
              </a:rPr>
              <a:t>Productivity reports can be downloaded as Excel files for selected normal users.</a:t>
            </a:r>
            <a:endParaRPr lang="en-US" sz="17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533400" y="685800"/>
            <a:ext cx="1714500" cy="95250"/>
          </a:xfrm>
          <a:prstGeom prst="rect">
            <a:avLst/>
          </a:prstGeom>
          <a:solidFill>
            <a:srgbClr val="1178B8"/>
          </a:solidFill>
          <a:ln w="12700">
            <a:solidFill>
              <a:srgbClr val="117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Part"/>
          <p:cNvSpPr txBox="1"/>
          <p:nvPr/>
        </p:nvSpPr>
        <p:spPr>
          <a:xfrm>
            <a:off x="609600" y="1428750"/>
            <a:ext cx="34290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4600" b="1">
                <a:solidFill>
                  <a:srgbClr val="1178B8"/>
                </a:solidFill>
                <a:latin typeface="Aptos"/>
                <a:cs typeface="Aptos"/>
              </a:rPr>
              <a:t>Part 5</a:t>
            </a:r>
            <a:endParaRPr lang="en-US" sz="4600"/>
          </a:p>
        </p:txBody>
      </p:sp>
      <p:sp>
        <p:nvSpPr>
          <p:cNvPr id="4" name="Subtitle"/>
          <p:cNvSpPr txBox="1"/>
          <p:nvPr/>
        </p:nvSpPr>
        <p:spPr>
          <a:xfrm>
            <a:off x="609600" y="2343150"/>
            <a:ext cx="7810500" cy="7239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3800" b="1">
                <a:solidFill>
                  <a:srgbClr val="111827"/>
                </a:solidFill>
                <a:latin typeface="Aptos"/>
                <a:cs typeface="Aptos"/>
              </a:rPr>
              <a:t>Communication and notifications</a:t>
            </a:r>
            <a:endParaRPr lang="en-US" sz="3800"/>
          </a:p>
        </p:txBody>
      </p:sp>
      <p:sp>
        <p:nvSpPr>
          <p:cNvPr id="5" name="Body"/>
          <p:cNvSpPr txBox="1"/>
          <p:nvPr/>
        </p:nvSpPr>
        <p:spPr>
          <a:xfrm>
            <a:off x="647700" y="3429000"/>
            <a:ext cx="8191500" cy="9144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2200">
                <a:solidFill>
                  <a:srgbClr val="5B6472"/>
                </a:solidFill>
                <a:latin typeface="Aptos"/>
                <a:cs typeface="Aptos"/>
              </a:rPr>
              <a:t>How users clarify work and receive updates.</a:t>
            </a:r>
            <a:endParaRPr lang="en-US" sz="2200"/>
          </a:p>
        </p:txBody>
      </p:sp>
      <p:sp>
        <p:nvSpPr>
          <p:cNvPr id="6" name="Page"/>
          <p:cNvSpPr txBox="1"/>
          <p:nvPr/>
        </p:nvSpPr>
        <p:spPr>
          <a:xfrm>
            <a:off x="10763250" y="6419850"/>
            <a:ext cx="85725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1100">
                <a:solidFill>
                  <a:srgbClr val="5B6472"/>
                </a:solidFill>
                <a:latin typeface="Aptos"/>
                <a:cs typeface="Aptos"/>
              </a:rPr>
              <a:t>25</a:t>
            </a:r>
            <a:endParaRPr lang="en-US" sz="1100"/>
          </a:p>
        </p:txBody>
      </p:sp>
      <p:sp>
        <p:nvSpPr>
          <p:cNvPr id="7" name="Side"/>
          <p:cNvSpPr/>
          <p:nvPr/>
        </p:nvSpPr>
        <p:spPr>
          <a:xfrm>
            <a:off x="9334500" y="914400"/>
            <a:ext cx="1619250" cy="447675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B9C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457200" y="400050"/>
            <a:ext cx="1524000" cy="76200"/>
          </a:xfrm>
          <a:prstGeom prst="rect">
            <a:avLst/>
          </a:prstGeom>
          <a:solidFill>
            <a:srgbClr val="1178B8"/>
          </a:solidFill>
          <a:ln w="12700">
            <a:solidFill>
              <a:srgbClr val="117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Title"/>
          <p:cNvSpPr txBox="1"/>
          <p:nvPr/>
        </p:nvSpPr>
        <p:spPr>
          <a:xfrm>
            <a:off x="457200" y="628650"/>
            <a:ext cx="9144000" cy="5524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3400" b="1">
                <a:solidFill>
                  <a:srgbClr val="111827"/>
                </a:solidFill>
                <a:latin typeface="Aptos"/>
                <a:cs typeface="Aptos"/>
              </a:rPr>
              <a:t>Department Chat</a:t>
            </a:r>
            <a:endParaRPr lang="en-US" sz="3400"/>
          </a:p>
        </p:txBody>
      </p:sp>
      <p:sp>
        <p:nvSpPr>
          <p:cNvPr id="4" name="Footer"/>
          <p:cNvSpPr txBox="1"/>
          <p:nvPr/>
        </p:nvSpPr>
        <p:spPr>
          <a:xfrm>
            <a:off x="457200" y="6419850"/>
            <a:ext cx="66675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1100">
                <a:solidFill>
                  <a:srgbClr val="5B6472"/>
                </a:solidFill>
                <a:latin typeface="Aptos"/>
                <a:cs typeface="Aptos"/>
              </a:rPr>
              <a:t>MAB Task Allocator user manual</a:t>
            </a:r>
            <a:endParaRPr lang="en-US" sz="1100"/>
          </a:p>
        </p:txBody>
      </p:sp>
      <p:sp>
        <p:nvSpPr>
          <p:cNvPr id="5" name="Page"/>
          <p:cNvSpPr txBox="1"/>
          <p:nvPr/>
        </p:nvSpPr>
        <p:spPr>
          <a:xfrm>
            <a:off x="10801350" y="6419850"/>
            <a:ext cx="85725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1100">
                <a:solidFill>
                  <a:srgbClr val="5B6472"/>
                </a:solidFill>
                <a:latin typeface="Aptos"/>
                <a:cs typeface="Aptos"/>
              </a:rPr>
              <a:t>26</a:t>
            </a:r>
            <a:endParaRPr lang="en-US" sz="1100"/>
          </a:p>
        </p:txBody>
      </p:sp>
      <p:sp>
        <p:nvSpPr>
          <p:cNvPr id="10" name="Bullet mark 0"/>
          <p:cNvSpPr/>
          <p:nvPr/>
        </p:nvSpPr>
        <p:spPr>
          <a:xfrm>
            <a:off x="628650" y="1457325"/>
            <a:ext cx="285750" cy="285750"/>
          </a:xfrm>
          <a:prstGeom prst="roundRect">
            <a:avLst/>
          </a:prstGeom>
          <a:solidFill>
            <a:srgbClr val="11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Bullet 0"/>
          <p:cNvSpPr txBox="1"/>
          <p:nvPr/>
        </p:nvSpPr>
        <p:spPr>
          <a:xfrm>
            <a:off x="1123950" y="1381125"/>
            <a:ext cx="9906000" cy="5524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1700">
                <a:solidFill>
                  <a:srgbClr val="5B6472"/>
                </a:solidFill>
                <a:latin typeface="Aptos"/>
                <a:cs typeface="Aptos"/>
              </a:rPr>
              <a:t>Department chat is available from the floating Messages button and the sidebar/chat area.</a:t>
            </a:r>
            <a:endParaRPr lang="en-US" sz="1700"/>
          </a:p>
        </p:txBody>
      </p:sp>
      <p:sp>
        <p:nvSpPr>
          <p:cNvPr id="12" name="Bullet mark 1"/>
          <p:cNvSpPr/>
          <p:nvPr/>
        </p:nvSpPr>
        <p:spPr>
          <a:xfrm>
            <a:off x="628650" y="2276475"/>
            <a:ext cx="285750" cy="285750"/>
          </a:xfrm>
          <a:prstGeom prst="roundRect">
            <a:avLst/>
          </a:prstGeom>
          <a:solidFill>
            <a:srgbClr val="1F9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3" name="Bullet 1"/>
          <p:cNvSpPr txBox="1"/>
          <p:nvPr/>
        </p:nvSpPr>
        <p:spPr>
          <a:xfrm>
            <a:off x="1123950" y="2200275"/>
            <a:ext cx="9906000" cy="5524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1700">
                <a:solidFill>
                  <a:srgbClr val="5B6472"/>
                </a:solidFill>
                <a:latin typeface="Aptos"/>
                <a:cs typeface="Aptos"/>
              </a:rPr>
              <a:t>Channels include default department conversations, group chats, and direct messages.</a:t>
            </a:r>
            <a:endParaRPr lang="en-US" sz="1700"/>
          </a:p>
        </p:txBody>
      </p:sp>
      <p:sp>
        <p:nvSpPr>
          <p:cNvPr id="14" name="Bullet mark 2"/>
          <p:cNvSpPr/>
          <p:nvPr/>
        </p:nvSpPr>
        <p:spPr>
          <a:xfrm>
            <a:off x="628650" y="3095625"/>
            <a:ext cx="285750" cy="285750"/>
          </a:xfrm>
          <a:prstGeom prst="roundRect">
            <a:avLst/>
          </a:prstGeom>
          <a:solidFill>
            <a:srgbClr val="11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" name="Bullet 2"/>
          <p:cNvSpPr txBox="1"/>
          <p:nvPr/>
        </p:nvSpPr>
        <p:spPr>
          <a:xfrm>
            <a:off x="1123950" y="3019425"/>
            <a:ext cx="9906000" cy="5524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1700">
                <a:solidFill>
                  <a:srgbClr val="5B6472"/>
                </a:solidFill>
                <a:latin typeface="Aptos"/>
                <a:cs typeface="Aptos"/>
              </a:rPr>
              <a:t>Users can send messages, reply to a message, edit their own messages, delete messages, attach files, and mention team members.</a:t>
            </a:r>
            <a:endParaRPr lang="en-US" sz="1700"/>
          </a:p>
        </p:txBody>
      </p:sp>
      <p:sp>
        <p:nvSpPr>
          <p:cNvPr id="16" name="Bullet mark 3"/>
          <p:cNvSpPr/>
          <p:nvPr/>
        </p:nvSpPr>
        <p:spPr>
          <a:xfrm>
            <a:off x="628650" y="3914775"/>
            <a:ext cx="285750" cy="285750"/>
          </a:xfrm>
          <a:prstGeom prst="roundRect">
            <a:avLst/>
          </a:prstGeom>
          <a:solidFill>
            <a:srgbClr val="1F9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7" name="Bullet 3"/>
          <p:cNvSpPr txBox="1"/>
          <p:nvPr/>
        </p:nvSpPr>
        <p:spPr>
          <a:xfrm>
            <a:off x="1123950" y="3838575"/>
            <a:ext cx="9906000" cy="5524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1700">
                <a:solidFill>
                  <a:srgbClr val="5B6472"/>
                </a:solidFill>
                <a:latin typeface="Aptos"/>
                <a:cs typeface="Aptos"/>
              </a:rPr>
              <a:t>Unread counts appear on channels and the launcher so users know where attention is needed.</a:t>
            </a:r>
            <a:endParaRPr lang="en-US" sz="17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457200" y="400050"/>
            <a:ext cx="1524000" cy="76200"/>
          </a:xfrm>
          <a:prstGeom prst="rect">
            <a:avLst/>
          </a:prstGeom>
          <a:solidFill>
            <a:srgbClr val="1178B8"/>
          </a:solidFill>
          <a:ln w="12700">
            <a:solidFill>
              <a:srgbClr val="117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Title"/>
          <p:cNvSpPr txBox="1"/>
          <p:nvPr/>
        </p:nvSpPr>
        <p:spPr>
          <a:xfrm>
            <a:off x="457200" y="628650"/>
            <a:ext cx="9144000" cy="5524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3400" b="1">
                <a:solidFill>
                  <a:srgbClr val="111827"/>
                </a:solidFill>
                <a:latin typeface="Aptos"/>
                <a:cs typeface="Aptos"/>
              </a:rPr>
              <a:t>Group chat controls</a:t>
            </a:r>
            <a:endParaRPr lang="en-US" sz="3400"/>
          </a:p>
        </p:txBody>
      </p:sp>
      <p:sp>
        <p:nvSpPr>
          <p:cNvPr id="4" name="Footer"/>
          <p:cNvSpPr txBox="1"/>
          <p:nvPr/>
        </p:nvSpPr>
        <p:spPr>
          <a:xfrm>
            <a:off x="457200" y="6419850"/>
            <a:ext cx="66675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1100">
                <a:solidFill>
                  <a:srgbClr val="5B6472"/>
                </a:solidFill>
                <a:latin typeface="Aptos"/>
                <a:cs typeface="Aptos"/>
              </a:rPr>
              <a:t>MAB Task Allocator user manual</a:t>
            </a:r>
            <a:endParaRPr lang="en-US" sz="1100"/>
          </a:p>
        </p:txBody>
      </p:sp>
      <p:sp>
        <p:nvSpPr>
          <p:cNvPr id="5" name="Page"/>
          <p:cNvSpPr txBox="1"/>
          <p:nvPr/>
        </p:nvSpPr>
        <p:spPr>
          <a:xfrm>
            <a:off x="10801350" y="6419850"/>
            <a:ext cx="85725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1100">
                <a:solidFill>
                  <a:srgbClr val="5B6472"/>
                </a:solidFill>
                <a:latin typeface="Aptos"/>
                <a:cs typeface="Aptos"/>
              </a:rPr>
              <a:t>27</a:t>
            </a:r>
            <a:endParaRPr lang="en-US" sz="1100"/>
          </a:p>
        </p:txBody>
      </p:sp>
      <p:sp>
        <p:nvSpPr>
          <p:cNvPr id="10" name="Bullet mark 0"/>
          <p:cNvSpPr/>
          <p:nvPr/>
        </p:nvSpPr>
        <p:spPr>
          <a:xfrm>
            <a:off x="628650" y="1457325"/>
            <a:ext cx="285750" cy="285750"/>
          </a:xfrm>
          <a:prstGeom prst="roundRect">
            <a:avLst/>
          </a:prstGeom>
          <a:solidFill>
            <a:srgbClr val="11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Bullet 0"/>
          <p:cNvSpPr txBox="1"/>
          <p:nvPr/>
        </p:nvSpPr>
        <p:spPr>
          <a:xfrm>
            <a:off x="1123950" y="1381125"/>
            <a:ext cx="9906000" cy="5524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1700">
                <a:solidFill>
                  <a:srgbClr val="5B6472"/>
                </a:solidFill>
                <a:latin typeface="Aptos"/>
                <a:cs typeface="Aptos"/>
              </a:rPr>
              <a:t>Managers can create group chats for department coordination.</a:t>
            </a:r>
            <a:endParaRPr lang="en-US" sz="1700"/>
          </a:p>
        </p:txBody>
      </p:sp>
      <p:sp>
        <p:nvSpPr>
          <p:cNvPr id="12" name="Bullet mark 1"/>
          <p:cNvSpPr/>
          <p:nvPr/>
        </p:nvSpPr>
        <p:spPr>
          <a:xfrm>
            <a:off x="628650" y="2276475"/>
            <a:ext cx="285750" cy="285750"/>
          </a:xfrm>
          <a:prstGeom prst="roundRect">
            <a:avLst/>
          </a:prstGeom>
          <a:solidFill>
            <a:srgbClr val="1F9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3" name="Bullet 1"/>
          <p:cNvSpPr txBox="1"/>
          <p:nvPr/>
        </p:nvSpPr>
        <p:spPr>
          <a:xfrm>
            <a:off x="1123950" y="2200275"/>
            <a:ext cx="9906000" cy="5524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1700">
                <a:solidFill>
                  <a:srgbClr val="5B6472"/>
                </a:solidFill>
                <a:latin typeface="Aptos"/>
                <a:cs typeface="Aptos"/>
              </a:rPr>
              <a:t>Super admin can create groups for any department and edit group names.</a:t>
            </a:r>
            <a:endParaRPr lang="en-US" sz="1700"/>
          </a:p>
        </p:txBody>
      </p:sp>
      <p:sp>
        <p:nvSpPr>
          <p:cNvPr id="14" name="Bullet mark 2"/>
          <p:cNvSpPr/>
          <p:nvPr/>
        </p:nvSpPr>
        <p:spPr>
          <a:xfrm>
            <a:off x="628650" y="3095625"/>
            <a:ext cx="285750" cy="285750"/>
          </a:xfrm>
          <a:prstGeom prst="roundRect">
            <a:avLst/>
          </a:prstGeom>
          <a:solidFill>
            <a:srgbClr val="11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" name="Bullet 2"/>
          <p:cNvSpPr txBox="1"/>
          <p:nvPr/>
        </p:nvSpPr>
        <p:spPr>
          <a:xfrm>
            <a:off x="1123950" y="3019425"/>
            <a:ext cx="9906000" cy="5524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1700">
                <a:solidFill>
                  <a:srgbClr val="5B6472"/>
                </a:solidFill>
                <a:latin typeface="Aptos"/>
                <a:cs typeface="Aptos"/>
              </a:rPr>
              <a:t>Admins can manage group chats in their own department.</a:t>
            </a:r>
            <a:endParaRPr lang="en-US" sz="1700"/>
          </a:p>
        </p:txBody>
      </p:sp>
      <p:sp>
        <p:nvSpPr>
          <p:cNvPr id="16" name="Bullet mark 3"/>
          <p:cNvSpPr/>
          <p:nvPr/>
        </p:nvSpPr>
        <p:spPr>
          <a:xfrm>
            <a:off x="628650" y="3914775"/>
            <a:ext cx="285750" cy="285750"/>
          </a:xfrm>
          <a:prstGeom prst="roundRect">
            <a:avLst/>
          </a:prstGeom>
          <a:solidFill>
            <a:srgbClr val="1F9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7" name="Bullet 3"/>
          <p:cNvSpPr txBox="1"/>
          <p:nvPr/>
        </p:nvSpPr>
        <p:spPr>
          <a:xfrm>
            <a:off x="1123950" y="3838575"/>
            <a:ext cx="9906000" cy="5524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1700">
                <a:solidFill>
                  <a:srgbClr val="5B6472"/>
                </a:solidFill>
                <a:latin typeface="Aptos"/>
                <a:cs typeface="Aptos"/>
              </a:rPr>
              <a:t>Deleting a group removes the channel and its stored messages/files for that channel.</a:t>
            </a:r>
            <a:endParaRPr lang="en-US" sz="17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457200" y="400050"/>
            <a:ext cx="1524000" cy="76200"/>
          </a:xfrm>
          <a:prstGeom prst="rect">
            <a:avLst/>
          </a:prstGeom>
          <a:solidFill>
            <a:srgbClr val="1178B8"/>
          </a:solidFill>
          <a:ln w="12700">
            <a:solidFill>
              <a:srgbClr val="117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Title"/>
          <p:cNvSpPr txBox="1"/>
          <p:nvPr/>
        </p:nvSpPr>
        <p:spPr>
          <a:xfrm>
            <a:off x="457200" y="628650"/>
            <a:ext cx="9144000" cy="5524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3400" b="1">
                <a:solidFill>
                  <a:srgbClr val="111827"/>
                </a:solidFill>
                <a:latin typeface="Aptos"/>
                <a:cs typeface="Aptos"/>
              </a:rPr>
              <a:t>Task and chat notifications</a:t>
            </a:r>
            <a:endParaRPr lang="en-US" sz="3400"/>
          </a:p>
        </p:txBody>
      </p:sp>
      <p:sp>
        <p:nvSpPr>
          <p:cNvPr id="4" name="Footer"/>
          <p:cNvSpPr txBox="1"/>
          <p:nvPr/>
        </p:nvSpPr>
        <p:spPr>
          <a:xfrm>
            <a:off x="457200" y="6419850"/>
            <a:ext cx="66675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1100">
                <a:solidFill>
                  <a:srgbClr val="5B6472"/>
                </a:solidFill>
                <a:latin typeface="Aptos"/>
                <a:cs typeface="Aptos"/>
              </a:rPr>
              <a:t>MAB Task Allocator user manual</a:t>
            </a:r>
            <a:endParaRPr lang="en-US" sz="1100"/>
          </a:p>
        </p:txBody>
      </p:sp>
      <p:sp>
        <p:nvSpPr>
          <p:cNvPr id="5" name="Page"/>
          <p:cNvSpPr txBox="1"/>
          <p:nvPr/>
        </p:nvSpPr>
        <p:spPr>
          <a:xfrm>
            <a:off x="10801350" y="6419850"/>
            <a:ext cx="85725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1100">
                <a:solidFill>
                  <a:srgbClr val="5B6472"/>
                </a:solidFill>
                <a:latin typeface="Aptos"/>
                <a:cs typeface="Aptos"/>
              </a:rPr>
              <a:t>28</a:t>
            </a:r>
            <a:endParaRPr lang="en-US" sz="1100"/>
          </a:p>
        </p:txBody>
      </p:sp>
      <p:sp>
        <p:nvSpPr>
          <p:cNvPr id="10" name="Bullet mark 0"/>
          <p:cNvSpPr/>
          <p:nvPr/>
        </p:nvSpPr>
        <p:spPr>
          <a:xfrm>
            <a:off x="628650" y="1457325"/>
            <a:ext cx="285750" cy="285750"/>
          </a:xfrm>
          <a:prstGeom prst="roundRect">
            <a:avLst/>
          </a:prstGeom>
          <a:solidFill>
            <a:srgbClr val="11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Bullet 0"/>
          <p:cNvSpPr txBox="1"/>
          <p:nvPr/>
        </p:nvSpPr>
        <p:spPr>
          <a:xfrm>
            <a:off x="1123950" y="1381125"/>
            <a:ext cx="9906000" cy="5524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1700">
                <a:solidFill>
                  <a:srgbClr val="5B6472"/>
                </a:solidFill>
                <a:latin typeface="Aptos"/>
                <a:cs typeface="Aptos"/>
              </a:rPr>
              <a:t>New task allocated: sent to assigned users.</a:t>
            </a:r>
            <a:endParaRPr lang="en-US" sz="1700"/>
          </a:p>
        </p:txBody>
      </p:sp>
      <p:sp>
        <p:nvSpPr>
          <p:cNvPr id="12" name="Bullet mark 1"/>
          <p:cNvSpPr/>
          <p:nvPr/>
        </p:nvSpPr>
        <p:spPr>
          <a:xfrm>
            <a:off x="628650" y="2276475"/>
            <a:ext cx="285750" cy="285750"/>
          </a:xfrm>
          <a:prstGeom prst="roundRect">
            <a:avLst/>
          </a:prstGeom>
          <a:solidFill>
            <a:srgbClr val="1F9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3" name="Bullet 1"/>
          <p:cNvSpPr txBox="1"/>
          <p:nvPr/>
        </p:nvSpPr>
        <p:spPr>
          <a:xfrm>
            <a:off x="1123950" y="2200275"/>
            <a:ext cx="9906000" cy="5524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1700">
                <a:solidFill>
                  <a:srgbClr val="5B6472"/>
                </a:solidFill>
                <a:latin typeface="Aptos"/>
                <a:cs typeface="Aptos"/>
              </a:rPr>
              <a:t>Task claim needs approval: sent to managers when a user requests a free task.</a:t>
            </a:r>
            <a:endParaRPr lang="en-US" sz="1700"/>
          </a:p>
        </p:txBody>
      </p:sp>
      <p:sp>
        <p:nvSpPr>
          <p:cNvPr id="14" name="Bullet mark 2"/>
          <p:cNvSpPr/>
          <p:nvPr/>
        </p:nvSpPr>
        <p:spPr>
          <a:xfrm>
            <a:off x="628650" y="3095625"/>
            <a:ext cx="285750" cy="285750"/>
          </a:xfrm>
          <a:prstGeom prst="roundRect">
            <a:avLst/>
          </a:prstGeom>
          <a:solidFill>
            <a:srgbClr val="11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" name="Bullet 2"/>
          <p:cNvSpPr txBox="1"/>
          <p:nvPr/>
        </p:nvSpPr>
        <p:spPr>
          <a:xfrm>
            <a:off x="1123950" y="3019425"/>
            <a:ext cx="9906000" cy="5524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1700">
                <a:solidFill>
                  <a:srgbClr val="5B6472"/>
                </a:solidFill>
                <a:latin typeface="Aptos"/>
                <a:cs typeface="Aptos"/>
              </a:rPr>
              <a:t>Claim approved or declined: sent back to the requesting user.</a:t>
            </a:r>
            <a:endParaRPr lang="en-US" sz="1700"/>
          </a:p>
        </p:txBody>
      </p:sp>
      <p:sp>
        <p:nvSpPr>
          <p:cNvPr id="16" name="Bullet mark 3"/>
          <p:cNvSpPr/>
          <p:nvPr/>
        </p:nvSpPr>
        <p:spPr>
          <a:xfrm>
            <a:off x="628650" y="3914775"/>
            <a:ext cx="285750" cy="285750"/>
          </a:xfrm>
          <a:prstGeom prst="roundRect">
            <a:avLst/>
          </a:prstGeom>
          <a:solidFill>
            <a:srgbClr val="1F9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7" name="Bullet 3"/>
          <p:cNvSpPr txBox="1"/>
          <p:nvPr/>
        </p:nvSpPr>
        <p:spPr>
          <a:xfrm>
            <a:off x="1123950" y="3838575"/>
            <a:ext cx="9906000" cy="5524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1700">
                <a:solidFill>
                  <a:srgbClr val="5B6472"/>
                </a:solidFill>
                <a:latin typeface="Aptos"/>
                <a:cs typeface="Aptos"/>
              </a:rPr>
              <a:t>Worker approval needed, task ready for admin review, task approved, task reopened, task chat, group chat, mentions, reminders, overdue, and blocked/review reminders.</a:t>
            </a:r>
            <a:endParaRPr lang="en-US" sz="17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457200" y="400050"/>
            <a:ext cx="1524000" cy="76200"/>
          </a:xfrm>
          <a:prstGeom prst="rect">
            <a:avLst/>
          </a:prstGeom>
          <a:solidFill>
            <a:srgbClr val="1178B8"/>
          </a:solidFill>
          <a:ln w="12700">
            <a:solidFill>
              <a:srgbClr val="117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Title"/>
          <p:cNvSpPr txBox="1"/>
          <p:nvPr/>
        </p:nvSpPr>
        <p:spPr>
          <a:xfrm>
            <a:off x="457200" y="628650"/>
            <a:ext cx="9144000" cy="5524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3400" b="1">
                <a:solidFill>
                  <a:srgbClr val="111827"/>
                </a:solidFill>
                <a:latin typeface="Aptos"/>
                <a:cs typeface="Aptos"/>
              </a:rPr>
              <a:t>Notification settings</a:t>
            </a:r>
            <a:endParaRPr lang="en-US" sz="3400"/>
          </a:p>
        </p:txBody>
      </p:sp>
      <p:sp>
        <p:nvSpPr>
          <p:cNvPr id="4" name="Footer"/>
          <p:cNvSpPr txBox="1"/>
          <p:nvPr/>
        </p:nvSpPr>
        <p:spPr>
          <a:xfrm>
            <a:off x="457200" y="6419850"/>
            <a:ext cx="66675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1100">
                <a:solidFill>
                  <a:srgbClr val="5B6472"/>
                </a:solidFill>
                <a:latin typeface="Aptos"/>
                <a:cs typeface="Aptos"/>
              </a:rPr>
              <a:t>MAB Task Allocator user manual</a:t>
            </a:r>
            <a:endParaRPr lang="en-US" sz="1100"/>
          </a:p>
        </p:txBody>
      </p:sp>
      <p:sp>
        <p:nvSpPr>
          <p:cNvPr id="5" name="Page"/>
          <p:cNvSpPr txBox="1"/>
          <p:nvPr/>
        </p:nvSpPr>
        <p:spPr>
          <a:xfrm>
            <a:off x="10801350" y="6419850"/>
            <a:ext cx="85725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1100">
                <a:solidFill>
                  <a:srgbClr val="5B6472"/>
                </a:solidFill>
                <a:latin typeface="Aptos"/>
                <a:cs typeface="Aptos"/>
              </a:rPr>
              <a:t>29</a:t>
            </a:r>
            <a:endParaRPr lang="en-US" sz="1100"/>
          </a:p>
        </p:txBody>
      </p:sp>
      <p:sp>
        <p:nvSpPr>
          <p:cNvPr id="10" name="Bullet mark 0"/>
          <p:cNvSpPr/>
          <p:nvPr/>
        </p:nvSpPr>
        <p:spPr>
          <a:xfrm>
            <a:off x="628650" y="1457325"/>
            <a:ext cx="285750" cy="285750"/>
          </a:xfrm>
          <a:prstGeom prst="roundRect">
            <a:avLst/>
          </a:prstGeom>
          <a:solidFill>
            <a:srgbClr val="11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Bullet 0"/>
          <p:cNvSpPr txBox="1"/>
          <p:nvPr/>
        </p:nvSpPr>
        <p:spPr>
          <a:xfrm>
            <a:off x="1123950" y="1381125"/>
            <a:ext cx="9906000" cy="5524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1700">
                <a:solidFill>
                  <a:srgbClr val="5B6472"/>
                </a:solidFill>
                <a:latin typeface="Aptos"/>
                <a:cs typeface="Aptos"/>
              </a:rPr>
              <a:t>Users can enable laptop/browser desktop notifications.</a:t>
            </a:r>
            <a:endParaRPr lang="en-US" sz="1700"/>
          </a:p>
        </p:txBody>
      </p:sp>
      <p:sp>
        <p:nvSpPr>
          <p:cNvPr id="12" name="Bullet mark 1"/>
          <p:cNvSpPr/>
          <p:nvPr/>
        </p:nvSpPr>
        <p:spPr>
          <a:xfrm>
            <a:off x="628650" y="2276475"/>
            <a:ext cx="285750" cy="285750"/>
          </a:xfrm>
          <a:prstGeom prst="roundRect">
            <a:avLst/>
          </a:prstGeom>
          <a:solidFill>
            <a:srgbClr val="1F9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3" name="Bullet 1"/>
          <p:cNvSpPr txBox="1"/>
          <p:nvPr/>
        </p:nvSpPr>
        <p:spPr>
          <a:xfrm>
            <a:off x="1123950" y="2200275"/>
            <a:ext cx="9906000" cy="5524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1700">
                <a:solidFill>
                  <a:srgbClr val="5B6472"/>
                </a:solidFill>
                <a:latin typeface="Aptos"/>
                <a:cs typeface="Aptos"/>
              </a:rPr>
              <a:t>Users can turn notification sound on or off, adjust volume, and test alerts.</a:t>
            </a:r>
            <a:endParaRPr lang="en-US" sz="1700"/>
          </a:p>
        </p:txBody>
      </p:sp>
      <p:sp>
        <p:nvSpPr>
          <p:cNvPr id="14" name="Bullet mark 2"/>
          <p:cNvSpPr/>
          <p:nvPr/>
        </p:nvSpPr>
        <p:spPr>
          <a:xfrm>
            <a:off x="628650" y="3095625"/>
            <a:ext cx="285750" cy="285750"/>
          </a:xfrm>
          <a:prstGeom prst="roundRect">
            <a:avLst/>
          </a:prstGeom>
          <a:solidFill>
            <a:srgbClr val="11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" name="Bullet 2"/>
          <p:cNvSpPr txBox="1"/>
          <p:nvPr/>
        </p:nvSpPr>
        <p:spPr>
          <a:xfrm>
            <a:off x="1123950" y="3019425"/>
            <a:ext cx="9906000" cy="5524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1700">
                <a:solidFill>
                  <a:srgbClr val="5B6472"/>
                </a:solidFill>
                <a:latin typeface="Aptos"/>
                <a:cs typeface="Aptos"/>
              </a:rPr>
              <a:t>Users can hide message previews on shared laptops.</a:t>
            </a:r>
            <a:endParaRPr lang="en-US" sz="1700"/>
          </a:p>
        </p:txBody>
      </p:sp>
      <p:sp>
        <p:nvSpPr>
          <p:cNvPr id="16" name="Bullet mark 3"/>
          <p:cNvSpPr/>
          <p:nvPr/>
        </p:nvSpPr>
        <p:spPr>
          <a:xfrm>
            <a:off x="628650" y="3914775"/>
            <a:ext cx="285750" cy="285750"/>
          </a:xfrm>
          <a:prstGeom prst="roundRect">
            <a:avLst/>
          </a:prstGeom>
          <a:solidFill>
            <a:srgbClr val="1F9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7" name="Bullet 3"/>
          <p:cNvSpPr txBox="1"/>
          <p:nvPr/>
        </p:nvSpPr>
        <p:spPr>
          <a:xfrm>
            <a:off x="1123950" y="3838575"/>
            <a:ext cx="9906000" cy="5524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1700">
                <a:solidFill>
                  <a:srgbClr val="5B6472"/>
                </a:solidFill>
                <a:latin typeface="Aptos"/>
                <a:cs typeface="Aptos"/>
              </a:rPr>
              <a:t>Users can control background refresh and whether alerts only fire when the tab is hidden.</a:t>
            </a:r>
            <a:endParaRPr lang="en-US" sz="17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533400" y="685800"/>
            <a:ext cx="1714500" cy="95250"/>
          </a:xfrm>
          <a:prstGeom prst="rect">
            <a:avLst/>
          </a:prstGeom>
          <a:solidFill>
            <a:srgbClr val="1178B8"/>
          </a:solidFill>
          <a:ln w="12700">
            <a:solidFill>
              <a:srgbClr val="117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Part"/>
          <p:cNvSpPr txBox="1"/>
          <p:nvPr/>
        </p:nvSpPr>
        <p:spPr>
          <a:xfrm>
            <a:off x="609600" y="1428750"/>
            <a:ext cx="34290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4600" b="1">
                <a:solidFill>
                  <a:srgbClr val="1178B8"/>
                </a:solidFill>
                <a:latin typeface="Aptos"/>
                <a:cs typeface="Aptos"/>
              </a:rPr>
              <a:t>Part 6</a:t>
            </a:r>
            <a:endParaRPr lang="en-US" sz="4600"/>
          </a:p>
        </p:txBody>
      </p:sp>
      <p:sp>
        <p:nvSpPr>
          <p:cNvPr id="4" name="Subtitle"/>
          <p:cNvSpPr txBox="1"/>
          <p:nvPr/>
        </p:nvSpPr>
        <p:spPr>
          <a:xfrm>
            <a:off x="609600" y="2343150"/>
            <a:ext cx="7810500" cy="7239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3800" b="1">
                <a:solidFill>
                  <a:srgbClr val="111827"/>
                </a:solidFill>
                <a:latin typeface="Aptos"/>
                <a:cs typeface="Aptos"/>
              </a:rPr>
              <a:t>AI assistant and Work Intelligence</a:t>
            </a:r>
            <a:endParaRPr lang="en-US" sz="3800"/>
          </a:p>
        </p:txBody>
      </p:sp>
      <p:sp>
        <p:nvSpPr>
          <p:cNvPr id="5" name="Body"/>
          <p:cNvSpPr txBox="1"/>
          <p:nvPr/>
        </p:nvSpPr>
        <p:spPr>
          <a:xfrm>
            <a:off x="647700" y="3429000"/>
            <a:ext cx="8191500" cy="9144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2200">
                <a:solidFill>
                  <a:srgbClr val="5B6472"/>
                </a:solidFill>
                <a:latin typeface="Aptos"/>
                <a:cs typeface="Aptos"/>
              </a:rPr>
              <a:t>Decision support for workload, priorities, and professional communication.</a:t>
            </a:r>
            <a:endParaRPr lang="en-US" sz="2200"/>
          </a:p>
        </p:txBody>
      </p:sp>
      <p:sp>
        <p:nvSpPr>
          <p:cNvPr id="6" name="Page"/>
          <p:cNvSpPr txBox="1"/>
          <p:nvPr/>
        </p:nvSpPr>
        <p:spPr>
          <a:xfrm>
            <a:off x="10763250" y="6419850"/>
            <a:ext cx="85725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1100">
                <a:solidFill>
                  <a:srgbClr val="5B6472"/>
                </a:solidFill>
                <a:latin typeface="Aptos"/>
                <a:cs typeface="Aptos"/>
              </a:rPr>
              <a:t>30</a:t>
            </a:r>
            <a:endParaRPr lang="en-US" sz="1100"/>
          </a:p>
        </p:txBody>
      </p:sp>
      <p:sp>
        <p:nvSpPr>
          <p:cNvPr id="7" name="Side"/>
          <p:cNvSpPr/>
          <p:nvPr/>
        </p:nvSpPr>
        <p:spPr>
          <a:xfrm>
            <a:off x="9334500" y="914400"/>
            <a:ext cx="1619250" cy="447675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B9C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457200" y="400050"/>
            <a:ext cx="1524000" cy="76200"/>
          </a:xfrm>
          <a:prstGeom prst="rect">
            <a:avLst/>
          </a:prstGeom>
          <a:solidFill>
            <a:srgbClr val="1178B8"/>
          </a:solidFill>
          <a:ln w="12700">
            <a:solidFill>
              <a:srgbClr val="117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Title"/>
          <p:cNvSpPr txBox="1"/>
          <p:nvPr/>
        </p:nvSpPr>
        <p:spPr>
          <a:xfrm>
            <a:off x="457200" y="628650"/>
            <a:ext cx="9144000" cy="5524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3400" b="1">
                <a:solidFill>
                  <a:srgbClr val="111827"/>
                </a:solidFill>
                <a:latin typeface="Aptos"/>
                <a:cs typeface="Aptos"/>
              </a:rPr>
              <a:t>MAB AI Assistant</a:t>
            </a:r>
            <a:endParaRPr lang="en-US" sz="3400"/>
          </a:p>
        </p:txBody>
      </p:sp>
      <p:sp>
        <p:nvSpPr>
          <p:cNvPr id="4" name="Footer"/>
          <p:cNvSpPr txBox="1"/>
          <p:nvPr/>
        </p:nvSpPr>
        <p:spPr>
          <a:xfrm>
            <a:off x="457200" y="6419850"/>
            <a:ext cx="66675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1100">
                <a:solidFill>
                  <a:srgbClr val="5B6472"/>
                </a:solidFill>
                <a:latin typeface="Aptos"/>
                <a:cs typeface="Aptos"/>
              </a:rPr>
              <a:t>MAB Task Allocator user manual</a:t>
            </a:r>
            <a:endParaRPr lang="en-US" sz="1100"/>
          </a:p>
        </p:txBody>
      </p:sp>
      <p:sp>
        <p:nvSpPr>
          <p:cNvPr id="5" name="Page"/>
          <p:cNvSpPr txBox="1"/>
          <p:nvPr/>
        </p:nvSpPr>
        <p:spPr>
          <a:xfrm>
            <a:off x="10801350" y="6419850"/>
            <a:ext cx="85725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1100">
                <a:solidFill>
                  <a:srgbClr val="5B6472"/>
                </a:solidFill>
                <a:latin typeface="Aptos"/>
                <a:cs typeface="Aptos"/>
              </a:rPr>
              <a:t>31</a:t>
            </a:r>
            <a:endParaRPr lang="en-US" sz="1100"/>
          </a:p>
        </p:txBody>
      </p:sp>
      <p:sp>
        <p:nvSpPr>
          <p:cNvPr id="10" name="Bullet mark 0"/>
          <p:cNvSpPr/>
          <p:nvPr/>
        </p:nvSpPr>
        <p:spPr>
          <a:xfrm>
            <a:off x="628650" y="1457325"/>
            <a:ext cx="285750" cy="285750"/>
          </a:xfrm>
          <a:prstGeom prst="roundRect">
            <a:avLst/>
          </a:prstGeom>
          <a:solidFill>
            <a:srgbClr val="11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Bullet 0"/>
          <p:cNvSpPr txBox="1"/>
          <p:nvPr/>
        </p:nvSpPr>
        <p:spPr>
          <a:xfrm>
            <a:off x="1123950" y="1381125"/>
            <a:ext cx="9906000" cy="5524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1700">
                <a:solidFill>
                  <a:srgbClr val="5B6472"/>
                </a:solidFill>
                <a:latin typeface="Aptos"/>
                <a:cs typeface="Aptos"/>
              </a:rPr>
              <a:t>The AI assistant is opened from the chat panel using the AI Assistant button.</a:t>
            </a:r>
            <a:endParaRPr lang="en-US" sz="1700"/>
          </a:p>
        </p:txBody>
      </p:sp>
      <p:sp>
        <p:nvSpPr>
          <p:cNvPr id="12" name="Bullet mark 1"/>
          <p:cNvSpPr/>
          <p:nvPr/>
        </p:nvSpPr>
        <p:spPr>
          <a:xfrm>
            <a:off x="628650" y="2276475"/>
            <a:ext cx="285750" cy="285750"/>
          </a:xfrm>
          <a:prstGeom prst="roundRect">
            <a:avLst/>
          </a:prstGeom>
          <a:solidFill>
            <a:srgbClr val="1F9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3" name="Bullet 1"/>
          <p:cNvSpPr txBox="1"/>
          <p:nvPr/>
        </p:nvSpPr>
        <p:spPr>
          <a:xfrm>
            <a:off x="1123950" y="2200275"/>
            <a:ext cx="9906000" cy="5524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1700">
                <a:solidFill>
                  <a:srgbClr val="5B6472"/>
                </a:solidFill>
                <a:latin typeface="Aptos"/>
                <a:cs typeface="Aptos"/>
              </a:rPr>
              <a:t>It is a private conversation for the logged-in user and is designed for tasks, projects, coordination, and workplace productivity.</a:t>
            </a:r>
            <a:endParaRPr lang="en-US" sz="1700"/>
          </a:p>
        </p:txBody>
      </p:sp>
      <p:sp>
        <p:nvSpPr>
          <p:cNvPr id="14" name="Bullet mark 2"/>
          <p:cNvSpPr/>
          <p:nvPr/>
        </p:nvSpPr>
        <p:spPr>
          <a:xfrm>
            <a:off x="628650" y="3095625"/>
            <a:ext cx="285750" cy="285750"/>
          </a:xfrm>
          <a:prstGeom prst="roundRect">
            <a:avLst/>
          </a:prstGeom>
          <a:solidFill>
            <a:srgbClr val="11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" name="Bullet 2"/>
          <p:cNvSpPr txBox="1"/>
          <p:nvPr/>
        </p:nvSpPr>
        <p:spPr>
          <a:xfrm>
            <a:off x="1123950" y="3019425"/>
            <a:ext cx="9906000" cy="5524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1700">
                <a:solidFill>
                  <a:srgbClr val="5B6472"/>
                </a:solidFill>
                <a:latin typeface="Aptos"/>
                <a:cs typeface="Aptos"/>
              </a:rPr>
              <a:t>It can summarize workload, suggest what to focus on today, identify overdue priorities, and draft professional task updates.</a:t>
            </a:r>
            <a:endParaRPr lang="en-US" sz="1700"/>
          </a:p>
        </p:txBody>
      </p:sp>
      <p:sp>
        <p:nvSpPr>
          <p:cNvPr id="16" name="Bullet mark 3"/>
          <p:cNvSpPr/>
          <p:nvPr/>
        </p:nvSpPr>
        <p:spPr>
          <a:xfrm>
            <a:off x="628650" y="3914775"/>
            <a:ext cx="285750" cy="285750"/>
          </a:xfrm>
          <a:prstGeom prst="roundRect">
            <a:avLst/>
          </a:prstGeom>
          <a:solidFill>
            <a:srgbClr val="1F9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7" name="Bullet 3"/>
          <p:cNvSpPr txBox="1"/>
          <p:nvPr/>
        </p:nvSpPr>
        <p:spPr>
          <a:xfrm>
            <a:off x="1123950" y="3838575"/>
            <a:ext cx="9906000" cy="5524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1700">
                <a:solidFill>
                  <a:srgbClr val="5B6472"/>
                </a:solidFill>
                <a:latin typeface="Aptos"/>
                <a:cs typeface="Aptos"/>
              </a:rPr>
              <a:t>The assistant never claims it has changed application data and should not be used to share passwords or secrets.</a:t>
            </a:r>
            <a:endParaRPr lang="en-US" sz="17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457200" y="400050"/>
            <a:ext cx="1524000" cy="76200"/>
          </a:xfrm>
          <a:prstGeom prst="rect">
            <a:avLst/>
          </a:prstGeom>
          <a:solidFill>
            <a:srgbClr val="1178B8"/>
          </a:solidFill>
          <a:ln w="12700">
            <a:solidFill>
              <a:srgbClr val="117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Title"/>
          <p:cNvSpPr txBox="1"/>
          <p:nvPr/>
        </p:nvSpPr>
        <p:spPr>
          <a:xfrm>
            <a:off x="457200" y="628650"/>
            <a:ext cx="9144000" cy="5524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3400" b="1">
                <a:solidFill>
                  <a:srgbClr val="111827"/>
                </a:solidFill>
                <a:latin typeface="Aptos"/>
                <a:cs typeface="Aptos"/>
              </a:rPr>
              <a:t>AI assistant modes</a:t>
            </a:r>
            <a:endParaRPr lang="en-US" sz="3400"/>
          </a:p>
        </p:txBody>
      </p:sp>
      <p:sp>
        <p:nvSpPr>
          <p:cNvPr id="4" name="Footer"/>
          <p:cNvSpPr txBox="1"/>
          <p:nvPr/>
        </p:nvSpPr>
        <p:spPr>
          <a:xfrm>
            <a:off x="457200" y="6419850"/>
            <a:ext cx="66675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1100">
                <a:solidFill>
                  <a:srgbClr val="5B6472"/>
                </a:solidFill>
                <a:latin typeface="Aptos"/>
                <a:cs typeface="Aptos"/>
              </a:rPr>
              <a:t>MAB Task Allocator user manual</a:t>
            </a:r>
            <a:endParaRPr lang="en-US" sz="1100"/>
          </a:p>
        </p:txBody>
      </p:sp>
      <p:sp>
        <p:nvSpPr>
          <p:cNvPr id="5" name="Page"/>
          <p:cNvSpPr txBox="1"/>
          <p:nvPr/>
        </p:nvSpPr>
        <p:spPr>
          <a:xfrm>
            <a:off x="10801350" y="6419850"/>
            <a:ext cx="85725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1100">
                <a:solidFill>
                  <a:srgbClr val="5B6472"/>
                </a:solidFill>
                <a:latin typeface="Aptos"/>
                <a:cs typeface="Aptos"/>
              </a:rPr>
              <a:t>32</a:t>
            </a:r>
            <a:endParaRPr lang="en-US" sz="1100"/>
          </a:p>
        </p:txBody>
      </p:sp>
      <p:sp>
        <p:nvSpPr>
          <p:cNvPr id="10" name="Bullet mark 0"/>
          <p:cNvSpPr/>
          <p:nvPr/>
        </p:nvSpPr>
        <p:spPr>
          <a:xfrm>
            <a:off x="628650" y="1457325"/>
            <a:ext cx="285750" cy="285750"/>
          </a:xfrm>
          <a:prstGeom prst="roundRect">
            <a:avLst/>
          </a:prstGeom>
          <a:solidFill>
            <a:srgbClr val="11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Bullet 0"/>
          <p:cNvSpPr txBox="1"/>
          <p:nvPr/>
        </p:nvSpPr>
        <p:spPr>
          <a:xfrm>
            <a:off x="1123950" y="1381125"/>
            <a:ext cx="9906000" cy="5524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1700">
                <a:solidFill>
                  <a:srgbClr val="5B6472"/>
                </a:solidFill>
                <a:latin typeface="Aptos"/>
                <a:cs typeface="Aptos"/>
              </a:rPr>
              <a:t>Offline mode works without an AI provider key and uses visible task data to answer common workload questions.</a:t>
            </a:r>
            <a:endParaRPr lang="en-US" sz="1700"/>
          </a:p>
        </p:txBody>
      </p:sp>
      <p:sp>
        <p:nvSpPr>
          <p:cNvPr id="12" name="Bullet mark 1"/>
          <p:cNvSpPr/>
          <p:nvPr/>
        </p:nvSpPr>
        <p:spPr>
          <a:xfrm>
            <a:off x="628650" y="2276475"/>
            <a:ext cx="285750" cy="285750"/>
          </a:xfrm>
          <a:prstGeom prst="roundRect">
            <a:avLst/>
          </a:prstGeom>
          <a:solidFill>
            <a:srgbClr val="1F9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3" name="Bullet 1"/>
          <p:cNvSpPr txBox="1"/>
          <p:nvPr/>
        </p:nvSpPr>
        <p:spPr>
          <a:xfrm>
            <a:off x="1123950" y="2200275"/>
            <a:ext cx="9906000" cy="5524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1700">
                <a:solidFill>
                  <a:srgbClr val="5B6472"/>
                </a:solidFill>
                <a:latin typeface="Aptos"/>
                <a:cs typeface="Aptos"/>
              </a:rPr>
              <a:t>Configured mode uses GEMINI_API_KEY and GEMINI_MODEL to send prompts to Gemini for open-ended generative answers.</a:t>
            </a:r>
            <a:endParaRPr lang="en-US" sz="1700"/>
          </a:p>
        </p:txBody>
      </p:sp>
      <p:sp>
        <p:nvSpPr>
          <p:cNvPr id="14" name="Bullet mark 2"/>
          <p:cNvSpPr/>
          <p:nvPr/>
        </p:nvSpPr>
        <p:spPr>
          <a:xfrm>
            <a:off x="628650" y="3095625"/>
            <a:ext cx="285750" cy="285750"/>
          </a:xfrm>
          <a:prstGeom prst="roundRect">
            <a:avLst/>
          </a:prstGeom>
          <a:solidFill>
            <a:srgbClr val="11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" name="Bullet 2"/>
          <p:cNvSpPr txBox="1"/>
          <p:nvPr/>
        </p:nvSpPr>
        <p:spPr>
          <a:xfrm>
            <a:off x="1123950" y="3019425"/>
            <a:ext cx="9906000" cy="5524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1700">
                <a:solidFill>
                  <a:srgbClr val="5B6472"/>
                </a:solidFill>
                <a:latin typeface="Aptos"/>
                <a:cs typeface="Aptos"/>
              </a:rPr>
              <a:t>The default model in code is gemini-2.5-flash-lite unless changed in environment variables.</a:t>
            </a:r>
            <a:endParaRPr lang="en-US" sz="1700"/>
          </a:p>
        </p:txBody>
      </p:sp>
      <p:sp>
        <p:nvSpPr>
          <p:cNvPr id="16" name="Bullet mark 3"/>
          <p:cNvSpPr/>
          <p:nvPr/>
        </p:nvSpPr>
        <p:spPr>
          <a:xfrm>
            <a:off x="628650" y="3914775"/>
            <a:ext cx="285750" cy="285750"/>
          </a:xfrm>
          <a:prstGeom prst="roundRect">
            <a:avLst/>
          </a:prstGeom>
          <a:solidFill>
            <a:srgbClr val="1F9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7" name="Bullet 3"/>
          <p:cNvSpPr txBox="1"/>
          <p:nvPr/>
        </p:nvSpPr>
        <p:spPr>
          <a:xfrm>
            <a:off x="1123950" y="3838575"/>
            <a:ext cx="9906000" cy="5524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1700">
                <a:solidFill>
                  <a:srgbClr val="5B6472"/>
                </a:solidFill>
                <a:latin typeface="Aptos"/>
                <a:cs typeface="Aptos"/>
              </a:rPr>
              <a:t>The API limits history and message length to keep responses focused and reduce unnecessary data exposure.</a:t>
            </a:r>
            <a:endParaRPr lang="en-US" sz="17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457200" y="400050"/>
            <a:ext cx="1524000" cy="76200"/>
          </a:xfrm>
          <a:prstGeom prst="rect">
            <a:avLst/>
          </a:prstGeom>
          <a:solidFill>
            <a:srgbClr val="1178B8"/>
          </a:solidFill>
          <a:ln w="12700">
            <a:solidFill>
              <a:srgbClr val="117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Title"/>
          <p:cNvSpPr txBox="1"/>
          <p:nvPr/>
        </p:nvSpPr>
        <p:spPr>
          <a:xfrm>
            <a:off x="457200" y="628650"/>
            <a:ext cx="9144000" cy="5524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3400" b="1">
                <a:solidFill>
                  <a:srgbClr val="111827"/>
                </a:solidFill>
                <a:latin typeface="Aptos"/>
                <a:cs typeface="Aptos"/>
              </a:rPr>
              <a:t>Work Intelligence portfolio signals</a:t>
            </a:r>
            <a:endParaRPr lang="en-US" sz="3400"/>
          </a:p>
        </p:txBody>
      </p:sp>
      <p:sp>
        <p:nvSpPr>
          <p:cNvPr id="4" name="Footer"/>
          <p:cNvSpPr txBox="1"/>
          <p:nvPr/>
        </p:nvSpPr>
        <p:spPr>
          <a:xfrm>
            <a:off x="457200" y="6419850"/>
            <a:ext cx="66675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1100">
                <a:solidFill>
                  <a:srgbClr val="5B6472"/>
                </a:solidFill>
                <a:latin typeface="Aptos"/>
                <a:cs typeface="Aptos"/>
              </a:rPr>
              <a:t>MAB Task Allocator user manual</a:t>
            </a:r>
            <a:endParaRPr lang="en-US" sz="1100"/>
          </a:p>
        </p:txBody>
      </p:sp>
      <p:sp>
        <p:nvSpPr>
          <p:cNvPr id="5" name="Page"/>
          <p:cNvSpPr txBox="1"/>
          <p:nvPr/>
        </p:nvSpPr>
        <p:spPr>
          <a:xfrm>
            <a:off x="10801350" y="6419850"/>
            <a:ext cx="85725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1100">
                <a:solidFill>
                  <a:srgbClr val="5B6472"/>
                </a:solidFill>
                <a:latin typeface="Aptos"/>
                <a:cs typeface="Aptos"/>
              </a:rPr>
              <a:t>33</a:t>
            </a:r>
            <a:endParaRPr lang="en-US" sz="1100"/>
          </a:p>
        </p:txBody>
      </p:sp>
      <p:sp>
        <p:nvSpPr>
          <p:cNvPr id="10" name="Metric 0"/>
          <p:cNvSpPr/>
          <p:nvPr/>
        </p:nvSpPr>
        <p:spPr>
          <a:xfrm>
            <a:off x="647700" y="1352550"/>
            <a:ext cx="4953000" cy="112395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B9C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Metric label 0"/>
          <p:cNvSpPr txBox="1"/>
          <p:nvPr/>
        </p:nvSpPr>
        <p:spPr>
          <a:xfrm>
            <a:off x="876300" y="1524000"/>
            <a:ext cx="40005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2400" b="1">
                <a:solidFill>
                  <a:srgbClr val="1178B8"/>
                </a:solidFill>
                <a:latin typeface="Aptos"/>
                <a:cs typeface="Aptos"/>
              </a:rPr>
              <a:t>Health score</a:t>
            </a:r>
            <a:endParaRPr lang="en-US" sz="2400"/>
          </a:p>
        </p:txBody>
      </p:sp>
      <p:sp>
        <p:nvSpPr>
          <p:cNvPr id="12" name="Metric desc 0"/>
          <p:cNvSpPr txBox="1"/>
          <p:nvPr/>
        </p:nvSpPr>
        <p:spPr>
          <a:xfrm>
            <a:off x="876300" y="1905000"/>
            <a:ext cx="4229100" cy="4000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1500">
                <a:solidFill>
                  <a:srgbClr val="5B6472"/>
                </a:solidFill>
                <a:latin typeface="Aptos"/>
                <a:cs typeface="Aptos"/>
              </a:rPr>
              <a:t>100 minus penalties for high-risk tasks and overloaded users.</a:t>
            </a:r>
            <a:endParaRPr lang="en-US" sz="1500"/>
          </a:p>
        </p:txBody>
      </p:sp>
      <p:sp>
        <p:nvSpPr>
          <p:cNvPr id="13" name="Metric 1"/>
          <p:cNvSpPr/>
          <p:nvPr/>
        </p:nvSpPr>
        <p:spPr>
          <a:xfrm>
            <a:off x="6362700" y="1352550"/>
            <a:ext cx="4953000" cy="112395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B9C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Metric label 1"/>
          <p:cNvSpPr txBox="1"/>
          <p:nvPr/>
        </p:nvSpPr>
        <p:spPr>
          <a:xfrm>
            <a:off x="6591300" y="1524000"/>
            <a:ext cx="40005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2400" b="1">
                <a:solidFill>
                  <a:srgbClr val="1F9D68"/>
                </a:solidFill>
                <a:latin typeface="Aptos"/>
                <a:cs typeface="Aptos"/>
              </a:rPr>
              <a:t>Active work</a:t>
            </a:r>
            <a:endParaRPr lang="en-US" sz="2400"/>
          </a:p>
        </p:txBody>
      </p:sp>
      <p:sp>
        <p:nvSpPr>
          <p:cNvPr id="15" name="Metric desc 1"/>
          <p:cNvSpPr txBox="1"/>
          <p:nvPr/>
        </p:nvSpPr>
        <p:spPr>
          <a:xfrm>
            <a:off x="6591300" y="1905000"/>
            <a:ext cx="4229100" cy="4000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1500">
                <a:solidFill>
                  <a:srgbClr val="5B6472"/>
                </a:solidFill>
                <a:latin typeface="Aptos"/>
                <a:cs typeface="Aptos"/>
              </a:rPr>
              <a:t>Count of visible tasks not marked Done.</a:t>
            </a:r>
            <a:endParaRPr lang="en-US" sz="1500"/>
          </a:p>
        </p:txBody>
      </p:sp>
      <p:sp>
        <p:nvSpPr>
          <p:cNvPr id="16" name="Metric 2"/>
          <p:cNvSpPr/>
          <p:nvPr/>
        </p:nvSpPr>
        <p:spPr>
          <a:xfrm>
            <a:off x="647700" y="2781300"/>
            <a:ext cx="4953000" cy="112395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B9C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7" name="Metric label 2"/>
          <p:cNvSpPr txBox="1"/>
          <p:nvPr/>
        </p:nvSpPr>
        <p:spPr>
          <a:xfrm>
            <a:off x="876300" y="2952750"/>
            <a:ext cx="40005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2400" b="1">
                <a:solidFill>
                  <a:srgbClr val="1178B8"/>
                </a:solidFill>
                <a:latin typeface="Aptos"/>
                <a:cs typeface="Aptos"/>
              </a:rPr>
              <a:t>High-risk tasks</a:t>
            </a:r>
            <a:endParaRPr lang="en-US" sz="2400"/>
          </a:p>
        </p:txBody>
      </p:sp>
      <p:sp>
        <p:nvSpPr>
          <p:cNvPr id="18" name="Metric desc 2"/>
          <p:cNvSpPr txBox="1"/>
          <p:nvPr/>
        </p:nvSpPr>
        <p:spPr>
          <a:xfrm>
            <a:off x="876300" y="3333750"/>
            <a:ext cx="4229100" cy="4000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1500">
                <a:solidFill>
                  <a:srgbClr val="5B6472"/>
                </a:solidFill>
                <a:latin typeface="Aptos"/>
                <a:cs typeface="Aptos"/>
              </a:rPr>
              <a:t>Tasks with elevated predicted delay risk.</a:t>
            </a:r>
            <a:endParaRPr lang="en-US" sz="1500"/>
          </a:p>
        </p:txBody>
      </p:sp>
      <p:sp>
        <p:nvSpPr>
          <p:cNvPr id="19" name="Metric 3"/>
          <p:cNvSpPr/>
          <p:nvPr/>
        </p:nvSpPr>
        <p:spPr>
          <a:xfrm>
            <a:off x="6362700" y="2781300"/>
            <a:ext cx="4953000" cy="112395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B9C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Metric label 3"/>
          <p:cNvSpPr txBox="1"/>
          <p:nvPr/>
        </p:nvSpPr>
        <p:spPr>
          <a:xfrm>
            <a:off x="6591300" y="2952750"/>
            <a:ext cx="40005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2400" b="1">
                <a:solidFill>
                  <a:srgbClr val="1F9D68"/>
                </a:solidFill>
                <a:latin typeface="Aptos"/>
                <a:cs typeface="Aptos"/>
              </a:rPr>
              <a:t>Overloaded people</a:t>
            </a:r>
            <a:endParaRPr lang="en-US" sz="2400"/>
          </a:p>
        </p:txBody>
      </p:sp>
      <p:sp>
        <p:nvSpPr>
          <p:cNvPr id="21" name="Metric desc 3"/>
          <p:cNvSpPr txBox="1"/>
          <p:nvPr/>
        </p:nvSpPr>
        <p:spPr>
          <a:xfrm>
            <a:off x="6591300" y="3333750"/>
            <a:ext cx="4229100" cy="4000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1500">
                <a:solidFill>
                  <a:srgbClr val="5B6472"/>
                </a:solidFill>
                <a:latin typeface="Aptos"/>
                <a:cs typeface="Aptos"/>
              </a:rPr>
              <a:t>Users whose workload/burnout risk is high.</a:t>
            </a:r>
            <a:endParaRPr lang="en-US" sz="1500"/>
          </a:p>
        </p:txBody>
      </p:sp>
      <p:sp>
        <p:nvSpPr>
          <p:cNvPr id="22" name="Metric 4"/>
          <p:cNvSpPr/>
          <p:nvPr/>
        </p:nvSpPr>
        <p:spPr>
          <a:xfrm>
            <a:off x="647700" y="4210050"/>
            <a:ext cx="4953000" cy="112395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B9C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Metric label 4"/>
          <p:cNvSpPr txBox="1"/>
          <p:nvPr/>
        </p:nvSpPr>
        <p:spPr>
          <a:xfrm>
            <a:off x="876300" y="4381500"/>
            <a:ext cx="40005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2400" b="1">
                <a:solidFill>
                  <a:srgbClr val="1178B8"/>
                </a:solidFill>
                <a:latin typeface="Aptos"/>
                <a:cs typeface="Aptos"/>
              </a:rPr>
              <a:t>Unassigned work</a:t>
            </a:r>
            <a:endParaRPr lang="en-US" sz="2400"/>
          </a:p>
        </p:txBody>
      </p:sp>
      <p:sp>
        <p:nvSpPr>
          <p:cNvPr id="24" name="Metric desc 4"/>
          <p:cNvSpPr txBox="1"/>
          <p:nvPr/>
        </p:nvSpPr>
        <p:spPr>
          <a:xfrm>
            <a:off x="876300" y="4762500"/>
            <a:ext cx="4229100" cy="4000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1500">
                <a:solidFill>
                  <a:srgbClr val="5B6472"/>
                </a:solidFill>
                <a:latin typeface="Aptos"/>
                <a:cs typeface="Aptos"/>
              </a:rPr>
              <a:t>Active tasks with no assignee.</a:t>
            </a:r>
            <a:endParaRPr lang="en-US" sz="150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457200" y="400050"/>
            <a:ext cx="1524000" cy="76200"/>
          </a:xfrm>
          <a:prstGeom prst="rect">
            <a:avLst/>
          </a:prstGeom>
          <a:solidFill>
            <a:srgbClr val="1178B8"/>
          </a:solidFill>
          <a:ln w="12700">
            <a:solidFill>
              <a:srgbClr val="117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Title"/>
          <p:cNvSpPr txBox="1"/>
          <p:nvPr/>
        </p:nvSpPr>
        <p:spPr>
          <a:xfrm>
            <a:off x="457200" y="628650"/>
            <a:ext cx="9144000" cy="5524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3400" b="1">
                <a:solidFill>
                  <a:srgbClr val="111827"/>
                </a:solidFill>
                <a:latin typeface="Aptos"/>
                <a:cs typeface="Aptos"/>
              </a:rPr>
              <a:t>Task risk radar</a:t>
            </a:r>
            <a:endParaRPr lang="en-US" sz="3400"/>
          </a:p>
        </p:txBody>
      </p:sp>
      <p:sp>
        <p:nvSpPr>
          <p:cNvPr id="4" name="Footer"/>
          <p:cNvSpPr txBox="1"/>
          <p:nvPr/>
        </p:nvSpPr>
        <p:spPr>
          <a:xfrm>
            <a:off x="457200" y="6419850"/>
            <a:ext cx="66675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1100">
                <a:solidFill>
                  <a:srgbClr val="5B6472"/>
                </a:solidFill>
                <a:latin typeface="Aptos"/>
                <a:cs typeface="Aptos"/>
              </a:rPr>
              <a:t>MAB Task Allocator user manual</a:t>
            </a:r>
            <a:endParaRPr lang="en-US" sz="1100"/>
          </a:p>
        </p:txBody>
      </p:sp>
      <p:sp>
        <p:nvSpPr>
          <p:cNvPr id="5" name="Page"/>
          <p:cNvSpPr txBox="1"/>
          <p:nvPr/>
        </p:nvSpPr>
        <p:spPr>
          <a:xfrm>
            <a:off x="10801350" y="6419850"/>
            <a:ext cx="85725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1100">
                <a:solidFill>
                  <a:srgbClr val="5B6472"/>
                </a:solidFill>
                <a:latin typeface="Aptos"/>
                <a:cs typeface="Aptos"/>
              </a:rPr>
              <a:t>34</a:t>
            </a:r>
            <a:endParaRPr lang="en-US" sz="1100"/>
          </a:p>
        </p:txBody>
      </p:sp>
      <p:sp>
        <p:nvSpPr>
          <p:cNvPr id="10" name="Bullet mark 0"/>
          <p:cNvSpPr/>
          <p:nvPr/>
        </p:nvSpPr>
        <p:spPr>
          <a:xfrm>
            <a:off x="628650" y="1457325"/>
            <a:ext cx="285750" cy="285750"/>
          </a:xfrm>
          <a:prstGeom prst="roundRect">
            <a:avLst/>
          </a:prstGeom>
          <a:solidFill>
            <a:srgbClr val="11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Bullet 0"/>
          <p:cNvSpPr txBox="1"/>
          <p:nvPr/>
        </p:nvSpPr>
        <p:spPr>
          <a:xfrm>
            <a:off x="1123950" y="1381125"/>
            <a:ext cx="9906000" cy="5524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1700">
                <a:solidFill>
                  <a:srgbClr val="5B6472"/>
                </a:solidFill>
                <a:latin typeface="Aptos"/>
                <a:cs typeface="Aptos"/>
              </a:rPr>
              <a:t>Delay risk combines deadline proximity, progress gap versus comparable completed work, assignee workload, blocked status, and reopen cycles.</a:t>
            </a:r>
            <a:endParaRPr lang="en-US" sz="1700"/>
          </a:p>
        </p:txBody>
      </p:sp>
      <p:sp>
        <p:nvSpPr>
          <p:cNvPr id="12" name="Bullet mark 1"/>
          <p:cNvSpPr/>
          <p:nvPr/>
        </p:nvSpPr>
        <p:spPr>
          <a:xfrm>
            <a:off x="628650" y="2276475"/>
            <a:ext cx="285750" cy="285750"/>
          </a:xfrm>
          <a:prstGeom prst="roundRect">
            <a:avLst/>
          </a:prstGeom>
          <a:solidFill>
            <a:srgbClr val="1F9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3" name="Bullet 1"/>
          <p:cNvSpPr txBox="1"/>
          <p:nvPr/>
        </p:nvSpPr>
        <p:spPr>
          <a:xfrm>
            <a:off x="1123950" y="2200275"/>
            <a:ext cx="9906000" cy="5524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1700">
                <a:solidFill>
                  <a:srgbClr val="5B6472"/>
                </a:solidFill>
                <a:latin typeface="Aptos"/>
                <a:cs typeface="Aptos"/>
              </a:rPr>
              <a:t>Smart priority combines declared priority, deadline pressure, complexity, blocked/review status, and rework history.</a:t>
            </a:r>
            <a:endParaRPr lang="en-US" sz="1700"/>
          </a:p>
        </p:txBody>
      </p:sp>
      <p:sp>
        <p:nvSpPr>
          <p:cNvPr id="14" name="Bullet mark 2"/>
          <p:cNvSpPr/>
          <p:nvPr/>
        </p:nvSpPr>
        <p:spPr>
          <a:xfrm>
            <a:off x="628650" y="3095625"/>
            <a:ext cx="285750" cy="285750"/>
          </a:xfrm>
          <a:prstGeom prst="roundRect">
            <a:avLst/>
          </a:prstGeom>
          <a:solidFill>
            <a:srgbClr val="11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" name="Bullet 2"/>
          <p:cNvSpPr txBox="1"/>
          <p:nvPr/>
        </p:nvSpPr>
        <p:spPr>
          <a:xfrm>
            <a:off x="1123950" y="3019425"/>
            <a:ext cx="9906000" cy="5524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1700">
                <a:solidFill>
                  <a:srgbClr val="5B6472"/>
                </a:solidFill>
                <a:latin typeface="Aptos"/>
                <a:cs typeface="Aptos"/>
              </a:rPr>
              <a:t>Benchmark days compare the task against completed tasks from the same department, task type, and complexity.</a:t>
            </a:r>
            <a:endParaRPr lang="en-US" sz="1700"/>
          </a:p>
        </p:txBody>
      </p:sp>
      <p:sp>
        <p:nvSpPr>
          <p:cNvPr id="16" name="Bullet mark 3"/>
          <p:cNvSpPr/>
          <p:nvPr/>
        </p:nvSpPr>
        <p:spPr>
          <a:xfrm>
            <a:off x="628650" y="3914775"/>
            <a:ext cx="285750" cy="285750"/>
          </a:xfrm>
          <a:prstGeom prst="roundRect">
            <a:avLst/>
          </a:prstGeom>
          <a:solidFill>
            <a:srgbClr val="1F9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7" name="Bullet 3"/>
          <p:cNvSpPr txBox="1"/>
          <p:nvPr/>
        </p:nvSpPr>
        <p:spPr>
          <a:xfrm>
            <a:off x="1123950" y="3838575"/>
            <a:ext cx="9906000" cy="5524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1700">
                <a:solidFill>
                  <a:srgbClr val="5B6472"/>
                </a:solidFill>
                <a:latin typeface="Aptos"/>
                <a:cs typeface="Aptos"/>
              </a:rPr>
              <a:t>Suggested assignee points to the lowest-load eligible department user; it is advisory and never changes the assignment automatically.</a:t>
            </a:r>
            <a:endParaRPr lang="en-US" sz="17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457200" y="400050"/>
            <a:ext cx="1524000" cy="76200"/>
          </a:xfrm>
          <a:prstGeom prst="rect">
            <a:avLst/>
          </a:prstGeom>
          <a:solidFill>
            <a:srgbClr val="1178B8"/>
          </a:solidFill>
          <a:ln w="12700">
            <a:solidFill>
              <a:srgbClr val="117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Title"/>
          <p:cNvSpPr txBox="1"/>
          <p:nvPr/>
        </p:nvSpPr>
        <p:spPr>
          <a:xfrm>
            <a:off x="457200" y="628650"/>
            <a:ext cx="9144000" cy="5524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3400" b="1">
                <a:solidFill>
                  <a:srgbClr val="111827"/>
                </a:solidFill>
                <a:latin typeface="Aptos"/>
                <a:cs typeface="Aptos"/>
              </a:rPr>
              <a:t>Burnout and workload radar</a:t>
            </a:r>
            <a:endParaRPr lang="en-US" sz="3400"/>
          </a:p>
        </p:txBody>
      </p:sp>
      <p:sp>
        <p:nvSpPr>
          <p:cNvPr id="4" name="Footer"/>
          <p:cNvSpPr txBox="1"/>
          <p:nvPr/>
        </p:nvSpPr>
        <p:spPr>
          <a:xfrm>
            <a:off x="457200" y="6419850"/>
            <a:ext cx="66675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1100">
                <a:solidFill>
                  <a:srgbClr val="5B6472"/>
                </a:solidFill>
                <a:latin typeface="Aptos"/>
                <a:cs typeface="Aptos"/>
              </a:rPr>
              <a:t>MAB Task Allocator user manual</a:t>
            </a:r>
            <a:endParaRPr lang="en-US" sz="1100"/>
          </a:p>
        </p:txBody>
      </p:sp>
      <p:sp>
        <p:nvSpPr>
          <p:cNvPr id="5" name="Page"/>
          <p:cNvSpPr txBox="1"/>
          <p:nvPr/>
        </p:nvSpPr>
        <p:spPr>
          <a:xfrm>
            <a:off x="10801350" y="6419850"/>
            <a:ext cx="85725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1100">
                <a:solidFill>
                  <a:srgbClr val="5B6472"/>
                </a:solidFill>
                <a:latin typeface="Aptos"/>
                <a:cs typeface="Aptos"/>
              </a:rPr>
              <a:t>35</a:t>
            </a:r>
            <a:endParaRPr lang="en-US" sz="1100"/>
          </a:p>
        </p:txBody>
      </p:sp>
      <p:sp>
        <p:nvSpPr>
          <p:cNvPr id="10" name="Bullet mark 0"/>
          <p:cNvSpPr/>
          <p:nvPr/>
        </p:nvSpPr>
        <p:spPr>
          <a:xfrm>
            <a:off x="628650" y="1457325"/>
            <a:ext cx="285750" cy="285750"/>
          </a:xfrm>
          <a:prstGeom prst="roundRect">
            <a:avLst/>
          </a:prstGeom>
          <a:solidFill>
            <a:srgbClr val="11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Bullet 0"/>
          <p:cNvSpPr txBox="1"/>
          <p:nvPr/>
        </p:nvSpPr>
        <p:spPr>
          <a:xfrm>
            <a:off x="1123950" y="1381125"/>
            <a:ext cx="9906000" cy="5524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1700">
                <a:solidFill>
                  <a:srgbClr val="5B6472"/>
                </a:solidFill>
                <a:latin typeface="Aptos"/>
                <a:cs typeface="Aptos"/>
              </a:rPr>
              <a:t>Workforce risk is calculated for normal users using active task count, complexity load, urgent tasks, overdue tasks, blocked tasks, and reopen history.</a:t>
            </a:r>
            <a:endParaRPr lang="en-US" sz="1700"/>
          </a:p>
        </p:txBody>
      </p:sp>
      <p:sp>
        <p:nvSpPr>
          <p:cNvPr id="12" name="Bullet mark 1"/>
          <p:cNvSpPr/>
          <p:nvPr/>
        </p:nvSpPr>
        <p:spPr>
          <a:xfrm>
            <a:off x="628650" y="2276475"/>
            <a:ext cx="285750" cy="285750"/>
          </a:xfrm>
          <a:prstGeom prst="roundRect">
            <a:avLst/>
          </a:prstGeom>
          <a:solidFill>
            <a:srgbClr val="1F9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3" name="Bullet 1"/>
          <p:cNvSpPr txBox="1"/>
          <p:nvPr/>
        </p:nvSpPr>
        <p:spPr>
          <a:xfrm>
            <a:off x="1123950" y="2200275"/>
            <a:ext cx="9906000" cy="5524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1700">
                <a:solidFill>
                  <a:srgbClr val="5B6472"/>
                </a:solidFill>
                <a:latin typeface="Aptos"/>
                <a:cs typeface="Aptos"/>
              </a:rPr>
              <a:t>Risk levels are Healthy, Moderate, High, and Critical.</a:t>
            </a:r>
            <a:endParaRPr lang="en-US" sz="1700"/>
          </a:p>
        </p:txBody>
      </p:sp>
      <p:sp>
        <p:nvSpPr>
          <p:cNvPr id="14" name="Bullet mark 2"/>
          <p:cNvSpPr/>
          <p:nvPr/>
        </p:nvSpPr>
        <p:spPr>
          <a:xfrm>
            <a:off x="628650" y="3095625"/>
            <a:ext cx="285750" cy="285750"/>
          </a:xfrm>
          <a:prstGeom prst="roundRect">
            <a:avLst/>
          </a:prstGeom>
          <a:solidFill>
            <a:srgbClr val="11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" name="Bullet 2"/>
          <p:cNvSpPr txBox="1"/>
          <p:nvPr/>
        </p:nvSpPr>
        <p:spPr>
          <a:xfrm>
            <a:off x="1123950" y="3019425"/>
            <a:ext cx="9906000" cy="5524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1700">
                <a:solidFill>
                  <a:srgbClr val="5B6472"/>
                </a:solidFill>
                <a:latin typeface="Aptos"/>
                <a:cs typeface="Aptos"/>
              </a:rPr>
              <a:t>Reasons explain the score, such as high complexity load, overdue tasks, high-priority tasks, or blocked work.</a:t>
            </a:r>
            <a:endParaRPr lang="en-US" sz="1700"/>
          </a:p>
        </p:txBody>
      </p:sp>
      <p:sp>
        <p:nvSpPr>
          <p:cNvPr id="16" name="Bullet mark 3"/>
          <p:cNvSpPr/>
          <p:nvPr/>
        </p:nvSpPr>
        <p:spPr>
          <a:xfrm>
            <a:off x="628650" y="3914775"/>
            <a:ext cx="285750" cy="285750"/>
          </a:xfrm>
          <a:prstGeom prst="roundRect">
            <a:avLst/>
          </a:prstGeom>
          <a:solidFill>
            <a:srgbClr val="1F9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7" name="Bullet 3"/>
          <p:cNvSpPr txBox="1"/>
          <p:nvPr/>
        </p:nvSpPr>
        <p:spPr>
          <a:xfrm>
            <a:off x="1123950" y="3838575"/>
            <a:ext cx="9906000" cy="5524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1700">
                <a:solidFill>
                  <a:srgbClr val="5B6472"/>
                </a:solidFill>
                <a:latin typeface="Aptos"/>
                <a:cs typeface="Aptos"/>
              </a:rPr>
              <a:t>Managers should use this to balance assignments and protect team capacity.</a:t>
            </a:r>
            <a:endParaRPr lang="en-US" sz="170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533400" y="685800"/>
            <a:ext cx="1714500" cy="95250"/>
          </a:xfrm>
          <a:prstGeom prst="rect">
            <a:avLst/>
          </a:prstGeom>
          <a:solidFill>
            <a:srgbClr val="1178B8"/>
          </a:solidFill>
          <a:ln w="12700">
            <a:solidFill>
              <a:srgbClr val="117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Part"/>
          <p:cNvSpPr txBox="1"/>
          <p:nvPr/>
        </p:nvSpPr>
        <p:spPr>
          <a:xfrm>
            <a:off x="609600" y="1428750"/>
            <a:ext cx="34290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4600" b="1">
                <a:solidFill>
                  <a:srgbClr val="1178B8"/>
                </a:solidFill>
                <a:latin typeface="Aptos"/>
                <a:cs typeface="Aptos"/>
              </a:rPr>
              <a:t>Part 7</a:t>
            </a:r>
            <a:endParaRPr lang="en-US" sz="4600"/>
          </a:p>
        </p:txBody>
      </p:sp>
      <p:sp>
        <p:nvSpPr>
          <p:cNvPr id="4" name="Subtitle"/>
          <p:cNvSpPr txBox="1"/>
          <p:nvPr/>
        </p:nvSpPr>
        <p:spPr>
          <a:xfrm>
            <a:off x="609600" y="2343150"/>
            <a:ext cx="7810500" cy="7239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3800" b="1">
                <a:solidFill>
                  <a:srgbClr val="111827"/>
                </a:solidFill>
                <a:latin typeface="Aptos"/>
                <a:cs typeface="Aptos"/>
              </a:rPr>
              <a:t>Performance, achievements, and attendance</a:t>
            </a:r>
            <a:endParaRPr lang="en-US" sz="3800"/>
          </a:p>
        </p:txBody>
      </p:sp>
      <p:sp>
        <p:nvSpPr>
          <p:cNvPr id="5" name="Body"/>
          <p:cNvSpPr txBox="1"/>
          <p:nvPr/>
        </p:nvSpPr>
        <p:spPr>
          <a:xfrm>
            <a:off x="647700" y="3429000"/>
            <a:ext cx="8191500" cy="9144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2200">
                <a:solidFill>
                  <a:srgbClr val="5B6472"/>
                </a:solidFill>
                <a:latin typeface="Aptos"/>
                <a:cs typeface="Aptos"/>
              </a:rPr>
              <a:t>How the system measures delivery fairly.</a:t>
            </a:r>
            <a:endParaRPr lang="en-US" sz="2200"/>
          </a:p>
        </p:txBody>
      </p:sp>
      <p:sp>
        <p:nvSpPr>
          <p:cNvPr id="6" name="Page"/>
          <p:cNvSpPr txBox="1"/>
          <p:nvPr/>
        </p:nvSpPr>
        <p:spPr>
          <a:xfrm>
            <a:off x="10763250" y="6419850"/>
            <a:ext cx="85725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1100">
                <a:solidFill>
                  <a:srgbClr val="5B6472"/>
                </a:solidFill>
                <a:latin typeface="Aptos"/>
                <a:cs typeface="Aptos"/>
              </a:rPr>
              <a:t>36</a:t>
            </a:r>
            <a:endParaRPr lang="en-US" sz="1100"/>
          </a:p>
        </p:txBody>
      </p:sp>
      <p:sp>
        <p:nvSpPr>
          <p:cNvPr id="7" name="Side"/>
          <p:cNvSpPr/>
          <p:nvPr/>
        </p:nvSpPr>
        <p:spPr>
          <a:xfrm>
            <a:off x="9334500" y="914400"/>
            <a:ext cx="1619250" cy="447675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B9C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457200" y="400050"/>
            <a:ext cx="1524000" cy="76200"/>
          </a:xfrm>
          <a:prstGeom prst="rect">
            <a:avLst/>
          </a:prstGeom>
          <a:solidFill>
            <a:srgbClr val="1178B8"/>
          </a:solidFill>
          <a:ln w="12700">
            <a:solidFill>
              <a:srgbClr val="117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Title"/>
          <p:cNvSpPr txBox="1"/>
          <p:nvPr/>
        </p:nvSpPr>
        <p:spPr>
          <a:xfrm>
            <a:off x="457200" y="628650"/>
            <a:ext cx="9144000" cy="5524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3400" b="1">
                <a:solidFill>
                  <a:srgbClr val="111827"/>
                </a:solidFill>
                <a:latin typeface="Aptos"/>
                <a:cs typeface="Aptos"/>
              </a:rPr>
              <a:t>Productivity page</a:t>
            </a:r>
            <a:endParaRPr lang="en-US" sz="3400"/>
          </a:p>
        </p:txBody>
      </p:sp>
      <p:sp>
        <p:nvSpPr>
          <p:cNvPr id="4" name="Footer"/>
          <p:cNvSpPr txBox="1"/>
          <p:nvPr/>
        </p:nvSpPr>
        <p:spPr>
          <a:xfrm>
            <a:off x="457200" y="6419850"/>
            <a:ext cx="66675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1100">
                <a:solidFill>
                  <a:srgbClr val="5B6472"/>
                </a:solidFill>
                <a:latin typeface="Aptos"/>
                <a:cs typeface="Aptos"/>
              </a:rPr>
              <a:t>MAB Task Allocator user manual</a:t>
            </a:r>
            <a:endParaRPr lang="en-US" sz="1100"/>
          </a:p>
        </p:txBody>
      </p:sp>
      <p:sp>
        <p:nvSpPr>
          <p:cNvPr id="5" name="Page"/>
          <p:cNvSpPr txBox="1"/>
          <p:nvPr/>
        </p:nvSpPr>
        <p:spPr>
          <a:xfrm>
            <a:off x="10801350" y="6419850"/>
            <a:ext cx="85725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1100">
                <a:solidFill>
                  <a:srgbClr val="5B6472"/>
                </a:solidFill>
                <a:latin typeface="Aptos"/>
                <a:cs typeface="Aptos"/>
              </a:rPr>
              <a:t>37</a:t>
            </a:r>
            <a:endParaRPr lang="en-US" sz="1100"/>
          </a:p>
        </p:txBody>
      </p:sp>
      <p:sp>
        <p:nvSpPr>
          <p:cNvPr id="10" name="Bullet mark 0"/>
          <p:cNvSpPr/>
          <p:nvPr/>
        </p:nvSpPr>
        <p:spPr>
          <a:xfrm>
            <a:off x="628650" y="1457325"/>
            <a:ext cx="285750" cy="285750"/>
          </a:xfrm>
          <a:prstGeom prst="roundRect">
            <a:avLst/>
          </a:prstGeom>
          <a:solidFill>
            <a:srgbClr val="11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Bullet 0"/>
          <p:cNvSpPr txBox="1"/>
          <p:nvPr/>
        </p:nvSpPr>
        <p:spPr>
          <a:xfrm>
            <a:off x="1123950" y="1381125"/>
            <a:ext cx="9906000" cy="5524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1700">
                <a:solidFill>
                  <a:srgbClr val="5B6472"/>
                </a:solidFill>
                <a:latin typeface="Aptos"/>
                <a:cs typeface="Aptos"/>
              </a:rPr>
              <a:t>Shows each normal user's assigned tasks, active tasks, completed tasks, overdue tasks, average progress, completion rate, on-time rate, active complexity, completed complexity, productivity index, achievement score, reopen count, and attendance KPI.</a:t>
            </a:r>
            <a:endParaRPr lang="en-US" sz="1700"/>
          </a:p>
        </p:txBody>
      </p:sp>
      <p:sp>
        <p:nvSpPr>
          <p:cNvPr id="12" name="Bullet mark 1"/>
          <p:cNvSpPr/>
          <p:nvPr/>
        </p:nvSpPr>
        <p:spPr>
          <a:xfrm>
            <a:off x="628650" y="2276475"/>
            <a:ext cx="285750" cy="285750"/>
          </a:xfrm>
          <a:prstGeom prst="roundRect">
            <a:avLst/>
          </a:prstGeom>
          <a:solidFill>
            <a:srgbClr val="1F9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3" name="Bullet 1"/>
          <p:cNvSpPr txBox="1"/>
          <p:nvPr/>
        </p:nvSpPr>
        <p:spPr>
          <a:xfrm>
            <a:off x="1123950" y="2200275"/>
            <a:ext cx="9906000" cy="5524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1700">
                <a:solidFill>
                  <a:srgbClr val="5B6472"/>
                </a:solidFill>
                <a:latin typeface="Aptos"/>
                <a:cs typeface="Aptos"/>
              </a:rPr>
              <a:t>Managers can filter by month or all-time.</a:t>
            </a:r>
            <a:endParaRPr lang="en-US" sz="1700"/>
          </a:p>
        </p:txBody>
      </p:sp>
      <p:sp>
        <p:nvSpPr>
          <p:cNvPr id="14" name="Bullet mark 2"/>
          <p:cNvSpPr/>
          <p:nvPr/>
        </p:nvSpPr>
        <p:spPr>
          <a:xfrm>
            <a:off x="628650" y="3095625"/>
            <a:ext cx="285750" cy="285750"/>
          </a:xfrm>
          <a:prstGeom prst="roundRect">
            <a:avLst/>
          </a:prstGeom>
          <a:solidFill>
            <a:srgbClr val="11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" name="Bullet 2"/>
          <p:cNvSpPr txBox="1"/>
          <p:nvPr/>
        </p:nvSpPr>
        <p:spPr>
          <a:xfrm>
            <a:off x="1123950" y="3019425"/>
            <a:ext cx="9906000" cy="5524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1700">
                <a:solidFill>
                  <a:srgbClr val="5B6472"/>
                </a:solidFill>
                <a:latin typeface="Aptos"/>
                <a:cs typeface="Aptos"/>
              </a:rPr>
              <a:t>Admins see their department users; super admin can see across departments.</a:t>
            </a:r>
            <a:endParaRPr lang="en-US" sz="1700"/>
          </a:p>
        </p:txBody>
      </p:sp>
      <p:sp>
        <p:nvSpPr>
          <p:cNvPr id="16" name="Bullet mark 3"/>
          <p:cNvSpPr/>
          <p:nvPr/>
        </p:nvSpPr>
        <p:spPr>
          <a:xfrm>
            <a:off x="628650" y="3914775"/>
            <a:ext cx="285750" cy="285750"/>
          </a:xfrm>
          <a:prstGeom prst="roundRect">
            <a:avLst/>
          </a:prstGeom>
          <a:solidFill>
            <a:srgbClr val="1F9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7" name="Bullet 3"/>
          <p:cNvSpPr txBox="1"/>
          <p:nvPr/>
        </p:nvSpPr>
        <p:spPr>
          <a:xfrm>
            <a:off x="1123950" y="3838575"/>
            <a:ext cx="9906000" cy="5524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1700">
                <a:solidFill>
                  <a:srgbClr val="5B6472"/>
                </a:solidFill>
                <a:latin typeface="Aptos"/>
                <a:cs typeface="Aptos"/>
              </a:rPr>
              <a:t>Excel reports can be downloaded from this page.</a:t>
            </a:r>
            <a:endParaRPr lang="en-US" sz="170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457200" y="400050"/>
            <a:ext cx="1524000" cy="76200"/>
          </a:xfrm>
          <a:prstGeom prst="rect">
            <a:avLst/>
          </a:prstGeom>
          <a:solidFill>
            <a:srgbClr val="1178B8"/>
          </a:solidFill>
          <a:ln w="12700">
            <a:solidFill>
              <a:srgbClr val="117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Title"/>
          <p:cNvSpPr txBox="1"/>
          <p:nvPr/>
        </p:nvSpPr>
        <p:spPr>
          <a:xfrm>
            <a:off x="457200" y="628650"/>
            <a:ext cx="9144000" cy="5524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3400" b="1">
                <a:solidFill>
                  <a:srgbClr val="111827"/>
                </a:solidFill>
                <a:latin typeface="Aptos"/>
                <a:cs typeface="Aptos"/>
              </a:rPr>
              <a:t>Achievements page</a:t>
            </a:r>
            <a:endParaRPr lang="en-US" sz="3400"/>
          </a:p>
        </p:txBody>
      </p:sp>
      <p:sp>
        <p:nvSpPr>
          <p:cNvPr id="4" name="Footer"/>
          <p:cNvSpPr txBox="1"/>
          <p:nvPr/>
        </p:nvSpPr>
        <p:spPr>
          <a:xfrm>
            <a:off x="457200" y="6419850"/>
            <a:ext cx="66675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1100">
                <a:solidFill>
                  <a:srgbClr val="5B6472"/>
                </a:solidFill>
                <a:latin typeface="Aptos"/>
                <a:cs typeface="Aptos"/>
              </a:rPr>
              <a:t>MAB Task Allocator user manual</a:t>
            </a:r>
            <a:endParaRPr lang="en-US" sz="1100"/>
          </a:p>
        </p:txBody>
      </p:sp>
      <p:sp>
        <p:nvSpPr>
          <p:cNvPr id="5" name="Page"/>
          <p:cNvSpPr txBox="1"/>
          <p:nvPr/>
        </p:nvSpPr>
        <p:spPr>
          <a:xfrm>
            <a:off x="10801350" y="6419850"/>
            <a:ext cx="85725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1100">
                <a:solidFill>
                  <a:srgbClr val="5B6472"/>
                </a:solidFill>
                <a:latin typeface="Aptos"/>
                <a:cs typeface="Aptos"/>
              </a:rPr>
              <a:t>38</a:t>
            </a:r>
            <a:endParaRPr lang="en-US" sz="1100"/>
          </a:p>
        </p:txBody>
      </p:sp>
      <p:sp>
        <p:nvSpPr>
          <p:cNvPr id="10" name="Bullet mark 0"/>
          <p:cNvSpPr/>
          <p:nvPr/>
        </p:nvSpPr>
        <p:spPr>
          <a:xfrm>
            <a:off x="628650" y="1457325"/>
            <a:ext cx="285750" cy="285750"/>
          </a:xfrm>
          <a:prstGeom prst="roundRect">
            <a:avLst/>
          </a:prstGeom>
          <a:solidFill>
            <a:srgbClr val="11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Bullet 0"/>
          <p:cNvSpPr txBox="1"/>
          <p:nvPr/>
        </p:nvSpPr>
        <p:spPr>
          <a:xfrm>
            <a:off x="1123950" y="1381125"/>
            <a:ext cx="9906000" cy="5524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1700">
                <a:solidFill>
                  <a:srgbClr val="5B6472"/>
                </a:solidFill>
                <a:latin typeface="Aptos"/>
                <a:cs typeface="Aptos"/>
              </a:rPr>
              <a:t>Achievements evaluate output with more context than raw task count.</a:t>
            </a:r>
            <a:endParaRPr lang="en-US" sz="1700"/>
          </a:p>
        </p:txBody>
      </p:sp>
      <p:sp>
        <p:nvSpPr>
          <p:cNvPr id="12" name="Bullet mark 1"/>
          <p:cNvSpPr/>
          <p:nvPr/>
        </p:nvSpPr>
        <p:spPr>
          <a:xfrm>
            <a:off x="628650" y="2276475"/>
            <a:ext cx="285750" cy="285750"/>
          </a:xfrm>
          <a:prstGeom prst="roundRect">
            <a:avLst/>
          </a:prstGeom>
          <a:solidFill>
            <a:srgbClr val="1F9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3" name="Bullet 1"/>
          <p:cNvSpPr txBox="1"/>
          <p:nvPr/>
        </p:nvSpPr>
        <p:spPr>
          <a:xfrm>
            <a:off x="1123950" y="2200275"/>
            <a:ext cx="9906000" cy="5524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1700">
                <a:solidFill>
                  <a:srgbClr val="5B6472"/>
                </a:solidFill>
                <a:latin typeface="Aptos"/>
                <a:cs typeface="Aptos"/>
              </a:rPr>
              <a:t>The score includes complexity-weighted output, speed versus comparable work, quality/reopen history, on-time reliability, teamwork, and confidence for sample size.</a:t>
            </a:r>
            <a:endParaRPr lang="en-US" sz="1700"/>
          </a:p>
        </p:txBody>
      </p:sp>
      <p:sp>
        <p:nvSpPr>
          <p:cNvPr id="14" name="Bullet mark 2"/>
          <p:cNvSpPr/>
          <p:nvPr/>
        </p:nvSpPr>
        <p:spPr>
          <a:xfrm>
            <a:off x="628650" y="3095625"/>
            <a:ext cx="285750" cy="285750"/>
          </a:xfrm>
          <a:prstGeom prst="roundRect">
            <a:avLst/>
          </a:prstGeom>
          <a:solidFill>
            <a:srgbClr val="11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" name="Bullet 2"/>
          <p:cNvSpPr txBox="1"/>
          <p:nvPr/>
        </p:nvSpPr>
        <p:spPr>
          <a:xfrm>
            <a:off x="1123950" y="3019425"/>
            <a:ext cx="9906000" cy="5524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1700">
                <a:solidFill>
                  <a:srgbClr val="5B6472"/>
                </a:solidFill>
                <a:latin typeface="Aptos"/>
                <a:cs typeface="Aptos"/>
              </a:rPr>
              <a:t>Statuses include Building history, Outstanding, Strong, Developing, and Needs support.</a:t>
            </a:r>
            <a:endParaRPr lang="en-US" sz="1700"/>
          </a:p>
        </p:txBody>
      </p:sp>
      <p:sp>
        <p:nvSpPr>
          <p:cNvPr id="16" name="Bullet mark 3"/>
          <p:cNvSpPr/>
          <p:nvPr/>
        </p:nvSpPr>
        <p:spPr>
          <a:xfrm>
            <a:off x="628650" y="3914775"/>
            <a:ext cx="285750" cy="285750"/>
          </a:xfrm>
          <a:prstGeom prst="roundRect">
            <a:avLst/>
          </a:prstGeom>
          <a:solidFill>
            <a:srgbClr val="1F9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7" name="Bullet 3"/>
          <p:cNvSpPr txBox="1"/>
          <p:nvPr/>
        </p:nvSpPr>
        <p:spPr>
          <a:xfrm>
            <a:off x="1123950" y="3838575"/>
            <a:ext cx="9906000" cy="5524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1700">
                <a:solidFill>
                  <a:srgbClr val="5B6472"/>
                </a:solidFill>
                <a:latin typeface="Aptos"/>
                <a:cs typeface="Aptos"/>
              </a:rPr>
              <a:t>The page supports month and department filtering for fair comparisons.</a:t>
            </a:r>
            <a:endParaRPr lang="en-US" sz="170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457200" y="400050"/>
            <a:ext cx="1524000" cy="76200"/>
          </a:xfrm>
          <a:prstGeom prst="rect">
            <a:avLst/>
          </a:prstGeom>
          <a:solidFill>
            <a:srgbClr val="1178B8"/>
          </a:solidFill>
          <a:ln w="12700">
            <a:solidFill>
              <a:srgbClr val="117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Title"/>
          <p:cNvSpPr txBox="1"/>
          <p:nvPr/>
        </p:nvSpPr>
        <p:spPr>
          <a:xfrm>
            <a:off x="457200" y="628650"/>
            <a:ext cx="9144000" cy="5524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3400" b="1">
                <a:solidFill>
                  <a:srgbClr val="111827"/>
                </a:solidFill>
                <a:latin typeface="Aptos"/>
                <a:cs typeface="Aptos"/>
              </a:rPr>
              <a:t>How achievement scoring works</a:t>
            </a:r>
            <a:endParaRPr lang="en-US" sz="3400"/>
          </a:p>
        </p:txBody>
      </p:sp>
      <p:sp>
        <p:nvSpPr>
          <p:cNvPr id="4" name="Footer"/>
          <p:cNvSpPr txBox="1"/>
          <p:nvPr/>
        </p:nvSpPr>
        <p:spPr>
          <a:xfrm>
            <a:off x="457200" y="6419850"/>
            <a:ext cx="66675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1100">
                <a:solidFill>
                  <a:srgbClr val="5B6472"/>
                </a:solidFill>
                <a:latin typeface="Aptos"/>
                <a:cs typeface="Aptos"/>
              </a:rPr>
              <a:t>MAB Task Allocator user manual</a:t>
            </a:r>
            <a:endParaRPr lang="en-US" sz="1100"/>
          </a:p>
        </p:txBody>
      </p:sp>
      <p:sp>
        <p:nvSpPr>
          <p:cNvPr id="5" name="Page"/>
          <p:cNvSpPr txBox="1"/>
          <p:nvPr/>
        </p:nvSpPr>
        <p:spPr>
          <a:xfrm>
            <a:off x="10801350" y="6419850"/>
            <a:ext cx="85725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1100">
                <a:solidFill>
                  <a:srgbClr val="5B6472"/>
                </a:solidFill>
                <a:latin typeface="Aptos"/>
                <a:cs typeface="Aptos"/>
              </a:rPr>
              <a:t>39</a:t>
            </a:r>
            <a:endParaRPr lang="en-US" sz="1100"/>
          </a:p>
        </p:txBody>
      </p:sp>
      <p:sp>
        <p:nvSpPr>
          <p:cNvPr id="10" name="Bullet mark 0"/>
          <p:cNvSpPr/>
          <p:nvPr/>
        </p:nvSpPr>
        <p:spPr>
          <a:xfrm>
            <a:off x="628650" y="1457325"/>
            <a:ext cx="285750" cy="285750"/>
          </a:xfrm>
          <a:prstGeom prst="roundRect">
            <a:avLst/>
          </a:prstGeom>
          <a:solidFill>
            <a:srgbClr val="11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Bullet 0"/>
          <p:cNvSpPr txBox="1"/>
          <p:nvPr/>
        </p:nvSpPr>
        <p:spPr>
          <a:xfrm>
            <a:off x="1123950" y="1381125"/>
            <a:ext cx="9906000" cy="5524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1500">
                <a:solidFill>
                  <a:srgbClr val="5B6472"/>
                </a:solidFill>
                <a:latin typeface="Aptos"/>
                <a:cs typeface="Aptos"/>
              </a:rPr>
              <a:t>Harder tasks start with more base points because complexity is multiplied into the score.</a:t>
            </a:r>
            <a:endParaRPr lang="en-US" sz="1500"/>
          </a:p>
        </p:txBody>
      </p:sp>
      <p:sp>
        <p:nvSpPr>
          <p:cNvPr id="12" name="Bullet mark 1"/>
          <p:cNvSpPr/>
          <p:nvPr/>
        </p:nvSpPr>
        <p:spPr>
          <a:xfrm>
            <a:off x="628650" y="2143125"/>
            <a:ext cx="285750" cy="285750"/>
          </a:xfrm>
          <a:prstGeom prst="roundRect">
            <a:avLst/>
          </a:prstGeom>
          <a:solidFill>
            <a:srgbClr val="1F9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3" name="Bullet 1"/>
          <p:cNvSpPr txBox="1"/>
          <p:nvPr/>
        </p:nvSpPr>
        <p:spPr>
          <a:xfrm>
            <a:off x="1123950" y="2066925"/>
            <a:ext cx="9906000" cy="5524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1500">
                <a:solidFill>
                  <a:srgbClr val="5B6472"/>
                </a:solidFill>
                <a:latin typeface="Aptos"/>
                <a:cs typeface="Aptos"/>
              </a:rPr>
              <a:t>Comparable speed rewards faster completion against similar historical tasks, with caps to prevent exaggerated scores.</a:t>
            </a:r>
            <a:endParaRPr lang="en-US" sz="1500"/>
          </a:p>
        </p:txBody>
      </p:sp>
      <p:sp>
        <p:nvSpPr>
          <p:cNvPr id="14" name="Bullet mark 2"/>
          <p:cNvSpPr/>
          <p:nvPr/>
        </p:nvSpPr>
        <p:spPr>
          <a:xfrm>
            <a:off x="628650" y="2828925"/>
            <a:ext cx="285750" cy="285750"/>
          </a:xfrm>
          <a:prstGeom prst="roundRect">
            <a:avLst/>
          </a:prstGeom>
          <a:solidFill>
            <a:srgbClr val="11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" name="Bullet 2"/>
          <p:cNvSpPr txBox="1"/>
          <p:nvPr/>
        </p:nvSpPr>
        <p:spPr>
          <a:xfrm>
            <a:off x="1123950" y="2752725"/>
            <a:ext cx="9906000" cy="5524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1500">
                <a:solidFill>
                  <a:srgbClr val="5B6472"/>
                </a:solidFill>
                <a:latin typeface="Aptos"/>
                <a:cs typeface="Aptos"/>
              </a:rPr>
              <a:t>Each admin reopen reduces quality score because rework indicates the first delivery was not acceptable.</a:t>
            </a:r>
            <a:endParaRPr lang="en-US" sz="1500"/>
          </a:p>
        </p:txBody>
      </p:sp>
      <p:sp>
        <p:nvSpPr>
          <p:cNvPr id="16" name="Bullet mark 3"/>
          <p:cNvSpPr/>
          <p:nvPr/>
        </p:nvSpPr>
        <p:spPr>
          <a:xfrm>
            <a:off x="628650" y="3514725"/>
            <a:ext cx="285750" cy="285750"/>
          </a:xfrm>
          <a:prstGeom prst="roundRect">
            <a:avLst/>
          </a:prstGeom>
          <a:solidFill>
            <a:srgbClr val="1F9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7" name="Bullet 3"/>
          <p:cNvSpPr txBox="1"/>
          <p:nvPr/>
        </p:nvSpPr>
        <p:spPr>
          <a:xfrm>
            <a:off x="1123950" y="3438525"/>
            <a:ext cx="9906000" cy="5524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1500">
                <a:solidFill>
                  <a:srgbClr val="5B6472"/>
                </a:solidFill>
                <a:latin typeface="Aptos"/>
                <a:cs typeface="Aptos"/>
              </a:rPr>
              <a:t>On-time delivery earns a bonus; late delivery receives a measured penalty.</a:t>
            </a:r>
            <a:endParaRPr lang="en-US" sz="1500"/>
          </a:p>
        </p:txBody>
      </p:sp>
      <p:sp>
        <p:nvSpPr>
          <p:cNvPr id="18" name="Bullet mark 4"/>
          <p:cNvSpPr/>
          <p:nvPr/>
        </p:nvSpPr>
        <p:spPr>
          <a:xfrm>
            <a:off x="628650" y="4200525"/>
            <a:ext cx="285750" cy="285750"/>
          </a:xfrm>
          <a:prstGeom prst="roundRect">
            <a:avLst/>
          </a:prstGeom>
          <a:solidFill>
            <a:srgbClr val="11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Bullet 4"/>
          <p:cNvSpPr txBox="1"/>
          <p:nvPr/>
        </p:nvSpPr>
        <p:spPr>
          <a:xfrm>
            <a:off x="1123950" y="4124325"/>
            <a:ext cx="9906000" cy="5524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1500">
                <a:solidFill>
                  <a:srgbClr val="5B6472"/>
                </a:solidFill>
                <a:latin typeface="Aptos"/>
                <a:cs typeface="Aptos"/>
              </a:rPr>
              <a:t>Collaborative tasks get a teamwork bonus, but contribution is shared fairly across assignees.</a:t>
            </a:r>
            <a:endParaRPr lang="en-US" sz="1500"/>
          </a:p>
        </p:txBody>
      </p:sp>
      <p:sp>
        <p:nvSpPr>
          <p:cNvPr id="20" name="Bullet mark 5"/>
          <p:cNvSpPr/>
          <p:nvPr/>
        </p:nvSpPr>
        <p:spPr>
          <a:xfrm>
            <a:off x="628650" y="4886325"/>
            <a:ext cx="285750" cy="285750"/>
          </a:xfrm>
          <a:prstGeom prst="roundRect">
            <a:avLst/>
          </a:prstGeom>
          <a:solidFill>
            <a:srgbClr val="1F9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Bullet 5"/>
          <p:cNvSpPr txBox="1"/>
          <p:nvPr/>
        </p:nvSpPr>
        <p:spPr>
          <a:xfrm>
            <a:off x="1123950" y="4810125"/>
            <a:ext cx="9906000" cy="5524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1500">
                <a:solidFill>
                  <a:srgbClr val="5B6472"/>
                </a:solidFill>
                <a:latin typeface="Aptos"/>
                <a:cs typeface="Aptos"/>
              </a:rPr>
              <a:t>Low sample sizes are pulled toward neutral so one small task cannot create a misleading top score.</a:t>
            </a:r>
            <a:endParaRPr lang="en-US" sz="150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457200" y="400050"/>
            <a:ext cx="1524000" cy="76200"/>
          </a:xfrm>
          <a:prstGeom prst="rect">
            <a:avLst/>
          </a:prstGeom>
          <a:solidFill>
            <a:srgbClr val="1178B8"/>
          </a:solidFill>
          <a:ln w="12700">
            <a:solidFill>
              <a:srgbClr val="117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Title"/>
          <p:cNvSpPr txBox="1"/>
          <p:nvPr/>
        </p:nvSpPr>
        <p:spPr>
          <a:xfrm>
            <a:off x="457200" y="628650"/>
            <a:ext cx="9144000" cy="5524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3400" b="1">
                <a:solidFill>
                  <a:srgbClr val="111827"/>
                </a:solidFill>
                <a:latin typeface="Aptos"/>
                <a:cs typeface="Aptos"/>
              </a:rPr>
              <a:t>Attendance page</a:t>
            </a:r>
            <a:endParaRPr lang="en-US" sz="3400"/>
          </a:p>
        </p:txBody>
      </p:sp>
      <p:sp>
        <p:nvSpPr>
          <p:cNvPr id="4" name="Footer"/>
          <p:cNvSpPr txBox="1"/>
          <p:nvPr/>
        </p:nvSpPr>
        <p:spPr>
          <a:xfrm>
            <a:off x="457200" y="6419850"/>
            <a:ext cx="66675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1100">
                <a:solidFill>
                  <a:srgbClr val="5B6472"/>
                </a:solidFill>
                <a:latin typeface="Aptos"/>
                <a:cs typeface="Aptos"/>
              </a:rPr>
              <a:t>MAB Task Allocator user manual</a:t>
            </a:r>
            <a:endParaRPr lang="en-US" sz="1100"/>
          </a:p>
        </p:txBody>
      </p:sp>
      <p:sp>
        <p:nvSpPr>
          <p:cNvPr id="5" name="Page"/>
          <p:cNvSpPr txBox="1"/>
          <p:nvPr/>
        </p:nvSpPr>
        <p:spPr>
          <a:xfrm>
            <a:off x="10801350" y="6419850"/>
            <a:ext cx="85725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1100">
                <a:solidFill>
                  <a:srgbClr val="5B6472"/>
                </a:solidFill>
                <a:latin typeface="Aptos"/>
                <a:cs typeface="Aptos"/>
              </a:rPr>
              <a:t>40</a:t>
            </a:r>
            <a:endParaRPr lang="en-US" sz="1100"/>
          </a:p>
        </p:txBody>
      </p:sp>
      <p:sp>
        <p:nvSpPr>
          <p:cNvPr id="10" name="Bullet mark 0"/>
          <p:cNvSpPr/>
          <p:nvPr/>
        </p:nvSpPr>
        <p:spPr>
          <a:xfrm>
            <a:off x="628650" y="1457325"/>
            <a:ext cx="285750" cy="285750"/>
          </a:xfrm>
          <a:prstGeom prst="roundRect">
            <a:avLst/>
          </a:prstGeom>
          <a:solidFill>
            <a:srgbClr val="11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Bullet 0"/>
          <p:cNvSpPr txBox="1"/>
          <p:nvPr/>
        </p:nvSpPr>
        <p:spPr>
          <a:xfrm>
            <a:off x="1123950" y="1381125"/>
            <a:ext cx="9906000" cy="5524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1700">
                <a:solidFill>
                  <a:srgbClr val="5B6472"/>
                </a:solidFill>
                <a:latin typeface="Aptos"/>
                <a:cs typeface="Aptos"/>
              </a:rPr>
              <a:t>Attendance is recorded at first successful login for each Riyadh workday.</a:t>
            </a:r>
            <a:endParaRPr lang="en-US" sz="1700"/>
          </a:p>
        </p:txBody>
      </p:sp>
      <p:sp>
        <p:nvSpPr>
          <p:cNvPr id="12" name="Bullet mark 1"/>
          <p:cNvSpPr/>
          <p:nvPr/>
        </p:nvSpPr>
        <p:spPr>
          <a:xfrm>
            <a:off x="628650" y="2276475"/>
            <a:ext cx="285750" cy="285750"/>
          </a:xfrm>
          <a:prstGeom prst="roundRect">
            <a:avLst/>
          </a:prstGeom>
          <a:solidFill>
            <a:srgbClr val="1F9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3" name="Bullet 1"/>
          <p:cNvSpPr txBox="1"/>
          <p:nvPr/>
        </p:nvSpPr>
        <p:spPr>
          <a:xfrm>
            <a:off x="1123950" y="2200275"/>
            <a:ext cx="9906000" cy="5524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1700">
                <a:solidFill>
                  <a:srgbClr val="5B6472"/>
                </a:solidFill>
                <a:latin typeface="Aptos"/>
                <a:cs typeface="Aptos"/>
              </a:rPr>
              <a:t>The page shows present days, expected workdays, attendance rate, login sessions, and last login.</a:t>
            </a:r>
            <a:endParaRPr lang="en-US" sz="1700"/>
          </a:p>
        </p:txBody>
      </p:sp>
      <p:sp>
        <p:nvSpPr>
          <p:cNvPr id="14" name="Bullet mark 2"/>
          <p:cNvSpPr/>
          <p:nvPr/>
        </p:nvSpPr>
        <p:spPr>
          <a:xfrm>
            <a:off x="628650" y="3095625"/>
            <a:ext cx="285750" cy="285750"/>
          </a:xfrm>
          <a:prstGeom prst="roundRect">
            <a:avLst/>
          </a:prstGeom>
          <a:solidFill>
            <a:srgbClr val="11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" name="Bullet 2"/>
          <p:cNvSpPr txBox="1"/>
          <p:nvPr/>
        </p:nvSpPr>
        <p:spPr>
          <a:xfrm>
            <a:off x="1123950" y="3019425"/>
            <a:ext cx="9906000" cy="5524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1700">
                <a:solidFill>
                  <a:srgbClr val="5B6472"/>
                </a:solidFill>
                <a:latin typeface="Aptos"/>
                <a:cs typeface="Aptos"/>
              </a:rPr>
              <a:t>Attendance contributes 15 percent to the productivity index when a baseline exists.</a:t>
            </a:r>
            <a:endParaRPr lang="en-US" sz="1700"/>
          </a:p>
        </p:txBody>
      </p:sp>
      <p:sp>
        <p:nvSpPr>
          <p:cNvPr id="16" name="Bullet mark 3"/>
          <p:cNvSpPr/>
          <p:nvPr/>
        </p:nvSpPr>
        <p:spPr>
          <a:xfrm>
            <a:off x="628650" y="3914775"/>
            <a:ext cx="285750" cy="285750"/>
          </a:xfrm>
          <a:prstGeom prst="roundRect">
            <a:avLst/>
          </a:prstGeom>
          <a:solidFill>
            <a:srgbClr val="1F9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7" name="Bullet 3"/>
          <p:cNvSpPr txBox="1"/>
          <p:nvPr/>
        </p:nvSpPr>
        <p:spPr>
          <a:xfrm>
            <a:off x="1123950" y="3838575"/>
            <a:ext cx="9906000" cy="5524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1700">
                <a:solidFill>
                  <a:srgbClr val="5B6472"/>
                </a:solidFill>
                <a:latin typeface="Aptos"/>
                <a:cs typeface="Aptos"/>
              </a:rPr>
              <a:t>Users can see their own attendance; managers can see users within their scope.</a:t>
            </a:r>
            <a:endParaRPr lang="en-US" sz="170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533400" y="685800"/>
            <a:ext cx="1714500" cy="95250"/>
          </a:xfrm>
          <a:prstGeom prst="rect">
            <a:avLst/>
          </a:prstGeom>
          <a:solidFill>
            <a:srgbClr val="1178B8"/>
          </a:solidFill>
          <a:ln w="12700">
            <a:solidFill>
              <a:srgbClr val="117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Part"/>
          <p:cNvSpPr txBox="1"/>
          <p:nvPr/>
        </p:nvSpPr>
        <p:spPr>
          <a:xfrm>
            <a:off x="609600" y="1428750"/>
            <a:ext cx="34290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4600" b="1">
                <a:solidFill>
                  <a:srgbClr val="1178B8"/>
                </a:solidFill>
                <a:latin typeface="Aptos"/>
                <a:cs typeface="Aptos"/>
              </a:rPr>
              <a:t>Part 8</a:t>
            </a:r>
            <a:endParaRPr lang="en-US" sz="4600"/>
          </a:p>
        </p:txBody>
      </p:sp>
      <p:sp>
        <p:nvSpPr>
          <p:cNvPr id="4" name="Subtitle"/>
          <p:cNvSpPr txBox="1"/>
          <p:nvPr/>
        </p:nvSpPr>
        <p:spPr>
          <a:xfrm>
            <a:off x="609600" y="2343150"/>
            <a:ext cx="7810500" cy="7239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3800" b="1">
                <a:solidFill>
                  <a:srgbClr val="111827"/>
                </a:solidFill>
                <a:latin typeface="Aptos"/>
                <a:cs typeface="Aptos"/>
              </a:rPr>
              <a:t>Governance, reports, and settings</a:t>
            </a:r>
            <a:endParaRPr lang="en-US" sz="3800"/>
          </a:p>
        </p:txBody>
      </p:sp>
      <p:sp>
        <p:nvSpPr>
          <p:cNvPr id="5" name="Body"/>
          <p:cNvSpPr txBox="1"/>
          <p:nvPr/>
        </p:nvSpPr>
        <p:spPr>
          <a:xfrm>
            <a:off x="647700" y="3429000"/>
            <a:ext cx="8191500" cy="9144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2200">
                <a:solidFill>
                  <a:srgbClr val="5B6472"/>
                </a:solidFill>
                <a:latin typeface="Aptos"/>
                <a:cs typeface="Aptos"/>
              </a:rPr>
              <a:t>How managers keep the data reliable.</a:t>
            </a:r>
            <a:endParaRPr lang="en-US" sz="2200"/>
          </a:p>
        </p:txBody>
      </p:sp>
      <p:sp>
        <p:nvSpPr>
          <p:cNvPr id="6" name="Page"/>
          <p:cNvSpPr txBox="1"/>
          <p:nvPr/>
        </p:nvSpPr>
        <p:spPr>
          <a:xfrm>
            <a:off x="10763250" y="6419850"/>
            <a:ext cx="85725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1100">
                <a:solidFill>
                  <a:srgbClr val="5B6472"/>
                </a:solidFill>
                <a:latin typeface="Aptos"/>
                <a:cs typeface="Aptos"/>
              </a:rPr>
              <a:t>41</a:t>
            </a:r>
            <a:endParaRPr lang="en-US" sz="1100"/>
          </a:p>
        </p:txBody>
      </p:sp>
      <p:sp>
        <p:nvSpPr>
          <p:cNvPr id="7" name="Side"/>
          <p:cNvSpPr/>
          <p:nvPr/>
        </p:nvSpPr>
        <p:spPr>
          <a:xfrm>
            <a:off x="9334500" y="914400"/>
            <a:ext cx="1619250" cy="447675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B9C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457200" y="400050"/>
            <a:ext cx="1524000" cy="76200"/>
          </a:xfrm>
          <a:prstGeom prst="rect">
            <a:avLst/>
          </a:prstGeom>
          <a:solidFill>
            <a:srgbClr val="1178B8"/>
          </a:solidFill>
          <a:ln w="12700">
            <a:solidFill>
              <a:srgbClr val="117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Title"/>
          <p:cNvSpPr txBox="1"/>
          <p:nvPr/>
        </p:nvSpPr>
        <p:spPr>
          <a:xfrm>
            <a:off x="457200" y="628650"/>
            <a:ext cx="9144000" cy="5524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3400" b="1">
                <a:solidFill>
                  <a:srgbClr val="111827"/>
                </a:solidFill>
                <a:latin typeface="Aptos"/>
                <a:cs typeface="Aptos"/>
              </a:rPr>
              <a:t>Admin Audit</a:t>
            </a:r>
            <a:endParaRPr lang="en-US" sz="3400"/>
          </a:p>
        </p:txBody>
      </p:sp>
      <p:sp>
        <p:nvSpPr>
          <p:cNvPr id="4" name="Footer"/>
          <p:cNvSpPr txBox="1"/>
          <p:nvPr/>
        </p:nvSpPr>
        <p:spPr>
          <a:xfrm>
            <a:off x="457200" y="6419850"/>
            <a:ext cx="66675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1100">
                <a:solidFill>
                  <a:srgbClr val="5B6472"/>
                </a:solidFill>
                <a:latin typeface="Aptos"/>
                <a:cs typeface="Aptos"/>
              </a:rPr>
              <a:t>MAB Task Allocator user manual</a:t>
            </a:r>
            <a:endParaRPr lang="en-US" sz="1100"/>
          </a:p>
        </p:txBody>
      </p:sp>
      <p:sp>
        <p:nvSpPr>
          <p:cNvPr id="5" name="Page"/>
          <p:cNvSpPr txBox="1"/>
          <p:nvPr/>
        </p:nvSpPr>
        <p:spPr>
          <a:xfrm>
            <a:off x="10801350" y="6419850"/>
            <a:ext cx="85725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1100">
                <a:solidFill>
                  <a:srgbClr val="5B6472"/>
                </a:solidFill>
                <a:latin typeface="Aptos"/>
                <a:cs typeface="Aptos"/>
              </a:rPr>
              <a:t>42</a:t>
            </a:r>
            <a:endParaRPr lang="en-US" sz="1100"/>
          </a:p>
        </p:txBody>
      </p:sp>
      <p:sp>
        <p:nvSpPr>
          <p:cNvPr id="10" name="Bullet mark 0"/>
          <p:cNvSpPr/>
          <p:nvPr/>
        </p:nvSpPr>
        <p:spPr>
          <a:xfrm>
            <a:off x="628650" y="1457325"/>
            <a:ext cx="285750" cy="285750"/>
          </a:xfrm>
          <a:prstGeom prst="roundRect">
            <a:avLst/>
          </a:prstGeom>
          <a:solidFill>
            <a:srgbClr val="11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Bullet 0"/>
          <p:cNvSpPr txBox="1"/>
          <p:nvPr/>
        </p:nvSpPr>
        <p:spPr>
          <a:xfrm>
            <a:off x="1123950" y="1381125"/>
            <a:ext cx="9906000" cy="5524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1700">
                <a:solidFill>
                  <a:srgbClr val="5B6472"/>
                </a:solidFill>
                <a:latin typeface="Aptos"/>
                <a:cs typeface="Aptos"/>
              </a:rPr>
              <a:t>Admin Audit is an immutable management trail.</a:t>
            </a:r>
            <a:endParaRPr lang="en-US" sz="1700"/>
          </a:p>
        </p:txBody>
      </p:sp>
      <p:sp>
        <p:nvSpPr>
          <p:cNvPr id="12" name="Bullet mark 1"/>
          <p:cNvSpPr/>
          <p:nvPr/>
        </p:nvSpPr>
        <p:spPr>
          <a:xfrm>
            <a:off x="628650" y="2276475"/>
            <a:ext cx="285750" cy="285750"/>
          </a:xfrm>
          <a:prstGeom prst="roundRect">
            <a:avLst/>
          </a:prstGeom>
          <a:solidFill>
            <a:srgbClr val="1F9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3" name="Bullet 1"/>
          <p:cNvSpPr txBox="1"/>
          <p:nvPr/>
        </p:nvSpPr>
        <p:spPr>
          <a:xfrm>
            <a:off x="1123950" y="2200275"/>
            <a:ext cx="9906000" cy="5524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1700">
                <a:solidFill>
                  <a:srgbClr val="5B6472"/>
                </a:solidFill>
                <a:latin typeface="Aptos"/>
                <a:cs typeface="Aptos"/>
              </a:rPr>
              <a:t>It records user, project, department, task, import, update, and deletion operations.</a:t>
            </a:r>
            <a:endParaRPr lang="en-US" sz="1700"/>
          </a:p>
        </p:txBody>
      </p:sp>
      <p:sp>
        <p:nvSpPr>
          <p:cNvPr id="14" name="Bullet mark 2"/>
          <p:cNvSpPr/>
          <p:nvPr/>
        </p:nvSpPr>
        <p:spPr>
          <a:xfrm>
            <a:off x="628650" y="3095625"/>
            <a:ext cx="285750" cy="285750"/>
          </a:xfrm>
          <a:prstGeom prst="roundRect">
            <a:avLst/>
          </a:prstGeom>
          <a:solidFill>
            <a:srgbClr val="11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" name="Bullet 2"/>
          <p:cNvSpPr txBox="1"/>
          <p:nvPr/>
        </p:nvSpPr>
        <p:spPr>
          <a:xfrm>
            <a:off x="1123950" y="3019425"/>
            <a:ext cx="9906000" cy="5524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1700">
                <a:solidFill>
                  <a:srgbClr val="5B6472"/>
                </a:solidFill>
                <a:latin typeface="Aptos"/>
                <a:cs typeface="Aptos"/>
              </a:rPr>
              <a:t>Super admin can view the full organization audit trail.</a:t>
            </a:r>
            <a:endParaRPr lang="en-US" sz="1700"/>
          </a:p>
        </p:txBody>
      </p:sp>
      <p:sp>
        <p:nvSpPr>
          <p:cNvPr id="16" name="Bullet mark 3"/>
          <p:cNvSpPr/>
          <p:nvPr/>
        </p:nvSpPr>
        <p:spPr>
          <a:xfrm>
            <a:off x="628650" y="3914775"/>
            <a:ext cx="285750" cy="285750"/>
          </a:xfrm>
          <a:prstGeom prst="roundRect">
            <a:avLst/>
          </a:prstGeom>
          <a:solidFill>
            <a:srgbClr val="1F9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7" name="Bullet 3"/>
          <p:cNvSpPr txBox="1"/>
          <p:nvPr/>
        </p:nvSpPr>
        <p:spPr>
          <a:xfrm>
            <a:off x="1123950" y="3838575"/>
            <a:ext cx="9906000" cy="5524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1700">
                <a:solidFill>
                  <a:srgbClr val="5B6472"/>
                </a:solidFill>
                <a:latin typeface="Aptos"/>
                <a:cs typeface="Aptos"/>
              </a:rPr>
              <a:t>Admins can view audit events inside their own department.</a:t>
            </a:r>
            <a:endParaRPr lang="en-US" sz="1700"/>
          </a:p>
        </p:txBody>
      </p:sp>
      <p:sp>
        <p:nvSpPr>
          <p:cNvPr id="18" name="Bullet mark 4"/>
          <p:cNvSpPr/>
          <p:nvPr/>
        </p:nvSpPr>
        <p:spPr>
          <a:xfrm>
            <a:off x="628650" y="4733925"/>
            <a:ext cx="285750" cy="285750"/>
          </a:xfrm>
          <a:prstGeom prst="roundRect">
            <a:avLst/>
          </a:prstGeom>
          <a:solidFill>
            <a:srgbClr val="11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Bullet 4"/>
          <p:cNvSpPr txBox="1"/>
          <p:nvPr/>
        </p:nvSpPr>
        <p:spPr>
          <a:xfrm>
            <a:off x="1123950" y="4657725"/>
            <a:ext cx="9906000" cy="5524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1700">
                <a:solidFill>
                  <a:srgbClr val="5B6472"/>
                </a:solidFill>
                <a:latin typeface="Aptos"/>
                <a:cs typeface="Aptos"/>
              </a:rPr>
              <a:t>The search box filters by actor, action, entity, department, or details.</a:t>
            </a:r>
            <a:endParaRPr lang="en-US" sz="170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457200" y="400050"/>
            <a:ext cx="1524000" cy="76200"/>
          </a:xfrm>
          <a:prstGeom prst="rect">
            <a:avLst/>
          </a:prstGeom>
          <a:solidFill>
            <a:srgbClr val="1178B8"/>
          </a:solidFill>
          <a:ln w="12700">
            <a:solidFill>
              <a:srgbClr val="117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Title"/>
          <p:cNvSpPr txBox="1"/>
          <p:nvPr/>
        </p:nvSpPr>
        <p:spPr>
          <a:xfrm>
            <a:off x="457200" y="628650"/>
            <a:ext cx="9144000" cy="5524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3400" b="1">
                <a:solidFill>
                  <a:srgbClr val="111827"/>
                </a:solidFill>
                <a:latin typeface="Aptos"/>
                <a:cs typeface="Aptos"/>
              </a:rPr>
              <a:t>Finished Tasks archive</a:t>
            </a:r>
            <a:endParaRPr lang="en-US" sz="3400"/>
          </a:p>
        </p:txBody>
      </p:sp>
      <p:sp>
        <p:nvSpPr>
          <p:cNvPr id="4" name="Footer"/>
          <p:cNvSpPr txBox="1"/>
          <p:nvPr/>
        </p:nvSpPr>
        <p:spPr>
          <a:xfrm>
            <a:off x="457200" y="6419850"/>
            <a:ext cx="66675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1100">
                <a:solidFill>
                  <a:srgbClr val="5B6472"/>
                </a:solidFill>
                <a:latin typeface="Aptos"/>
                <a:cs typeface="Aptos"/>
              </a:rPr>
              <a:t>MAB Task Allocator user manual</a:t>
            </a:r>
            <a:endParaRPr lang="en-US" sz="1100"/>
          </a:p>
        </p:txBody>
      </p:sp>
      <p:sp>
        <p:nvSpPr>
          <p:cNvPr id="5" name="Page"/>
          <p:cNvSpPr txBox="1"/>
          <p:nvPr/>
        </p:nvSpPr>
        <p:spPr>
          <a:xfrm>
            <a:off x="10801350" y="6419850"/>
            <a:ext cx="85725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1100">
                <a:solidFill>
                  <a:srgbClr val="5B6472"/>
                </a:solidFill>
                <a:latin typeface="Aptos"/>
                <a:cs typeface="Aptos"/>
              </a:rPr>
              <a:t>43</a:t>
            </a:r>
            <a:endParaRPr lang="en-US" sz="1100"/>
          </a:p>
        </p:txBody>
      </p:sp>
      <p:sp>
        <p:nvSpPr>
          <p:cNvPr id="10" name="Bullet mark 0"/>
          <p:cNvSpPr/>
          <p:nvPr/>
        </p:nvSpPr>
        <p:spPr>
          <a:xfrm>
            <a:off x="628650" y="1457325"/>
            <a:ext cx="285750" cy="285750"/>
          </a:xfrm>
          <a:prstGeom prst="roundRect">
            <a:avLst/>
          </a:prstGeom>
          <a:solidFill>
            <a:srgbClr val="11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Bullet 0"/>
          <p:cNvSpPr txBox="1"/>
          <p:nvPr/>
        </p:nvSpPr>
        <p:spPr>
          <a:xfrm>
            <a:off x="1123950" y="1381125"/>
            <a:ext cx="9906000" cy="5524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1700">
                <a:solidFill>
                  <a:srgbClr val="5B6472"/>
                </a:solidFill>
                <a:latin typeface="Aptos"/>
                <a:cs typeface="Aptos"/>
              </a:rPr>
              <a:t>Approved tasks move to Finished Tasks and stay available for reference.</a:t>
            </a:r>
            <a:endParaRPr lang="en-US" sz="1700"/>
          </a:p>
        </p:txBody>
      </p:sp>
      <p:sp>
        <p:nvSpPr>
          <p:cNvPr id="12" name="Bullet mark 1"/>
          <p:cNvSpPr/>
          <p:nvPr/>
        </p:nvSpPr>
        <p:spPr>
          <a:xfrm>
            <a:off x="628650" y="2276475"/>
            <a:ext cx="285750" cy="285750"/>
          </a:xfrm>
          <a:prstGeom prst="roundRect">
            <a:avLst/>
          </a:prstGeom>
          <a:solidFill>
            <a:srgbClr val="1F9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3" name="Bullet 1"/>
          <p:cNvSpPr txBox="1"/>
          <p:nvPr/>
        </p:nvSpPr>
        <p:spPr>
          <a:xfrm>
            <a:off x="1123950" y="2200275"/>
            <a:ext cx="9906000" cy="5524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1700">
                <a:solidFill>
                  <a:srgbClr val="5B6472"/>
                </a:solidFill>
                <a:latin typeface="Aptos"/>
                <a:cs typeface="Aptos"/>
              </a:rPr>
              <a:t>The archive can be searched by task ID and filtered by priority, assigned person, and completion date.</a:t>
            </a:r>
            <a:endParaRPr lang="en-US" sz="1700"/>
          </a:p>
        </p:txBody>
      </p:sp>
      <p:sp>
        <p:nvSpPr>
          <p:cNvPr id="14" name="Bullet mark 2"/>
          <p:cNvSpPr/>
          <p:nvPr/>
        </p:nvSpPr>
        <p:spPr>
          <a:xfrm>
            <a:off x="628650" y="3095625"/>
            <a:ext cx="285750" cy="285750"/>
          </a:xfrm>
          <a:prstGeom prst="roundRect">
            <a:avLst/>
          </a:prstGeom>
          <a:solidFill>
            <a:srgbClr val="11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" name="Bullet 2"/>
          <p:cNvSpPr txBox="1"/>
          <p:nvPr/>
        </p:nvSpPr>
        <p:spPr>
          <a:xfrm>
            <a:off x="1123950" y="3019425"/>
            <a:ext cx="9906000" cy="5524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1700">
                <a:solidFill>
                  <a:srgbClr val="5B6472"/>
                </a:solidFill>
                <a:latin typeface="Aptos"/>
                <a:cs typeface="Aptos"/>
              </a:rPr>
              <a:t>Finished task details include department, task type, due date, final progress, complexity, start date, review notes, files, and comments.</a:t>
            </a:r>
            <a:endParaRPr lang="en-US" sz="1700"/>
          </a:p>
        </p:txBody>
      </p:sp>
      <p:sp>
        <p:nvSpPr>
          <p:cNvPr id="16" name="Bullet mark 3"/>
          <p:cNvSpPr/>
          <p:nvPr/>
        </p:nvSpPr>
        <p:spPr>
          <a:xfrm>
            <a:off x="628650" y="3914775"/>
            <a:ext cx="285750" cy="285750"/>
          </a:xfrm>
          <a:prstGeom prst="roundRect">
            <a:avLst/>
          </a:prstGeom>
          <a:solidFill>
            <a:srgbClr val="1F9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7" name="Bullet 3"/>
          <p:cNvSpPr txBox="1"/>
          <p:nvPr/>
        </p:nvSpPr>
        <p:spPr>
          <a:xfrm>
            <a:off x="1123950" y="3838575"/>
            <a:ext cx="9906000" cy="5524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1700">
                <a:solidFill>
                  <a:srgbClr val="5B6472"/>
                </a:solidFill>
                <a:latin typeface="Aptos"/>
                <a:cs typeface="Aptos"/>
              </a:rPr>
              <a:t>Managers can reopen a completed task with a comment if more work is required.</a:t>
            </a:r>
            <a:endParaRPr lang="en-US" sz="170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457200" y="400050"/>
            <a:ext cx="1524000" cy="76200"/>
          </a:xfrm>
          <a:prstGeom prst="rect">
            <a:avLst/>
          </a:prstGeom>
          <a:solidFill>
            <a:srgbClr val="1178B8"/>
          </a:solidFill>
          <a:ln w="12700">
            <a:solidFill>
              <a:srgbClr val="117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Title"/>
          <p:cNvSpPr txBox="1"/>
          <p:nvPr/>
        </p:nvSpPr>
        <p:spPr>
          <a:xfrm>
            <a:off x="457200" y="628650"/>
            <a:ext cx="9144000" cy="5524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3400" b="1">
                <a:solidFill>
                  <a:srgbClr val="111827"/>
                </a:solidFill>
                <a:latin typeface="Aptos"/>
                <a:cs typeface="Aptos"/>
              </a:rPr>
              <a:t>My TODOs</a:t>
            </a:r>
            <a:endParaRPr lang="en-US" sz="3400"/>
          </a:p>
        </p:txBody>
      </p:sp>
      <p:sp>
        <p:nvSpPr>
          <p:cNvPr id="4" name="Footer"/>
          <p:cNvSpPr txBox="1"/>
          <p:nvPr/>
        </p:nvSpPr>
        <p:spPr>
          <a:xfrm>
            <a:off x="457200" y="6419850"/>
            <a:ext cx="66675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1100">
                <a:solidFill>
                  <a:srgbClr val="5B6472"/>
                </a:solidFill>
                <a:latin typeface="Aptos"/>
                <a:cs typeface="Aptos"/>
              </a:rPr>
              <a:t>MAB Task Allocator user manual</a:t>
            </a:r>
            <a:endParaRPr lang="en-US" sz="1100"/>
          </a:p>
        </p:txBody>
      </p:sp>
      <p:sp>
        <p:nvSpPr>
          <p:cNvPr id="5" name="Page"/>
          <p:cNvSpPr txBox="1"/>
          <p:nvPr/>
        </p:nvSpPr>
        <p:spPr>
          <a:xfrm>
            <a:off x="10801350" y="6419850"/>
            <a:ext cx="85725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1100">
                <a:solidFill>
                  <a:srgbClr val="5B6472"/>
                </a:solidFill>
                <a:latin typeface="Aptos"/>
                <a:cs typeface="Aptos"/>
              </a:rPr>
              <a:t>44</a:t>
            </a:r>
            <a:endParaRPr lang="en-US" sz="1100"/>
          </a:p>
        </p:txBody>
      </p:sp>
      <p:sp>
        <p:nvSpPr>
          <p:cNvPr id="10" name="Bullet mark 0"/>
          <p:cNvSpPr/>
          <p:nvPr/>
        </p:nvSpPr>
        <p:spPr>
          <a:xfrm>
            <a:off x="628650" y="1457325"/>
            <a:ext cx="285750" cy="285750"/>
          </a:xfrm>
          <a:prstGeom prst="roundRect">
            <a:avLst/>
          </a:prstGeom>
          <a:solidFill>
            <a:srgbClr val="11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Bullet 0"/>
          <p:cNvSpPr txBox="1"/>
          <p:nvPr/>
        </p:nvSpPr>
        <p:spPr>
          <a:xfrm>
            <a:off x="1123950" y="1381125"/>
            <a:ext cx="9906000" cy="5524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1700">
                <a:solidFill>
                  <a:srgbClr val="5B6472"/>
                </a:solidFill>
                <a:latin typeface="Aptos"/>
                <a:cs typeface="Aptos"/>
              </a:rPr>
              <a:t>TODOs are personal checklist items for the logged-in user.</a:t>
            </a:r>
            <a:endParaRPr lang="en-US" sz="1700"/>
          </a:p>
        </p:txBody>
      </p:sp>
      <p:sp>
        <p:nvSpPr>
          <p:cNvPr id="12" name="Bullet mark 1"/>
          <p:cNvSpPr/>
          <p:nvPr/>
        </p:nvSpPr>
        <p:spPr>
          <a:xfrm>
            <a:off x="628650" y="2276475"/>
            <a:ext cx="285750" cy="285750"/>
          </a:xfrm>
          <a:prstGeom prst="roundRect">
            <a:avLst/>
          </a:prstGeom>
          <a:solidFill>
            <a:srgbClr val="1F9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3" name="Bullet 1"/>
          <p:cNvSpPr txBox="1"/>
          <p:nvPr/>
        </p:nvSpPr>
        <p:spPr>
          <a:xfrm>
            <a:off x="1123950" y="2200275"/>
            <a:ext cx="9906000" cy="5524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1700">
                <a:solidFill>
                  <a:srgbClr val="5B6472"/>
                </a:solidFill>
                <a:latin typeface="Aptos"/>
                <a:cs typeface="Aptos"/>
              </a:rPr>
              <a:t>A TODO can be standalone or linked to a task.</a:t>
            </a:r>
            <a:endParaRPr lang="en-US" sz="1700"/>
          </a:p>
        </p:txBody>
      </p:sp>
      <p:sp>
        <p:nvSpPr>
          <p:cNvPr id="14" name="Bullet mark 2"/>
          <p:cNvSpPr/>
          <p:nvPr/>
        </p:nvSpPr>
        <p:spPr>
          <a:xfrm>
            <a:off x="628650" y="3095625"/>
            <a:ext cx="285750" cy="285750"/>
          </a:xfrm>
          <a:prstGeom prst="roundRect">
            <a:avLst/>
          </a:prstGeom>
          <a:solidFill>
            <a:srgbClr val="11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" name="Bullet 2"/>
          <p:cNvSpPr txBox="1"/>
          <p:nvPr/>
        </p:nvSpPr>
        <p:spPr>
          <a:xfrm>
            <a:off x="1123950" y="3019425"/>
            <a:ext cx="9906000" cy="5524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1700">
                <a:solidFill>
                  <a:srgbClr val="5B6472"/>
                </a:solidFill>
                <a:latin typeface="Aptos"/>
                <a:cs typeface="Aptos"/>
              </a:rPr>
              <a:t>Users can filter all, open, and completed TODO items.</a:t>
            </a:r>
            <a:endParaRPr lang="en-US" sz="1700"/>
          </a:p>
        </p:txBody>
      </p:sp>
      <p:sp>
        <p:nvSpPr>
          <p:cNvPr id="16" name="Bullet mark 3"/>
          <p:cNvSpPr/>
          <p:nvPr/>
        </p:nvSpPr>
        <p:spPr>
          <a:xfrm>
            <a:off x="628650" y="3914775"/>
            <a:ext cx="285750" cy="285750"/>
          </a:xfrm>
          <a:prstGeom prst="roundRect">
            <a:avLst/>
          </a:prstGeom>
          <a:solidFill>
            <a:srgbClr val="1F9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7" name="Bullet 3"/>
          <p:cNvSpPr txBox="1"/>
          <p:nvPr/>
        </p:nvSpPr>
        <p:spPr>
          <a:xfrm>
            <a:off x="1123950" y="3838575"/>
            <a:ext cx="9906000" cy="5524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1700">
                <a:solidFill>
                  <a:srgbClr val="5B6472"/>
                </a:solidFill>
                <a:latin typeface="Aptos"/>
                <a:cs typeface="Aptos"/>
              </a:rPr>
              <a:t>TODO progress shows how many items have been completed.</a:t>
            </a:r>
            <a:endParaRPr lang="en-US" sz="170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457200" y="400050"/>
            <a:ext cx="1524000" cy="76200"/>
          </a:xfrm>
          <a:prstGeom prst="rect">
            <a:avLst/>
          </a:prstGeom>
          <a:solidFill>
            <a:srgbClr val="1178B8"/>
          </a:solidFill>
          <a:ln w="12700">
            <a:solidFill>
              <a:srgbClr val="117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Title"/>
          <p:cNvSpPr txBox="1"/>
          <p:nvPr/>
        </p:nvSpPr>
        <p:spPr>
          <a:xfrm>
            <a:off x="457200" y="628650"/>
            <a:ext cx="9144000" cy="5524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3400" b="1">
                <a:solidFill>
                  <a:srgbClr val="111827"/>
                </a:solidFill>
                <a:latin typeface="Aptos"/>
                <a:cs typeface="Aptos"/>
              </a:rPr>
              <a:t>Settings</a:t>
            </a:r>
            <a:endParaRPr lang="en-US" sz="3400"/>
          </a:p>
        </p:txBody>
      </p:sp>
      <p:sp>
        <p:nvSpPr>
          <p:cNvPr id="4" name="Footer"/>
          <p:cNvSpPr txBox="1"/>
          <p:nvPr/>
        </p:nvSpPr>
        <p:spPr>
          <a:xfrm>
            <a:off x="457200" y="6419850"/>
            <a:ext cx="66675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1100">
                <a:solidFill>
                  <a:srgbClr val="5B6472"/>
                </a:solidFill>
                <a:latin typeface="Aptos"/>
                <a:cs typeface="Aptos"/>
              </a:rPr>
              <a:t>MAB Task Allocator user manual</a:t>
            </a:r>
            <a:endParaRPr lang="en-US" sz="1100"/>
          </a:p>
        </p:txBody>
      </p:sp>
      <p:sp>
        <p:nvSpPr>
          <p:cNvPr id="5" name="Page"/>
          <p:cNvSpPr txBox="1"/>
          <p:nvPr/>
        </p:nvSpPr>
        <p:spPr>
          <a:xfrm>
            <a:off x="10801350" y="6419850"/>
            <a:ext cx="85725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1100">
                <a:solidFill>
                  <a:srgbClr val="5B6472"/>
                </a:solidFill>
                <a:latin typeface="Aptos"/>
                <a:cs typeface="Aptos"/>
              </a:rPr>
              <a:t>45</a:t>
            </a:r>
            <a:endParaRPr lang="en-US" sz="1100"/>
          </a:p>
        </p:txBody>
      </p:sp>
      <p:sp>
        <p:nvSpPr>
          <p:cNvPr id="10" name="Bullet mark 0"/>
          <p:cNvSpPr/>
          <p:nvPr/>
        </p:nvSpPr>
        <p:spPr>
          <a:xfrm>
            <a:off x="628650" y="1457325"/>
            <a:ext cx="285750" cy="285750"/>
          </a:xfrm>
          <a:prstGeom prst="roundRect">
            <a:avLst/>
          </a:prstGeom>
          <a:solidFill>
            <a:srgbClr val="11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Bullet 0"/>
          <p:cNvSpPr txBox="1"/>
          <p:nvPr/>
        </p:nvSpPr>
        <p:spPr>
          <a:xfrm>
            <a:off x="1123950" y="1381125"/>
            <a:ext cx="9906000" cy="5524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1700">
                <a:solidFill>
                  <a:srgbClr val="5B6472"/>
                </a:solidFill>
                <a:latin typeface="Aptos"/>
                <a:cs typeface="Aptos"/>
              </a:rPr>
              <a:t>Appearance: dark mode, compact mode, reduce motion, and language switch.</a:t>
            </a:r>
            <a:endParaRPr lang="en-US" sz="1700"/>
          </a:p>
        </p:txBody>
      </p:sp>
      <p:sp>
        <p:nvSpPr>
          <p:cNvPr id="12" name="Bullet mark 1"/>
          <p:cNvSpPr/>
          <p:nvPr/>
        </p:nvSpPr>
        <p:spPr>
          <a:xfrm>
            <a:off x="628650" y="2276475"/>
            <a:ext cx="285750" cy="285750"/>
          </a:xfrm>
          <a:prstGeom prst="roundRect">
            <a:avLst/>
          </a:prstGeom>
          <a:solidFill>
            <a:srgbClr val="1F9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3" name="Bullet 1"/>
          <p:cNvSpPr txBox="1"/>
          <p:nvPr/>
        </p:nvSpPr>
        <p:spPr>
          <a:xfrm>
            <a:off x="1123950" y="2200275"/>
            <a:ext cx="9906000" cy="5524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1700">
                <a:solidFill>
                  <a:srgbClr val="5B6472"/>
                </a:solidFill>
                <a:latin typeface="Aptos"/>
                <a:cs typeface="Aptos"/>
              </a:rPr>
              <a:t>Notifications: desktop permission, sound, volume, hidden-tab behavior, background checks, and message preview privacy.</a:t>
            </a:r>
            <a:endParaRPr lang="en-US" sz="1700"/>
          </a:p>
        </p:txBody>
      </p:sp>
      <p:sp>
        <p:nvSpPr>
          <p:cNvPr id="14" name="Bullet mark 2"/>
          <p:cNvSpPr/>
          <p:nvPr/>
        </p:nvSpPr>
        <p:spPr>
          <a:xfrm>
            <a:off x="628650" y="3095625"/>
            <a:ext cx="285750" cy="285750"/>
          </a:xfrm>
          <a:prstGeom prst="roundRect">
            <a:avLst/>
          </a:prstGeom>
          <a:solidFill>
            <a:srgbClr val="11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" name="Bullet 2"/>
          <p:cNvSpPr txBox="1"/>
          <p:nvPr/>
        </p:nvSpPr>
        <p:spPr>
          <a:xfrm>
            <a:off x="1123950" y="3019425"/>
            <a:ext cx="9906000" cy="5524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1700">
                <a:solidFill>
                  <a:srgbClr val="5B6472"/>
                </a:solidFill>
                <a:latin typeface="Aptos"/>
                <a:cs typeface="Aptos"/>
              </a:rPr>
              <a:t>Workflow: live auto-refresh and manual refresh.</a:t>
            </a:r>
            <a:endParaRPr lang="en-US" sz="1700"/>
          </a:p>
        </p:txBody>
      </p:sp>
      <p:sp>
        <p:nvSpPr>
          <p:cNvPr id="16" name="Bullet mark 3"/>
          <p:cNvSpPr/>
          <p:nvPr/>
        </p:nvSpPr>
        <p:spPr>
          <a:xfrm>
            <a:off x="628650" y="3914775"/>
            <a:ext cx="285750" cy="285750"/>
          </a:xfrm>
          <a:prstGeom prst="roundRect">
            <a:avLst/>
          </a:prstGeom>
          <a:solidFill>
            <a:srgbClr val="1F9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7" name="Bullet 3"/>
          <p:cNvSpPr txBox="1"/>
          <p:nvPr/>
        </p:nvSpPr>
        <p:spPr>
          <a:xfrm>
            <a:off x="1123950" y="3838575"/>
            <a:ext cx="9906000" cy="5524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1700">
                <a:solidFill>
                  <a:srgbClr val="5B6472"/>
                </a:solidFill>
                <a:latin typeface="Aptos"/>
                <a:cs typeface="Aptos"/>
              </a:rPr>
              <a:t>Security: auto logout after inactivity and per-tab session behavior.</a:t>
            </a:r>
            <a:endParaRPr lang="en-US" sz="1700"/>
          </a:p>
        </p:txBody>
      </p:sp>
      <p:sp>
        <p:nvSpPr>
          <p:cNvPr id="18" name="Bullet mark 4"/>
          <p:cNvSpPr/>
          <p:nvPr/>
        </p:nvSpPr>
        <p:spPr>
          <a:xfrm>
            <a:off x="628650" y="4733925"/>
            <a:ext cx="285750" cy="285750"/>
          </a:xfrm>
          <a:prstGeom prst="roundRect">
            <a:avLst/>
          </a:prstGeom>
          <a:solidFill>
            <a:srgbClr val="11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Bullet 4"/>
          <p:cNvSpPr txBox="1"/>
          <p:nvPr/>
        </p:nvSpPr>
        <p:spPr>
          <a:xfrm>
            <a:off x="1123950" y="4657725"/>
            <a:ext cx="9906000" cy="5524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1700">
                <a:solidFill>
                  <a:srgbClr val="5B6472"/>
                </a:solidFill>
                <a:latin typeface="Aptos"/>
                <a:cs typeface="Aptos"/>
              </a:rPr>
              <a:t>Reset local settings affects only browser preferences, not system data.</a:t>
            </a:r>
            <a:endParaRPr lang="en-US" sz="170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457200" y="400050"/>
            <a:ext cx="1524000" cy="76200"/>
          </a:xfrm>
          <a:prstGeom prst="rect">
            <a:avLst/>
          </a:prstGeom>
          <a:solidFill>
            <a:srgbClr val="1178B8"/>
          </a:solidFill>
          <a:ln w="12700">
            <a:solidFill>
              <a:srgbClr val="117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Title"/>
          <p:cNvSpPr txBox="1"/>
          <p:nvPr/>
        </p:nvSpPr>
        <p:spPr>
          <a:xfrm>
            <a:off x="457200" y="628650"/>
            <a:ext cx="9144000" cy="5524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3400" b="1">
                <a:solidFill>
                  <a:srgbClr val="111827"/>
                </a:solidFill>
                <a:latin typeface="Aptos"/>
                <a:cs typeface="Aptos"/>
              </a:rPr>
              <a:t>Recommended daily routine</a:t>
            </a:r>
            <a:endParaRPr lang="en-US" sz="3400"/>
          </a:p>
        </p:txBody>
      </p:sp>
      <p:sp>
        <p:nvSpPr>
          <p:cNvPr id="4" name="Footer"/>
          <p:cNvSpPr txBox="1"/>
          <p:nvPr/>
        </p:nvSpPr>
        <p:spPr>
          <a:xfrm>
            <a:off x="457200" y="6419850"/>
            <a:ext cx="66675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1100">
                <a:solidFill>
                  <a:srgbClr val="5B6472"/>
                </a:solidFill>
                <a:latin typeface="Aptos"/>
                <a:cs typeface="Aptos"/>
              </a:rPr>
              <a:t>MAB Task Allocator user manual</a:t>
            </a:r>
            <a:endParaRPr lang="en-US" sz="1100"/>
          </a:p>
        </p:txBody>
      </p:sp>
      <p:sp>
        <p:nvSpPr>
          <p:cNvPr id="5" name="Page"/>
          <p:cNvSpPr txBox="1"/>
          <p:nvPr/>
        </p:nvSpPr>
        <p:spPr>
          <a:xfrm>
            <a:off x="10801350" y="6419850"/>
            <a:ext cx="85725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1100">
                <a:solidFill>
                  <a:srgbClr val="5B6472"/>
                </a:solidFill>
                <a:latin typeface="Aptos"/>
                <a:cs typeface="Aptos"/>
              </a:rPr>
              <a:t>46</a:t>
            </a:r>
            <a:endParaRPr lang="en-US" sz="1100"/>
          </a:p>
        </p:txBody>
      </p:sp>
      <p:sp>
        <p:nvSpPr>
          <p:cNvPr id="10" name="Header 0"/>
          <p:cNvSpPr txBox="1"/>
          <p:nvPr/>
        </p:nvSpPr>
        <p:spPr>
          <a:xfrm>
            <a:off x="438150" y="1219200"/>
            <a:ext cx="1809750" cy="40005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 wrap="square" anchor="t" lIns="95250" tIns="76200" rIns="95250" bIns="76200"/>
          <a:lstStyle/>
          <a:p>
            <a:pPr/>
            <a:r>
              <a:rPr lang="en-US" sz="1500" b="1">
                <a:solidFill>
                  <a:srgbClr val="FFFFFF"/>
                </a:solidFill>
                <a:latin typeface="Aptos"/>
                <a:cs typeface="Aptos"/>
              </a:rPr>
              <a:t>User type</a:t>
            </a:r>
            <a:endParaRPr lang="en-US" sz="1500"/>
          </a:p>
        </p:txBody>
      </p:sp>
      <p:sp>
        <p:nvSpPr>
          <p:cNvPr id="11" name="Header 1"/>
          <p:cNvSpPr txBox="1"/>
          <p:nvPr/>
        </p:nvSpPr>
        <p:spPr>
          <a:xfrm>
            <a:off x="2495550" y="1219200"/>
            <a:ext cx="2571750" cy="40005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 wrap="square" anchor="t" lIns="95250" tIns="76200" rIns="95250" bIns="76200"/>
          <a:lstStyle/>
          <a:p>
            <a:pPr/>
            <a:r>
              <a:rPr lang="en-US" sz="1500" b="1">
                <a:solidFill>
                  <a:srgbClr val="FFFFFF"/>
                </a:solidFill>
                <a:latin typeface="Aptos"/>
                <a:cs typeface="Aptos"/>
              </a:rPr>
              <a:t>Start of day</a:t>
            </a:r>
            <a:endParaRPr lang="en-US" sz="1500"/>
          </a:p>
        </p:txBody>
      </p:sp>
      <p:sp>
        <p:nvSpPr>
          <p:cNvPr id="12" name="Header 2"/>
          <p:cNvSpPr txBox="1"/>
          <p:nvPr/>
        </p:nvSpPr>
        <p:spPr>
          <a:xfrm>
            <a:off x="5334000" y="1219200"/>
            <a:ext cx="2571750" cy="40005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 wrap="square" anchor="t" lIns="95250" tIns="76200" rIns="95250" bIns="76200"/>
          <a:lstStyle/>
          <a:p>
            <a:pPr/>
            <a:r>
              <a:rPr lang="en-US" sz="1500" b="1">
                <a:solidFill>
                  <a:srgbClr val="FFFFFF"/>
                </a:solidFill>
                <a:latin typeface="Aptos"/>
                <a:cs typeface="Aptos"/>
              </a:rPr>
              <a:t>During the day</a:t>
            </a:r>
            <a:endParaRPr lang="en-US" sz="1500"/>
          </a:p>
        </p:txBody>
      </p:sp>
      <p:sp>
        <p:nvSpPr>
          <p:cNvPr id="13" name="Header 3"/>
          <p:cNvSpPr txBox="1"/>
          <p:nvPr/>
        </p:nvSpPr>
        <p:spPr>
          <a:xfrm>
            <a:off x="8172450" y="1219200"/>
            <a:ext cx="3333750" cy="40005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txBody>
          <a:bodyPr wrap="square" anchor="t" lIns="95250" tIns="76200" rIns="95250" bIns="76200"/>
          <a:lstStyle/>
          <a:p>
            <a:pPr/>
            <a:r>
              <a:rPr lang="en-US" sz="1500" b="1">
                <a:solidFill>
                  <a:srgbClr val="FFFFFF"/>
                </a:solidFill>
                <a:latin typeface="Aptos"/>
                <a:cs typeface="Aptos"/>
              </a:rPr>
              <a:t>End of day</a:t>
            </a:r>
            <a:endParaRPr lang="en-US" sz="1500"/>
          </a:p>
        </p:txBody>
      </p:sp>
      <p:sp>
        <p:nvSpPr>
          <p:cNvPr id="14" name="Cell 0-0"/>
          <p:cNvSpPr txBox="1"/>
          <p:nvPr/>
        </p:nvSpPr>
        <p:spPr>
          <a:xfrm>
            <a:off x="438150" y="1695450"/>
            <a:ext cx="1809750" cy="933450"/>
          </a:xfrm>
          <a:prstGeom prst="rect">
            <a:avLst/>
          </a:prstGeom>
          <a:solidFill>
            <a:srgbClr val="F4F7FA"/>
          </a:solidFill>
          <a:ln w="12700">
            <a:solidFill>
              <a:srgbClr val="B9C6D2"/>
            </a:solidFill>
          </a:ln>
        </p:spPr>
        <p:txBody>
          <a:bodyPr wrap="square" anchor="t" lIns="95250" tIns="57150" rIns="95250" bIns="57150"/>
          <a:lstStyle/>
          <a:p>
            <a:pPr/>
            <a:r>
              <a:rPr lang="en-US" sz="1500" b="1">
                <a:solidFill>
                  <a:srgbClr val="111827"/>
                </a:solidFill>
                <a:latin typeface="Aptos"/>
                <a:cs typeface="Aptos"/>
              </a:rPr>
              <a:t>Normal User</a:t>
            </a:r>
            <a:endParaRPr lang="en-US" sz="1500"/>
          </a:p>
        </p:txBody>
      </p:sp>
      <p:sp>
        <p:nvSpPr>
          <p:cNvPr id="15" name="Cell 0-1"/>
          <p:cNvSpPr txBox="1"/>
          <p:nvPr/>
        </p:nvSpPr>
        <p:spPr>
          <a:xfrm>
            <a:off x="2495550" y="1695450"/>
            <a:ext cx="2571750" cy="933450"/>
          </a:xfrm>
          <a:prstGeom prst="rect">
            <a:avLst/>
          </a:prstGeom>
          <a:solidFill>
            <a:srgbClr val="F4F7FA"/>
          </a:solidFill>
          <a:ln w="12700">
            <a:solidFill>
              <a:srgbClr val="B9C6D2"/>
            </a:solidFill>
          </a:ln>
        </p:spPr>
        <p:txBody>
          <a:bodyPr wrap="square" anchor="t" lIns="95250" tIns="57150" rIns="95250" bIns="57150"/>
          <a:lstStyle/>
          <a:p>
            <a:pPr/>
            <a:r>
              <a:rPr lang="en-US" sz="1300">
                <a:solidFill>
                  <a:srgbClr val="5B6472"/>
                </a:solidFill>
                <a:latin typeface="Aptos"/>
                <a:cs typeface="Aptos"/>
              </a:rPr>
              <a:t>Check Assigned to me and Free tasks.</a:t>
            </a:r>
            <a:endParaRPr lang="en-US" sz="1300"/>
          </a:p>
        </p:txBody>
      </p:sp>
      <p:sp>
        <p:nvSpPr>
          <p:cNvPr id="16" name="Cell 0-2"/>
          <p:cNvSpPr txBox="1"/>
          <p:nvPr/>
        </p:nvSpPr>
        <p:spPr>
          <a:xfrm>
            <a:off x="5334000" y="1695450"/>
            <a:ext cx="2571750" cy="933450"/>
          </a:xfrm>
          <a:prstGeom prst="rect">
            <a:avLst/>
          </a:prstGeom>
          <a:solidFill>
            <a:srgbClr val="F4F7FA"/>
          </a:solidFill>
          <a:ln w="12700">
            <a:solidFill>
              <a:srgbClr val="B9C6D2"/>
            </a:solidFill>
          </a:ln>
        </p:spPr>
        <p:txBody>
          <a:bodyPr wrap="square" anchor="t" lIns="95250" tIns="57150" rIns="95250" bIns="57150"/>
          <a:lstStyle/>
          <a:p>
            <a:pPr/>
            <a:r>
              <a:rPr lang="en-US" sz="1300">
                <a:solidFill>
                  <a:srgbClr val="5B6472"/>
                </a:solidFill>
                <a:latin typeface="Aptos"/>
                <a:cs typeface="Aptos"/>
              </a:rPr>
              <a:t>Update progress, add files, ask clarifying questions in task chat.</a:t>
            </a:r>
            <a:endParaRPr lang="en-US" sz="1300"/>
          </a:p>
        </p:txBody>
      </p:sp>
      <p:sp>
        <p:nvSpPr>
          <p:cNvPr id="17" name="Cell 0-3"/>
          <p:cNvSpPr txBox="1"/>
          <p:nvPr/>
        </p:nvSpPr>
        <p:spPr>
          <a:xfrm>
            <a:off x="8172450" y="1695450"/>
            <a:ext cx="3333750" cy="933450"/>
          </a:xfrm>
          <a:prstGeom prst="rect">
            <a:avLst/>
          </a:prstGeom>
          <a:solidFill>
            <a:srgbClr val="F4F7FA"/>
          </a:solidFill>
          <a:ln w="12700">
            <a:solidFill>
              <a:srgbClr val="B9C6D2"/>
            </a:solidFill>
          </a:ln>
        </p:spPr>
        <p:txBody>
          <a:bodyPr wrap="square" anchor="t" lIns="95250" tIns="57150" rIns="95250" bIns="57150"/>
          <a:lstStyle/>
          <a:p>
            <a:pPr/>
            <a:r>
              <a:rPr lang="en-US" sz="1300">
                <a:solidFill>
                  <a:srgbClr val="5B6472"/>
                </a:solidFill>
                <a:latin typeface="Aptos"/>
                <a:cs typeface="Aptos"/>
              </a:rPr>
              <a:t>Submit finished work or write a blocker comment.</a:t>
            </a:r>
            <a:endParaRPr lang="en-US" sz="1300"/>
          </a:p>
        </p:txBody>
      </p:sp>
      <p:sp>
        <p:nvSpPr>
          <p:cNvPr id="18" name="Cell 1-0"/>
          <p:cNvSpPr txBox="1"/>
          <p:nvPr/>
        </p:nvSpPr>
        <p:spPr>
          <a:xfrm>
            <a:off x="438150" y="2800350"/>
            <a:ext cx="1809750" cy="93345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6D2"/>
            </a:solidFill>
          </a:ln>
        </p:spPr>
        <p:txBody>
          <a:bodyPr wrap="square" anchor="t" lIns="95250" tIns="57150" rIns="95250" bIns="57150"/>
          <a:lstStyle/>
          <a:p>
            <a:pPr/>
            <a:r>
              <a:rPr lang="en-US" sz="1500" b="1">
                <a:solidFill>
                  <a:srgbClr val="111827"/>
                </a:solidFill>
                <a:latin typeface="Aptos"/>
                <a:cs typeface="Aptos"/>
              </a:rPr>
              <a:t>Admin</a:t>
            </a:r>
            <a:endParaRPr lang="en-US" sz="1500"/>
          </a:p>
        </p:txBody>
      </p:sp>
      <p:sp>
        <p:nvSpPr>
          <p:cNvPr id="19" name="Cell 1-1"/>
          <p:cNvSpPr txBox="1"/>
          <p:nvPr/>
        </p:nvSpPr>
        <p:spPr>
          <a:xfrm>
            <a:off x="2495550" y="2800350"/>
            <a:ext cx="2571750" cy="93345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6D2"/>
            </a:solidFill>
          </a:ln>
        </p:spPr>
        <p:txBody>
          <a:bodyPr wrap="square" anchor="t" lIns="95250" tIns="57150" rIns="95250" bIns="57150"/>
          <a:lstStyle/>
          <a:p>
            <a:pPr/>
            <a:r>
              <a:rPr lang="en-US" sz="1300">
                <a:solidFill>
                  <a:srgbClr val="5B6472"/>
                </a:solidFill>
                <a:latin typeface="Aptos"/>
                <a:cs typeface="Aptos"/>
              </a:rPr>
              <a:t>Check Needs Review, overdue, free claims, and department workload.</a:t>
            </a:r>
            <a:endParaRPr lang="en-US" sz="1300"/>
          </a:p>
        </p:txBody>
      </p:sp>
      <p:sp>
        <p:nvSpPr>
          <p:cNvPr id="20" name="Cell 1-2"/>
          <p:cNvSpPr txBox="1"/>
          <p:nvPr/>
        </p:nvSpPr>
        <p:spPr>
          <a:xfrm>
            <a:off x="5334000" y="2800350"/>
            <a:ext cx="2571750" cy="93345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6D2"/>
            </a:solidFill>
          </a:ln>
        </p:spPr>
        <p:txBody>
          <a:bodyPr wrap="square" anchor="t" lIns="95250" tIns="57150" rIns="95250" bIns="57150"/>
          <a:lstStyle/>
          <a:p>
            <a:pPr/>
            <a:r>
              <a:rPr lang="en-US" sz="1300">
                <a:solidFill>
                  <a:srgbClr val="5B6472"/>
                </a:solidFill>
                <a:latin typeface="Aptos"/>
                <a:cs typeface="Aptos"/>
              </a:rPr>
              <a:t>Allocate tasks, approve claims, respond to chat, balance workload.</a:t>
            </a:r>
            <a:endParaRPr lang="en-US" sz="1300"/>
          </a:p>
        </p:txBody>
      </p:sp>
      <p:sp>
        <p:nvSpPr>
          <p:cNvPr id="21" name="Cell 1-3"/>
          <p:cNvSpPr txBox="1"/>
          <p:nvPr/>
        </p:nvSpPr>
        <p:spPr>
          <a:xfrm>
            <a:off x="8172450" y="2800350"/>
            <a:ext cx="3333750" cy="93345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6D2"/>
            </a:solidFill>
          </a:ln>
        </p:spPr>
        <p:txBody>
          <a:bodyPr wrap="square" anchor="t" lIns="95250" tIns="57150" rIns="95250" bIns="57150"/>
          <a:lstStyle/>
          <a:p>
            <a:pPr/>
            <a:r>
              <a:rPr lang="en-US" sz="1300">
                <a:solidFill>
                  <a:srgbClr val="5B6472"/>
                </a:solidFill>
                <a:latin typeface="Aptos"/>
                <a:cs typeface="Aptos"/>
              </a:rPr>
              <a:t>Approve acceptable work or reopen with clear comments.</a:t>
            </a:r>
            <a:endParaRPr lang="en-US" sz="1300"/>
          </a:p>
        </p:txBody>
      </p:sp>
      <p:sp>
        <p:nvSpPr>
          <p:cNvPr id="22" name="Cell 2-0"/>
          <p:cNvSpPr txBox="1"/>
          <p:nvPr/>
        </p:nvSpPr>
        <p:spPr>
          <a:xfrm>
            <a:off x="438150" y="3905250"/>
            <a:ext cx="1809750" cy="933450"/>
          </a:xfrm>
          <a:prstGeom prst="rect">
            <a:avLst/>
          </a:prstGeom>
          <a:solidFill>
            <a:srgbClr val="F4F7FA"/>
          </a:solidFill>
          <a:ln w="12700">
            <a:solidFill>
              <a:srgbClr val="B9C6D2"/>
            </a:solidFill>
          </a:ln>
        </p:spPr>
        <p:txBody>
          <a:bodyPr wrap="square" anchor="t" lIns="95250" tIns="57150" rIns="95250" bIns="57150"/>
          <a:lstStyle/>
          <a:p>
            <a:pPr/>
            <a:r>
              <a:rPr lang="en-US" sz="1500" b="1">
                <a:solidFill>
                  <a:srgbClr val="111827"/>
                </a:solidFill>
                <a:latin typeface="Aptos"/>
                <a:cs typeface="Aptos"/>
              </a:rPr>
              <a:t>Super Admin</a:t>
            </a:r>
            <a:endParaRPr lang="en-US" sz="1500"/>
          </a:p>
        </p:txBody>
      </p:sp>
      <p:sp>
        <p:nvSpPr>
          <p:cNvPr id="23" name="Cell 2-1"/>
          <p:cNvSpPr txBox="1"/>
          <p:nvPr/>
        </p:nvSpPr>
        <p:spPr>
          <a:xfrm>
            <a:off x="2495550" y="3905250"/>
            <a:ext cx="2571750" cy="933450"/>
          </a:xfrm>
          <a:prstGeom prst="rect">
            <a:avLst/>
          </a:prstGeom>
          <a:solidFill>
            <a:srgbClr val="F4F7FA"/>
          </a:solidFill>
          <a:ln w="12700">
            <a:solidFill>
              <a:srgbClr val="B9C6D2"/>
            </a:solidFill>
          </a:ln>
        </p:spPr>
        <p:txBody>
          <a:bodyPr wrap="square" anchor="t" lIns="95250" tIns="57150" rIns="95250" bIns="57150"/>
          <a:lstStyle/>
          <a:p>
            <a:pPr/>
            <a:r>
              <a:rPr lang="en-US" sz="1300">
                <a:solidFill>
                  <a:srgbClr val="5B6472"/>
                </a:solidFill>
                <a:latin typeface="Aptos"/>
                <a:cs typeface="Aptos"/>
              </a:rPr>
              <a:t>Review portfolio health, audit, departments, and high-risk work.</a:t>
            </a:r>
            <a:endParaRPr lang="en-US" sz="1300"/>
          </a:p>
        </p:txBody>
      </p:sp>
      <p:sp>
        <p:nvSpPr>
          <p:cNvPr id="24" name="Cell 2-2"/>
          <p:cNvSpPr txBox="1"/>
          <p:nvPr/>
        </p:nvSpPr>
        <p:spPr>
          <a:xfrm>
            <a:off x="5334000" y="3905250"/>
            <a:ext cx="2571750" cy="933450"/>
          </a:xfrm>
          <a:prstGeom prst="rect">
            <a:avLst/>
          </a:prstGeom>
          <a:solidFill>
            <a:srgbClr val="F4F7FA"/>
          </a:solidFill>
          <a:ln w="12700">
            <a:solidFill>
              <a:srgbClr val="B9C6D2"/>
            </a:solidFill>
          </a:ln>
        </p:spPr>
        <p:txBody>
          <a:bodyPr wrap="square" anchor="t" lIns="95250" tIns="57150" rIns="95250" bIns="57150"/>
          <a:lstStyle/>
          <a:p>
            <a:pPr/>
            <a:r>
              <a:rPr lang="en-US" sz="1300">
                <a:solidFill>
                  <a:srgbClr val="5B6472"/>
                </a:solidFill>
                <a:latin typeface="Aptos"/>
                <a:cs typeface="Aptos"/>
              </a:rPr>
              <a:t>Support admins, correct structure, monitor cross-department issues.</a:t>
            </a:r>
            <a:endParaRPr lang="en-US" sz="1300"/>
          </a:p>
        </p:txBody>
      </p:sp>
      <p:sp>
        <p:nvSpPr>
          <p:cNvPr id="25" name="Cell 2-3"/>
          <p:cNvSpPr txBox="1"/>
          <p:nvPr/>
        </p:nvSpPr>
        <p:spPr>
          <a:xfrm>
            <a:off x="8172450" y="3905250"/>
            <a:ext cx="3333750" cy="933450"/>
          </a:xfrm>
          <a:prstGeom prst="rect">
            <a:avLst/>
          </a:prstGeom>
          <a:solidFill>
            <a:srgbClr val="F4F7FA"/>
          </a:solidFill>
          <a:ln w="12700">
            <a:solidFill>
              <a:srgbClr val="B9C6D2"/>
            </a:solidFill>
          </a:ln>
        </p:spPr>
        <p:txBody>
          <a:bodyPr wrap="square" anchor="t" lIns="95250" tIns="57150" rIns="95250" bIns="57150"/>
          <a:lstStyle/>
          <a:p>
            <a:pPr/>
            <a:r>
              <a:rPr lang="en-US" sz="1300">
                <a:solidFill>
                  <a:srgbClr val="5B6472"/>
                </a:solidFill>
                <a:latin typeface="Aptos"/>
                <a:cs typeface="Aptos"/>
              </a:rPr>
              <a:t>Check Finished Tasks and system exceptions.</a:t>
            </a:r>
            <a:endParaRPr lang="en-US" sz="130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 bar"/>
          <p:cNvSpPr/>
          <p:nvPr/>
        </p:nvSpPr>
        <p:spPr>
          <a:xfrm>
            <a:off x="457200" y="400050"/>
            <a:ext cx="1524000" cy="76200"/>
          </a:xfrm>
          <a:prstGeom prst="rect">
            <a:avLst/>
          </a:prstGeom>
          <a:solidFill>
            <a:srgbClr val="1178B8"/>
          </a:solidFill>
          <a:ln w="12700">
            <a:solidFill>
              <a:srgbClr val="117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Title"/>
          <p:cNvSpPr txBox="1"/>
          <p:nvPr/>
        </p:nvSpPr>
        <p:spPr>
          <a:xfrm>
            <a:off x="457200" y="628650"/>
            <a:ext cx="9144000" cy="5524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3400" b="1">
                <a:solidFill>
                  <a:srgbClr val="111827"/>
                </a:solidFill>
                <a:latin typeface="Aptos"/>
                <a:cs typeface="Aptos"/>
              </a:rPr>
              <a:t>Support checklist</a:t>
            </a:r>
            <a:endParaRPr lang="en-US" sz="3400"/>
          </a:p>
        </p:txBody>
      </p:sp>
      <p:sp>
        <p:nvSpPr>
          <p:cNvPr id="4" name="Footer"/>
          <p:cNvSpPr txBox="1"/>
          <p:nvPr/>
        </p:nvSpPr>
        <p:spPr>
          <a:xfrm>
            <a:off x="457200" y="6419850"/>
            <a:ext cx="66675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1100">
                <a:solidFill>
                  <a:srgbClr val="5B6472"/>
                </a:solidFill>
                <a:latin typeface="Aptos"/>
                <a:cs typeface="Aptos"/>
              </a:rPr>
              <a:t>MAB Task Allocator user manual</a:t>
            </a:r>
            <a:endParaRPr lang="en-US" sz="1100"/>
          </a:p>
        </p:txBody>
      </p:sp>
      <p:sp>
        <p:nvSpPr>
          <p:cNvPr id="5" name="Page"/>
          <p:cNvSpPr txBox="1"/>
          <p:nvPr/>
        </p:nvSpPr>
        <p:spPr>
          <a:xfrm>
            <a:off x="10801350" y="6419850"/>
            <a:ext cx="85725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1100">
                <a:solidFill>
                  <a:srgbClr val="5B6472"/>
                </a:solidFill>
                <a:latin typeface="Aptos"/>
                <a:cs typeface="Aptos"/>
              </a:rPr>
              <a:t>47</a:t>
            </a:r>
            <a:endParaRPr lang="en-US" sz="1100"/>
          </a:p>
        </p:txBody>
      </p:sp>
      <p:sp>
        <p:nvSpPr>
          <p:cNvPr id="10" name="Bullet mark 0"/>
          <p:cNvSpPr/>
          <p:nvPr/>
        </p:nvSpPr>
        <p:spPr>
          <a:xfrm>
            <a:off x="628650" y="1457325"/>
            <a:ext cx="285750" cy="285750"/>
          </a:xfrm>
          <a:prstGeom prst="roundRect">
            <a:avLst/>
          </a:prstGeom>
          <a:solidFill>
            <a:srgbClr val="11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Bullet 0"/>
          <p:cNvSpPr txBox="1"/>
          <p:nvPr/>
        </p:nvSpPr>
        <p:spPr>
          <a:xfrm>
            <a:off x="1123950" y="1381125"/>
            <a:ext cx="9906000" cy="5524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1700">
                <a:solidFill>
                  <a:srgbClr val="5B6472"/>
                </a:solidFill>
                <a:latin typeface="Aptos"/>
                <a:cs typeface="Aptos"/>
              </a:rPr>
              <a:t>When reporting an issue, share the user role, department, task code, project name, exact action, and screenshot.</a:t>
            </a:r>
            <a:endParaRPr lang="en-US" sz="1700"/>
          </a:p>
        </p:txBody>
      </p:sp>
      <p:sp>
        <p:nvSpPr>
          <p:cNvPr id="12" name="Bullet mark 1"/>
          <p:cNvSpPr/>
          <p:nvPr/>
        </p:nvSpPr>
        <p:spPr>
          <a:xfrm>
            <a:off x="628650" y="2276475"/>
            <a:ext cx="285750" cy="285750"/>
          </a:xfrm>
          <a:prstGeom prst="roundRect">
            <a:avLst/>
          </a:prstGeom>
          <a:solidFill>
            <a:srgbClr val="1F9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3" name="Bullet 1"/>
          <p:cNvSpPr txBox="1"/>
          <p:nvPr/>
        </p:nvSpPr>
        <p:spPr>
          <a:xfrm>
            <a:off x="1123950" y="2200275"/>
            <a:ext cx="9906000" cy="5524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1700">
                <a:solidFill>
                  <a:srgbClr val="5B6472"/>
                </a:solidFill>
                <a:latin typeface="Aptos"/>
                <a:cs typeface="Aptos"/>
              </a:rPr>
              <a:t>Check whether the task is Active, Free, Under Review, Reopened, or Finished.</a:t>
            </a:r>
            <a:endParaRPr lang="en-US" sz="1700"/>
          </a:p>
        </p:txBody>
      </p:sp>
      <p:sp>
        <p:nvSpPr>
          <p:cNvPr id="14" name="Bullet mark 2"/>
          <p:cNvSpPr/>
          <p:nvPr/>
        </p:nvSpPr>
        <p:spPr>
          <a:xfrm>
            <a:off x="628650" y="3095625"/>
            <a:ext cx="285750" cy="285750"/>
          </a:xfrm>
          <a:prstGeom prst="roundRect">
            <a:avLst/>
          </a:prstGeom>
          <a:solidFill>
            <a:srgbClr val="11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" name="Bullet 2"/>
          <p:cNvSpPr txBox="1"/>
          <p:nvPr/>
        </p:nvSpPr>
        <p:spPr>
          <a:xfrm>
            <a:off x="1123950" y="3019425"/>
            <a:ext cx="9906000" cy="5524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1700">
                <a:solidFill>
                  <a:srgbClr val="5B6472"/>
                </a:solidFill>
                <a:latin typeface="Aptos"/>
                <a:cs typeface="Aptos"/>
              </a:rPr>
              <a:t>For notification problems, check browser permission, user settings, auto-refresh, and whether the tab is hidden.</a:t>
            </a:r>
            <a:endParaRPr lang="en-US" sz="1700"/>
          </a:p>
        </p:txBody>
      </p:sp>
      <p:sp>
        <p:nvSpPr>
          <p:cNvPr id="16" name="Bullet mark 3"/>
          <p:cNvSpPr/>
          <p:nvPr/>
        </p:nvSpPr>
        <p:spPr>
          <a:xfrm>
            <a:off x="628650" y="3914775"/>
            <a:ext cx="285750" cy="285750"/>
          </a:xfrm>
          <a:prstGeom prst="roundRect">
            <a:avLst/>
          </a:prstGeom>
          <a:solidFill>
            <a:srgbClr val="1F9D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7" name="Bullet 3"/>
          <p:cNvSpPr txBox="1"/>
          <p:nvPr/>
        </p:nvSpPr>
        <p:spPr>
          <a:xfrm>
            <a:off x="1123950" y="3838575"/>
            <a:ext cx="9906000" cy="5524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1700">
                <a:solidFill>
                  <a:srgbClr val="5B6472"/>
                </a:solidFill>
                <a:latin typeface="Aptos"/>
                <a:cs typeface="Aptos"/>
              </a:rPr>
              <a:t>For login problems, confirm username, password, session timeout, and whether the account is in the correct department.</a:t>
            </a:r>
            <a:endParaRPr lang="en-US" sz="1700"/>
          </a:p>
        </p:txBody>
      </p:sp>
      <p:sp>
        <p:nvSpPr>
          <p:cNvPr id="18" name="Bullet mark 4"/>
          <p:cNvSpPr/>
          <p:nvPr/>
        </p:nvSpPr>
        <p:spPr>
          <a:xfrm>
            <a:off x="628650" y="4733925"/>
            <a:ext cx="285750" cy="285750"/>
          </a:xfrm>
          <a:prstGeom prst="roundRect">
            <a:avLst/>
          </a:prstGeom>
          <a:solidFill>
            <a:srgbClr val="11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Bullet 4"/>
          <p:cNvSpPr txBox="1"/>
          <p:nvPr/>
        </p:nvSpPr>
        <p:spPr>
          <a:xfrm>
            <a:off x="1123950" y="4657725"/>
            <a:ext cx="9906000" cy="55245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1700">
                <a:solidFill>
                  <a:srgbClr val="5B6472"/>
                </a:solidFill>
                <a:latin typeface="Aptos"/>
                <a:cs typeface="Aptos"/>
              </a:rPr>
              <a:t>For local testing, remember that frontend pointing to Railway API changes live production data.</a:t>
            </a:r>
            <a:endParaRPr lang="en-US" sz="170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533400" y="685800"/>
            <a:ext cx="1809750" cy="95250"/>
          </a:xfrm>
          <a:prstGeom prst="rect">
            <a:avLst/>
          </a:prstGeom>
          <a:solidFill>
            <a:srgbClr val="1F9D68"/>
          </a:solidFill>
          <a:ln w="12700">
            <a:solidFill>
              <a:srgbClr val="1F9D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Title"/>
          <p:cNvSpPr txBox="1"/>
          <p:nvPr/>
        </p:nvSpPr>
        <p:spPr>
          <a:xfrm>
            <a:off x="590550" y="1504950"/>
            <a:ext cx="81915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4600" b="1">
                <a:solidFill>
                  <a:srgbClr val="111827"/>
                </a:solidFill>
                <a:latin typeface="Aptos"/>
                <a:cs typeface="Aptos"/>
              </a:rPr>
              <a:t>The rule of use</a:t>
            </a:r>
            <a:endParaRPr lang="en-US" sz="4600"/>
          </a:p>
        </p:txBody>
      </p:sp>
      <p:sp>
        <p:nvSpPr>
          <p:cNvPr id="4" name="Body"/>
          <p:cNvSpPr txBox="1"/>
          <p:nvPr/>
        </p:nvSpPr>
        <p:spPr>
          <a:xfrm>
            <a:off x="609600" y="2686050"/>
            <a:ext cx="8858250" cy="17145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2800">
                <a:solidFill>
                  <a:srgbClr val="5B6472"/>
                </a:solidFill>
                <a:latin typeface="Aptos"/>
                <a:cs typeface="Aptos"/>
              </a:rPr>
              <a:t>Create clear tasks. Keep decisions in task chat. Upload the evidence. Submit only finished work. Approve only acceptable work. Reopen with comments when quality needs another pass.</a:t>
            </a:r>
            <a:endParaRPr lang="en-US" sz="2800"/>
          </a:p>
        </p:txBody>
      </p:sp>
      <p:sp>
        <p:nvSpPr>
          <p:cNvPr id="5" name="Footer"/>
          <p:cNvSpPr txBox="1"/>
          <p:nvPr/>
        </p:nvSpPr>
        <p:spPr>
          <a:xfrm>
            <a:off x="609600" y="5905500"/>
            <a:ext cx="7239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 lIns="95250" tIns="57150" rIns="95250" bIns="57150"/>
          <a:lstStyle/>
          <a:p>
            <a:pPr/>
            <a:r>
              <a:rPr lang="en-US" sz="1500" b="1">
                <a:solidFill>
                  <a:srgbClr val="1F9D68"/>
                </a:solidFill>
                <a:latin typeface="Aptos"/>
                <a:cs typeface="Aptos"/>
              </a:rPr>
              <a:t>End of manual</a:t>
            </a:r>
            <a:endParaRPr lang="en-US" sz="15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AB Manual">
  <a:themeElements>
    <a:clrScheme name="MAB">
      <a:dk1>
        <a:srgbClr val="111827"/>
      </a:dk1>
      <a:lt1>
        <a:srgbClr val="FFFFFF"/>
      </a:lt1>
      <a:dk2>
        <a:srgbClr val="5B6472"/>
      </a:dk2>
      <a:lt2>
        <a:srgbClr val="F4F7FA"/>
      </a:lt2>
      <a:accent1>
        <a:srgbClr val="1178B8"/>
      </a:accent1>
      <a:accent2>
        <a:srgbClr val="1F9D68"/>
      </a:accent2>
      <a:accent3>
        <a:srgbClr val="F59E0B"/>
      </a:accent3>
      <a:accent4>
        <a:srgbClr val="DC3545"/>
      </a:accent4>
      <a:accent5>
        <a:srgbClr val="6D5BD0"/>
      </a:accent5>
      <a:accent6>
        <a:srgbClr val="B9C6D2"/>
      </a:accent6>
      <a:hlink>
        <a:srgbClr val="1178B8"/>
      </a:hlink>
      <a:folHlink>
        <a:srgbClr val="6D5BD0"/>
      </a:folHlink>
    </a:clrScheme>
    <a:fontScheme name="Aptos">
      <a:majorFont>
        <a:latin typeface="Aptos Display"/>
      </a:majorFont>
      <a:minorFont>
        <a:latin typeface="Aptos"/>
      </a:minorFont>
    </a:fontScheme>
    <a:fmtScheme name="Office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Codex</Application>
  <PresentationFormat>On-screen Show (16:9)</PresentationFormat>
  <Slides>48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MAB Task Allocator User Manual</dc:title>
  <dc:creator>Codex</dc:creator>
  <cp:lastModifiedBy>Codex</cp:lastModifiedBy>
  <dcterms:created xsi:type="dcterms:W3CDTF">2026-08-03T09:13:39.861Z</dcterms:created>
  <dcterms:modified xsi:type="dcterms:W3CDTF">2026-08-03T09:13:39.862Z</dcterms:modified>
</cp:coreProperties>
</file>